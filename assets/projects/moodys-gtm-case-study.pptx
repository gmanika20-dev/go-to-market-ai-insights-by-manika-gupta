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context: Prior to the transformation, CreditLens and other lending solutions were positioned and sold individually. The organization consolidated these into Lending Suite, an integrated lending technology portfolio built around two packages: Origination and Monitoring. The shift was driven by real market pressure — competitors moving to integrated, AI-driven lending platforms, and banks wanting end-to-end coverage rather than piecemeal tools — and by Moody's own data advantage: Orbis firmographic data, credit risk analytics, and other proprietary datasets that could be packaged into one differentiated suite. This slide frames the strategic opportunity the transformation created — portfolio clarity, customer relevance, a scalable GTM structure, consistent messaging, and a foundation that could support new AI-enabled modules and asset-class offerings as the portfolio expanded. I supported the positioning work that underpinned this shift by helping connect product capabilities across the portfolio to customer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marketing challenge centered on six intersecting forces: growing portfolio complexity as more products and packages were added; the need to understand customers across different roles and workflows; the work of translating technical features into customer value; multiple buyer personas spanning credit, risk, operations, and relationship roles; regional differences across US, EMEA, and APAC markets; and the ongoing need to keep sales and marketing aligned on a shared, consistent story. Addressing these together — rather than one product at a time — was the core problem the repositioning work had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Lending Suite architecture runs Borrower Engagement, Origination, and Monitoring as three connected stages under one platform. Borrower Engagement covers Screening and Borrower Onboarding. Origination covers Structuring &amp; Pricing, Spreading &amp; Scoring, Underwriting &amp; Decisioning, and Fulfillment &amp; Booking. Monitoring covers Portfolio Insights, Covenants, and Early Warning. Moody's own data — credit risk analysis, counterparty and firmographic data, behavioral and economic data, and financial crime and sanctions data — is integrated throughout every stage, which is Moody's core differentiator. AI-enabled modules (Automated Spreading, Automated Credit Memo, Automated Covenants) and asset-class offerings (CRE, Agriculture, Small Business) extend this same architecture rather than sitting apart from it. This is the structure I worked from when connecting product capabilities across the portfolio to customer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was launched and expanded in phases. Phase 1 (2023) rebranded CreditLens to Lending Suite and established the foundational Origination and Monitoring packages. Phase 2 (2024) introduced the AI-enabled modules — Automated Spreading, Automated Credit Memo, and Automated Covenants. Phase 3 (2025) extended the portfolio with asset-class-specific offerings for Commercial Real Estate, Agriculture, and Small Business lending.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spanned both strategy and execution. On the strategy side, I worked with product teams to understand the lending solutions in the portfolio, researched target audiences and buyer personas, and helped shift messaging from product features toward customer value. On the execution side, I supported content development across webpages, brochures, and sales materials; used SEO research to inform content and messaging; supported campaign planning and ad copy; worked with website analytics to inform optimization; and contributed to sales enablement materials. The through-line was connecting strategic positioning decisions to the day-to-day content and campaign work that brought them to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buyers meant looking at lending roles, ideal customer profile characteristics, and workflow needs together — not just job titles. This slide illustrates the kind of persona-to-workflow framework used to connect a role's core problem to the workflow need our messaging had to address, with regional considerations layered in. This is shown as an illustrative framework rather than confirmed, company-specific persona documentation, reflecting the type of thinking applied rather than internal research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actual shift in messaging approach: moving from statements about what CreditLens does technically — OCR for PDF statements, Orbis database integration, automated tax return reading — to a statement about what the customer achieves with Lending Suite: reduced origination time and fewer manual errors. In practice, this meant reworking webpage, brochure, and campaign messaging to lead with the customer's problem and outcome, with the product capability supporting rather than leading the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original diagrams used in CreditLens and Lending Suite marketing materials, included here with permission. The CreditLens diagram is organized around technical capabilities — OCR, Orbis database integration, tax return reading — wrapped around a generic 'credit decisioning platform' idea. The Lending Suite diagram is organized around the customer's actual workflow — Borrower Engagement, Origination, Monitoring — with Moody's data shown running underneath every stage rather than listed as a feature. This is the same shift described on the previous slide, shown here in the real, as-shipped marketing materials rather than an illustrative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links directly to the live solution webpages for each Lending Suite product; brochures are downloadable from those same landing pages, so one link serves both. Automated Spreading, Automated Credit Memo, and Automated Covenants also had dedicated demo videos or case studies — Automated Credit Memo and the general Loan Origination overview each have a public video, Automated Spreading and Small Business each have an internal product demo video, and Automated Covenants is backed by a published Momentum Metropolitan case study. CRE, Small Business, and Agriculture each have their own solution webpage and brochure, linked here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original 'how it works' infographics produced for three AI-enabled modules: Automated Spreading, Automated Credit Memo, and Automated Covenants, included here with permission. Each breaks the module's automation down into a simple numbered sequence — from document upload through machine-learning processing to a completed, reviewable output — which is the format used consistently across the AI module line to make the underlying automation legible to a non-technical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proposition framework used to structure messaging rests on four pillars: Efficiency &amp; Speed, Risk &amp; Compliance, Flexibility &amp; Scale, and Customer Experience, each grounded in specific product capabilities — automated workflows and AI modules for speed, Moody's integrated data and automated covenants for risk and compliance, modular packages and industry tailoring for flexibility, and borrower engagement tools for experience. The applied example at the bottom shows how this plays out for Automated Credit Memo: manual drafting becomes automated generation, producing faster, more consistent memos and freeing up underwriter time for judgment and portfolio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 research was used as an ongoing input into content and messaging, not a one-off exercise. The loop moved from keyword and search-intent research, to analysis of the language audiences actually use, into content and messaging development, then into webpage and campaign copy, publication, and review and refinement based on what was learned. This slide describes the process I contributed to using keyword research, search volume, and audience language; it does not claim specific ranking or organic traffic improvements, since those results were not independently documented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Campaigns were developed for US, EMEA, and APAC audiences, and some patterns of relevance emerged across markets and segments. Observed examples included Loan Origination campaigns performing relevantly in the US, Automated Spreading showing relevance in APAC, Agriculture lending engagement in Australia, and Automated Credit Memo showing relevance for small-business-related needs across regions. These are presented as campaign-level observations rather than universal market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 work followed a clear path from brief to optimization: campaign briefs documented products, target audience, and value proposition; this fed into ad copy for Google and LinkedIn campaigns; and campaign performance was monitored to support optimization decisions. It's important to note the scope of my role accurately — I created briefs, developed ad copy, and monitored and supported optimization decisions, but I did not directly operate or manage the ad platforms; day-to-day media execution sat with other parts of the marketing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worked campaign example for the Automated Credit Memo LinkedIn campaign. Targeting combined two dimensions: job (banking decision-makers — credit risk, underwriting, and lending operations leadership) and company (banks of all sizes — large, medium, and small financial institutions), across 18 markets spanning North America, Europe, and Asia-Pacific. The campaign delivered 10K–20K impressions, concentrated in the US (49%), UK (21%), and Canada (16%), with the remaining markets each contributing a smaller share. The campaign ran for one quarter with structured A/B testing across caption length, creative style, ad format (single-image vs. message ads), and CTA wording to identify what resonated with this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ad creative variants tested in the Automated Credit Memo LinkedIn campaign, included here with permission. Variants A through C isolated creative and headline choices within the same single-image ad format — a team photo versus an abstract data visual, and a shorter outcome-led headline versus a policy-alignment headline. Variant D tested a different visual treatment and CTA (“Learn more” instead of “See it in action”) paired with a more direct headline. The final two are message ads from named spokespeople — Omar Khan and Pavlé Sabic — testing a completely different ad format (conversational, first-person) against the single-image ads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analytics work involved traffic, visits, clicks, form submissions, average time on page, bounce rate, and broader engagement behaviour, supplemented by heatmap and attribution analysis to understand where users engaged or dropped off. The Insight-to-Action panel illustrates the kind of process used to turn behavioural data into optimization recommendations; specific figures are intentionally omitted since no documented metrics were provided for this project, consistent with not inventing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enablement work was built as a two-way exchange rather than a one-directional handoff. Marketing provided sales plays, weekly sales newsletters, HighSpot campaign pages, feature grids, battle cards, and competitive analysis. In return, Salesforce reports, lead lists, and field context on prospect engagement helped shape ongoing marketing activity. The goal throughout was marketing and sales alignment — making sure sales teams understood relevant marketing activity and had the context needed to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GTM workflow I contributed to ran as a continuous, iterative loop rather than a linear one-time project: market and audience research fed portfolio positioning and value proposition work, which informed SEO and content strategy and campaign planning; performance analysis and optimization insights closed the loop back into sales enablement and further research and iteration. This integrated view is the frame that connects the individual pieces of work shown throughout this deck into a single, repeatable GTM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three years, I managed a combined $22.8M in LinkedIn and Google Ads budget, averaging $7.6M per year ($4.5M on LinkedIn, $3.1M on Google Ads). Beyond budget stewardship, this work translated into measurable revenue impact: $1.59M in revenue influenced through Google and LinkedIn ad campaigns, and a standout 2025 result — a $3.1M sales-qualified lead for Loan Origination that came in directly through the website, with the customer explicitly citing the relevance of the Loan Origination webpage content. This was recognized and celebrated internally as a flagship example of SEO and website optimization work translating directly into pipeline value, connecting the SEO and content strategy work shown earlier in this deck to a concrete, documented business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concrete deliverables from strategic contribution. What I delivered includes messaging frameworks, content across webpages, brochures and sales materials, campaign briefs and ad copy, analytics-informed recommendations, and sales enablement assets. The strategic contribution reflects the broader value of that work: connecting product capabilities to customer value, supporting consistent portfolio positioning, contributing to marketing and sales alignment, and helping bring SEO and audience insight into content decisions. Language throughout is intentionally evidence-based — supported, developed, contributed to — rather than claiming revenue, conversion, ranking, or pipeline outcomes that are not documented. The one external, documented data point included here is Moody's own published case study on Bank SinoPac reporting shorter loan turnaround times after adopting Lending Suite Origination — real, citable third-party evidence rather than an internal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brings together the full capability set demonstrated across the deck: portfolio marketing, value proposition development, SEO, content strategy, campaign intelligence, marketing analytics, sales enablement, and GTM alignment. The closing statement reinforces the central theme of the case study — an approach grounded in customer understanding and structured positioning that turns complex lending technology into clear, value-led communication across the buyer and sales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moodys.com/web/en/us/solutions/lending/loan-origination.html#tabs-c1071a11bd-item-fbbc09214c-tab" TargetMode="External"/><Relationship Id="rId2" Type="http://schemas.openxmlformats.org/officeDocument/2006/relationships/hyperlink" Target="https://www.youtube.com/watch?v=yQhwqFML53A" TargetMode="External"/><Relationship Id="rId3" Type="http://schemas.openxmlformats.org/officeDocument/2006/relationships/hyperlink" Target="https://www.moodys.com/web/en/us/solutions/lending/loan-origination/borrower-engagement.html" TargetMode="External"/><Relationship Id="rId4" Type="http://schemas.openxmlformats.org/officeDocument/2006/relationships/hyperlink" Target="https://www.moodys.com/web/en/us/solutions/lending/loan-origination/spreading-scoring.html" TargetMode="External"/><Relationship Id="rId5" Type="http://schemas.openxmlformats.org/officeDocument/2006/relationships/hyperlink" Target="https://www.moodys.com/web/en/us/solutions/lending/loan-origination/spreading-scoring.html#:~:text=and%20boost%20profitability.-,Automated%20spreading,-Our%20solution%20works" TargetMode="External"/><Relationship Id="rId6" Type="http://schemas.openxmlformats.org/officeDocument/2006/relationships/hyperlink" Target="https://www.moodys.com/web/en/us/solutions/lending/loan-origination/underwriting-decisioning.html" TargetMode="External"/><Relationship Id="rId7" Type="http://schemas.openxmlformats.org/officeDocument/2006/relationships/hyperlink" Target="https://www.moodys.com/web/en/us/solutions/lending/loan-origination/underwriting-decisioning.html#:~:text=Download%20brochure-,AI%2Dpowered%20Credit%20Memo,-Banks%20produce%20thousands" TargetMode="External"/><Relationship Id="rId8" Type="http://schemas.openxmlformats.org/officeDocument/2006/relationships/hyperlink" Target="https://www.youtube.com/watch?v=gDFJyuUg6sk" TargetMode="External"/><Relationship Id="rId9" Type="http://schemas.openxmlformats.org/officeDocument/2006/relationships/hyperlink" Target="https://www.moodys.com/web/en/us/solutions/lending/loan-origination/loan-operations.html" TargetMode="External"/><Relationship Id="rId10" Type="http://schemas.openxmlformats.org/officeDocument/2006/relationships/hyperlink" Target="https://www.moodys.com/web/en/us/solutions/lending/loan-monitoring.html" TargetMode="External"/><Relationship Id="rId11" Type="http://schemas.openxmlformats.org/officeDocument/2006/relationships/hyperlink" Target="https://www.moodys.com/web/en/us/solutions/lending/loan-monitoring.html#:~:text=Innovation%20highlight%3A%20Automated%20covenants" TargetMode="External"/><Relationship Id="rId12" Type="http://schemas.openxmlformats.org/officeDocument/2006/relationships/hyperlink" Target="https://www.moodys.com/web/en/us/insights/portfolio-management/momentum-metropolitan-chooses-portfoliostudio.html" TargetMode="External"/><Relationship Id="rId13" Type="http://schemas.openxmlformats.org/officeDocument/2006/relationships/hyperlink" Target="https://www.moodys.com/web/en/us/solutions/lending/commercial-real-estate.html" TargetMode="External"/><Relationship Id="rId14" Type="http://schemas.openxmlformats.org/officeDocument/2006/relationships/hyperlink" Target="https://www.moodys.com/web/en/us/solutions/lending/small-business.html" TargetMode="External"/><Relationship Id="rId15" Type="http://schemas.openxmlformats.org/officeDocument/2006/relationships/hyperlink" Target="https://www.moodys.com/web/en/us/solutions/lending/agriculture.html" TargetMode="External"/><Relationship Id="rId16" Type="http://schemas.openxmlformats.org/officeDocument/2006/relationships/slideLayout" Target="../slideLayouts/slideLayout1.xml"/><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moodys.com/web/en/us/insights/lending/bank-sinopac-case-study.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64"/>
        </a:solidFill>
      </p:bgPr>
    </p:bg>
    <p:spTree>
      <p:nvGrpSpPr>
        <p:cNvPr id="1" name=""/>
        <p:cNvGrpSpPr/>
        <p:nvPr/>
      </p:nvGrpSpPr>
      <p:grpSpPr>
        <a:xfrm>
          <a:off x="0" y="0"/>
          <a:ext cx="0" cy="0"/>
          <a:chOff x="0" y="0"/>
          <a:chExt cx="0" cy="0"/>
        </a:xfrm>
      </p:grpSpPr>
      <p:sp>
        <p:nvSpPr>
          <p:cNvPr id="2" name="Shape 0"/>
          <p:cNvSpPr/>
          <p:nvPr/>
        </p:nvSpPr>
        <p:spPr>
          <a:xfrm>
            <a:off x="8869680" y="3474720"/>
            <a:ext cx="2468880" cy="960120"/>
          </a:xfrm>
          <a:prstGeom prst="rect">
            <a:avLst/>
          </a:prstGeom>
          <a:solidFill>
            <a:srgbClr val="0D1A80"/>
          </a:solidFill>
          <a:ln w="9525">
            <a:solidFill>
              <a:srgbClr val="1E3399"/>
            </a:solidFill>
            <a:prstDash val="solid"/>
          </a:ln>
        </p:spPr>
      </p:sp>
      <p:sp>
        <p:nvSpPr>
          <p:cNvPr id="3" name="Shape 1"/>
          <p:cNvSpPr/>
          <p:nvPr/>
        </p:nvSpPr>
        <p:spPr>
          <a:xfrm>
            <a:off x="8869680" y="4526280"/>
            <a:ext cx="2468880" cy="502920"/>
          </a:xfrm>
          <a:prstGeom prst="rect">
            <a:avLst/>
          </a:prstGeom>
          <a:solidFill>
            <a:srgbClr val="13237A"/>
          </a:solidFill>
          <a:ln w="9525">
            <a:solidFill>
              <a:srgbClr val="1E3399"/>
            </a:solidFill>
            <a:prstDash val="solid"/>
          </a:ln>
        </p:spPr>
      </p:sp>
      <p:sp>
        <p:nvSpPr>
          <p:cNvPr id="4" name="Shape 2"/>
          <p:cNvSpPr/>
          <p:nvPr/>
        </p:nvSpPr>
        <p:spPr>
          <a:xfrm>
            <a:off x="8869680" y="5120640"/>
            <a:ext cx="1554480" cy="822960"/>
          </a:xfrm>
          <a:prstGeom prst="rect">
            <a:avLst/>
          </a:prstGeom>
          <a:solidFill>
            <a:srgbClr val="081052"/>
          </a:solidFill>
          <a:ln w="9525">
            <a:solidFill>
              <a:srgbClr val="1E3399"/>
            </a:solidFill>
            <a:prstDash val="solid"/>
          </a:ln>
        </p:spPr>
      </p:sp>
      <p:sp>
        <p:nvSpPr>
          <p:cNvPr id="5" name="Shape 3"/>
          <p:cNvSpPr/>
          <p:nvPr/>
        </p:nvSpPr>
        <p:spPr>
          <a:xfrm>
            <a:off x="10561320" y="5120640"/>
            <a:ext cx="777240" cy="1737360"/>
          </a:xfrm>
          <a:prstGeom prst="rect">
            <a:avLst/>
          </a:prstGeom>
          <a:solidFill>
            <a:srgbClr val="0D1A80"/>
          </a:solidFill>
          <a:ln w="9525">
            <a:solidFill>
              <a:srgbClr val="1E3399"/>
            </a:solidFill>
            <a:prstDash val="solid"/>
          </a:ln>
        </p:spPr>
      </p:sp>
      <p:sp>
        <p:nvSpPr>
          <p:cNvPr id="6" name="Shape 4"/>
          <p:cNvSpPr/>
          <p:nvPr/>
        </p:nvSpPr>
        <p:spPr>
          <a:xfrm>
            <a:off x="8869680" y="6035040"/>
            <a:ext cx="1554480" cy="777240"/>
          </a:xfrm>
          <a:prstGeom prst="rect">
            <a:avLst/>
          </a:prstGeom>
          <a:solidFill>
            <a:srgbClr val="13237A"/>
          </a:solidFill>
          <a:ln w="9525">
            <a:solidFill>
              <a:srgbClr val="1E3399"/>
            </a:solidFill>
            <a:prstDash val="solid"/>
          </a:ln>
        </p:spPr>
      </p:sp>
      <p:sp>
        <p:nvSpPr>
          <p:cNvPr id="7" name="Shape 5"/>
          <p:cNvSpPr/>
          <p:nvPr/>
        </p:nvSpPr>
        <p:spPr>
          <a:xfrm>
            <a:off x="8869680" y="1463040"/>
            <a:ext cx="1188720" cy="1097280"/>
          </a:xfrm>
          <a:prstGeom prst="rect">
            <a:avLst/>
          </a:prstGeom>
          <a:solidFill>
            <a:srgbClr val="081052"/>
          </a:solidFill>
          <a:ln w="9525">
            <a:solidFill>
              <a:srgbClr val="1E3399"/>
            </a:solidFill>
            <a:prstDash val="solid"/>
          </a:ln>
        </p:spPr>
      </p:sp>
      <p:sp>
        <p:nvSpPr>
          <p:cNvPr id="8" name="Shape 6"/>
          <p:cNvSpPr/>
          <p:nvPr/>
        </p:nvSpPr>
        <p:spPr>
          <a:xfrm>
            <a:off x="10195560" y="1463040"/>
            <a:ext cx="1143000" cy="1874520"/>
          </a:xfrm>
          <a:prstGeom prst="rect">
            <a:avLst/>
          </a:prstGeom>
          <a:solidFill>
            <a:srgbClr val="0D1A80"/>
          </a:solidFill>
          <a:ln w="9525">
            <a:solidFill>
              <a:srgbClr val="1E3399"/>
            </a:solidFill>
            <a:prstDash val="solid"/>
          </a:ln>
        </p:spPr>
      </p:sp>
      <p:sp>
        <p:nvSpPr>
          <p:cNvPr id="9" name="Shape 7"/>
          <p:cNvSpPr/>
          <p:nvPr/>
        </p:nvSpPr>
        <p:spPr>
          <a:xfrm>
            <a:off x="457200" y="457200"/>
            <a:ext cx="640080" cy="0"/>
          </a:xfrm>
          <a:prstGeom prst="line">
            <a:avLst/>
          </a:prstGeom>
          <a:noFill/>
          <a:ln w="25400">
            <a:solidFill>
              <a:srgbClr val="0057E7"/>
            </a:solidFill>
            <a:prstDash val="solid"/>
          </a:ln>
        </p:spPr>
      </p:sp>
      <p:sp>
        <p:nvSpPr>
          <p:cNvPr id="10" name="Shape 8"/>
          <p:cNvSpPr/>
          <p:nvPr/>
        </p:nvSpPr>
        <p:spPr>
          <a:xfrm>
            <a:off x="457200" y="457200"/>
            <a:ext cx="0" cy="457200"/>
          </a:xfrm>
          <a:prstGeom prst="line">
            <a:avLst/>
          </a:prstGeom>
          <a:noFill/>
          <a:ln w="25400">
            <a:solidFill>
              <a:srgbClr val="0057E7"/>
            </a:solidFill>
            <a:prstDash val="solid"/>
          </a:ln>
        </p:spPr>
      </p:sp>
      <p:sp>
        <p:nvSpPr>
          <p:cNvPr id="11" name="Text 9"/>
          <p:cNvSpPr/>
          <p:nvPr/>
        </p:nvSpPr>
        <p:spPr>
          <a:xfrm>
            <a:off x="457200" y="1691640"/>
            <a:ext cx="7863840" cy="320040"/>
          </a:xfrm>
          <a:prstGeom prst="rect">
            <a:avLst/>
          </a:prstGeom>
          <a:noFill/>
          <a:ln/>
        </p:spPr>
        <p:txBody>
          <a:bodyPr wrap="square" rtlCol="0" anchor="ctr"/>
          <a:lstStyle/>
          <a:p>
            <a:pPr indent="0" marL="0">
              <a:buNone/>
            </a:pPr>
            <a:r>
              <a:rPr lang="en-US" sz="1300" b="1" spc="220" kern="0" dirty="0">
                <a:solidFill>
                  <a:srgbClr val="0057E7"/>
                </a:solidFill>
                <a:latin typeface="GT America" pitchFamily="34" charset="0"/>
                <a:ea typeface="GT America" pitchFamily="34" charset="-122"/>
                <a:cs typeface="GT America" pitchFamily="34" charset="-120"/>
              </a:rPr>
              <a:t>PRODUCT MARKETING · GTM STRATEGY CASE STUDY</a:t>
            </a:r>
            <a:endParaRPr lang="en-US" sz="1300" dirty="0"/>
          </a:p>
        </p:txBody>
      </p:sp>
      <p:sp>
        <p:nvSpPr>
          <p:cNvPr id="12" name="Text 10"/>
          <p:cNvSpPr/>
          <p:nvPr/>
        </p:nvSpPr>
        <p:spPr>
          <a:xfrm>
            <a:off x="457200" y="2057400"/>
            <a:ext cx="8229600" cy="2103120"/>
          </a:xfrm>
          <a:prstGeom prst="rect">
            <a:avLst/>
          </a:prstGeom>
          <a:noFill/>
          <a:ln/>
        </p:spPr>
        <p:txBody>
          <a:bodyPr wrap="square" rtlCol="0" anchor="ctr"/>
          <a:lstStyle/>
          <a:p>
            <a:pPr indent="0" marL="0">
              <a:lnSpc>
                <a:spcPct val="115000"/>
              </a:lnSpc>
              <a:buNone/>
            </a:pPr>
            <a:r>
              <a:rPr lang="en-US" sz="2800" b="1" dirty="0">
                <a:solidFill>
                  <a:srgbClr val="FFFFFF"/>
                </a:solidFill>
                <a:latin typeface="Financier Display" pitchFamily="34" charset="0"/>
                <a:ea typeface="Financier Display" pitchFamily="34" charset="-122"/>
                <a:cs typeface="Financier Display" pitchFamily="34" charset="-120"/>
              </a:rPr>
              <a:t>From Product-Centric Marketing</a:t>
            </a:r>
            <a:endParaRPr lang="en-US" sz="2800" dirty="0"/>
          </a:p>
          <a:p>
            <a:pPr indent="0" marL="0">
              <a:lnSpc>
                <a:spcPct val="115000"/>
              </a:lnSpc>
              <a:buNone/>
            </a:pPr>
            <a:r>
              <a:rPr lang="en-US" sz="2800" b="1" dirty="0">
                <a:solidFill>
                  <a:srgbClr val="FFFFFF"/>
                </a:solidFill>
                <a:latin typeface="Financier Display" pitchFamily="34" charset="0"/>
                <a:ea typeface="Financier Display" pitchFamily="34" charset="-122"/>
                <a:cs typeface="Financier Display" pitchFamily="34" charset="-120"/>
              </a:rPr>
              <a:t>to Value-Led Lending Solutions</a:t>
            </a:r>
            <a:endParaRPr lang="en-US" sz="2800" dirty="0"/>
          </a:p>
        </p:txBody>
      </p:sp>
      <p:sp>
        <p:nvSpPr>
          <p:cNvPr id="13" name="Text 11"/>
          <p:cNvSpPr/>
          <p:nvPr/>
        </p:nvSpPr>
        <p:spPr>
          <a:xfrm>
            <a:off x="457200" y="4343400"/>
            <a:ext cx="7498080" cy="640080"/>
          </a:xfrm>
          <a:prstGeom prst="rect">
            <a:avLst/>
          </a:prstGeom>
          <a:noFill/>
          <a:ln/>
        </p:spPr>
        <p:txBody>
          <a:bodyPr wrap="square" rtlCol="0" anchor="ctr"/>
          <a:lstStyle/>
          <a:p>
            <a:pPr indent="0" marL="0">
              <a:lnSpc>
                <a:spcPct val="115000"/>
              </a:lnSpc>
              <a:buNone/>
            </a:pPr>
            <a:r>
              <a:rPr lang="en-US" sz="1500" dirty="0">
                <a:solidFill>
                  <a:srgbClr val="E7ECF6"/>
                </a:solidFill>
                <a:latin typeface="GT America" pitchFamily="34" charset="0"/>
                <a:ea typeface="GT America" pitchFamily="34" charset="-122"/>
                <a:cs typeface="GT America" pitchFamily="34" charset="-120"/>
              </a:rPr>
              <a:t>Supporting portfolio positioning, SEO, content strategy, campaign intelligence, and sales enablement</a:t>
            </a:r>
            <a:endParaRPr lang="en-US" sz="1500" dirty="0"/>
          </a:p>
        </p:txBody>
      </p:sp>
      <p:sp>
        <p:nvSpPr>
          <p:cNvPr id="14" name="Shape 12"/>
          <p:cNvSpPr/>
          <p:nvPr/>
        </p:nvSpPr>
        <p:spPr>
          <a:xfrm>
            <a:off x="457200" y="4983480"/>
            <a:ext cx="2011680" cy="0"/>
          </a:xfrm>
          <a:prstGeom prst="line">
            <a:avLst/>
          </a:prstGeom>
          <a:noFill/>
          <a:ln w="12700">
            <a:solidFill>
              <a:srgbClr val="3A4D77"/>
            </a:solidFill>
            <a:prstDash val="solid"/>
          </a:ln>
        </p:spPr>
      </p:sp>
      <p:sp>
        <p:nvSpPr>
          <p:cNvPr id="15" name="Text 13"/>
          <p:cNvSpPr/>
          <p:nvPr/>
        </p:nvSpPr>
        <p:spPr>
          <a:xfrm>
            <a:off x="457200" y="5120640"/>
            <a:ext cx="7498080" cy="320040"/>
          </a:xfrm>
          <a:prstGeom prst="rect">
            <a:avLst/>
          </a:prstGeom>
          <a:noFill/>
          <a:ln/>
        </p:spPr>
        <p:txBody>
          <a:bodyPr wrap="square" rtlCol="0" anchor="ctr"/>
          <a:lstStyle/>
          <a:p>
            <a:pPr indent="0" marL="0">
              <a:buNone/>
            </a:pPr>
            <a:r>
              <a:rPr lang="en-US" sz="1150" i="1" dirty="0">
                <a:solidFill>
                  <a:srgbClr val="9FB0CC"/>
                </a:solidFill>
                <a:latin typeface="GT America" pitchFamily="34" charset="0"/>
                <a:ea typeface="GT America" pitchFamily="34" charset="-122"/>
                <a:cs typeface="GT America" pitchFamily="34" charset="-120"/>
              </a:rPr>
              <a:t>Case study context: Moody’s Lending Technology Portfolio (Lending Suite)</a:t>
            </a:r>
            <a:endParaRPr lang="en-US" sz="1150" dirty="0"/>
          </a:p>
        </p:txBody>
      </p:sp>
      <p:sp>
        <p:nvSpPr>
          <p:cNvPr id="16" name="Text 14"/>
          <p:cNvSpPr/>
          <p:nvPr/>
        </p:nvSpPr>
        <p:spPr>
          <a:xfrm>
            <a:off x="457200" y="6263640"/>
            <a:ext cx="8229600" cy="320040"/>
          </a:xfrm>
          <a:prstGeom prst="rect">
            <a:avLst/>
          </a:prstGeom>
          <a:noFill/>
          <a:ln/>
        </p:spPr>
        <p:txBody>
          <a:bodyPr wrap="square" rtlCol="0" anchor="ctr"/>
          <a:lstStyle/>
          <a:p>
            <a:pPr indent="0" marL="0">
              <a:buNone/>
            </a:pPr>
            <a:r>
              <a:rPr lang="en-US" sz="950" i="1" dirty="0">
                <a:solidFill>
                  <a:srgbClr val="5E739E"/>
                </a:solidFill>
                <a:latin typeface="GT America" pitchFamily="34" charset="0"/>
                <a:ea typeface="GT America" pitchFamily="34" charset="-122"/>
                <a:cs typeface="GT America" pitchFamily="34" charset="-120"/>
              </a:rPr>
              <a:t>Illustrative case study prepared for portfolio review — quantitative outcomes shown only where documented.</a:t>
            </a:r>
            <a:endParaRPr lang="en-US" sz="950" dirty="0"/>
          </a:p>
        </p:txBody>
      </p:sp>
      <p:sp>
        <p:nvSpPr>
          <p:cNvPr id="17" name="Text 15"/>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9FB0CC"/>
                </a:solidFill>
                <a:latin typeface="GT America" pitchFamily="34" charset="0"/>
                <a:ea typeface="GT America" pitchFamily="34" charset="-122"/>
                <a:cs typeface="GT America" pitchFamily="34" charset="-120"/>
              </a:rPr>
              <a:t>FROM PRODUCT-CENTRIC MARKETING TO VALUE-LED LENDING SOLUTIONS</a:t>
            </a:r>
            <a:endParaRPr lang="en-US" sz="900" dirty="0"/>
          </a:p>
        </p:txBody>
      </p:sp>
      <p:sp>
        <p:nvSpPr>
          <p:cNvPr id="18" name="Text 16"/>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9FB0CC"/>
                </a:solidFill>
                <a:latin typeface="GT America" pitchFamily="34" charset="0"/>
                <a:ea typeface="GT America" pitchFamily="34" charset="-122"/>
                <a:cs typeface="GT America" pitchFamily="34" charset="-120"/>
              </a:rPr>
              <a:t>1 / 23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BUSINESS CONTEXT</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Building a Unified Lending Portfolio</a:t>
            </a:r>
            <a:endParaRPr lang="en-US" sz="2800" dirty="0"/>
          </a:p>
        </p:txBody>
      </p:sp>
      <p:sp>
        <p:nvSpPr>
          <p:cNvPr id="4" name="Shape 2"/>
          <p:cNvSpPr/>
          <p:nvPr/>
        </p:nvSpPr>
        <p:spPr>
          <a:xfrm>
            <a:off x="457200" y="1783080"/>
            <a:ext cx="3291840" cy="1371600"/>
          </a:xfrm>
          <a:prstGeom prst="roundRect">
            <a:avLst>
              <a:gd name="adj" fmla="val 5333"/>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640080" y="1920240"/>
            <a:ext cx="2926080" cy="228600"/>
          </a:xfrm>
          <a:prstGeom prst="rect">
            <a:avLst/>
          </a:prstGeom>
          <a:noFill/>
          <a:ln/>
        </p:spPr>
        <p:txBody>
          <a:bodyPr wrap="square" rtlCol="0" anchor="ctr"/>
          <a:lstStyle/>
          <a:p>
            <a:pPr indent="0" marL="0">
              <a:buNone/>
            </a:pPr>
            <a:r>
              <a:rPr lang="en-US" sz="1000" b="1" spc="100" kern="0" dirty="0">
                <a:solidFill>
                  <a:srgbClr val="5B6472"/>
                </a:solidFill>
                <a:latin typeface="GT America" pitchFamily="34" charset="0"/>
                <a:ea typeface="GT America" pitchFamily="34" charset="-122"/>
                <a:cs typeface="GT America" pitchFamily="34" charset="-120"/>
              </a:rPr>
              <a:t>INDIVIDUALLY MARKETED</a:t>
            </a:r>
            <a:endParaRPr lang="en-US" sz="1000" dirty="0"/>
          </a:p>
        </p:txBody>
      </p:sp>
      <p:sp>
        <p:nvSpPr>
          <p:cNvPr id="6" name="Text 4"/>
          <p:cNvSpPr/>
          <p:nvPr/>
        </p:nvSpPr>
        <p:spPr>
          <a:xfrm>
            <a:off x="640080" y="2194560"/>
            <a:ext cx="2926080" cy="868680"/>
          </a:xfrm>
          <a:prstGeom prst="rect">
            <a:avLst/>
          </a:prstGeom>
          <a:noFill/>
          <a:ln/>
        </p:spPr>
        <p:txBody>
          <a:bodyPr wrap="square" rtlCol="0" anchor="ctr"/>
          <a:lstStyle/>
          <a:p>
            <a:pPr indent="0" marL="0">
              <a:lnSpc>
                <a:spcPct val="115000"/>
              </a:lnSpc>
              <a:buNone/>
            </a:pPr>
            <a:r>
              <a:rPr lang="en-US" sz="1250" dirty="0">
                <a:solidFill>
                  <a:srgbClr val="10142B"/>
                </a:solidFill>
                <a:latin typeface="GT America" pitchFamily="34" charset="0"/>
                <a:ea typeface="GT America" pitchFamily="34" charset="-122"/>
                <a:cs typeface="GT America" pitchFamily="34" charset="-120"/>
              </a:rPr>
              <a:t>CreditLens — and other lending solutions — marketed and sold as separate products</a:t>
            </a:r>
            <a:endParaRPr lang="en-US" sz="1250" dirty="0"/>
          </a:p>
        </p:txBody>
      </p:sp>
      <p:sp>
        <p:nvSpPr>
          <p:cNvPr id="7" name="Shape 5"/>
          <p:cNvSpPr/>
          <p:nvPr/>
        </p:nvSpPr>
        <p:spPr>
          <a:xfrm>
            <a:off x="3886200" y="2386584"/>
            <a:ext cx="777240" cy="164592"/>
          </a:xfrm>
          <a:prstGeom prst="rightArrow">
            <a:avLst/>
          </a:prstGeom>
          <a:solidFill>
            <a:srgbClr val="0057E7"/>
          </a:solidFill>
          <a:ln/>
        </p:spPr>
      </p:sp>
      <p:sp>
        <p:nvSpPr>
          <p:cNvPr id="8" name="Shape 6"/>
          <p:cNvSpPr/>
          <p:nvPr/>
        </p:nvSpPr>
        <p:spPr>
          <a:xfrm>
            <a:off x="4800600" y="1645920"/>
            <a:ext cx="3931920" cy="1645920"/>
          </a:xfrm>
          <a:prstGeom prst="roundRect">
            <a:avLst>
              <a:gd name="adj" fmla="val 4444"/>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9" name="Text 7"/>
          <p:cNvSpPr/>
          <p:nvPr/>
        </p:nvSpPr>
        <p:spPr>
          <a:xfrm>
            <a:off x="5029200" y="1783080"/>
            <a:ext cx="3474720" cy="228600"/>
          </a:xfrm>
          <a:prstGeom prst="rect">
            <a:avLst/>
          </a:prstGeom>
          <a:noFill/>
          <a:ln/>
        </p:spPr>
        <p:txBody>
          <a:bodyPr wrap="square" rtlCol="0" anchor="ctr"/>
          <a:lstStyle/>
          <a:p>
            <a:pPr indent="0" marL="0">
              <a:buNone/>
            </a:pPr>
            <a:r>
              <a:rPr lang="en-US" sz="1000" b="1" spc="100" kern="0" dirty="0">
                <a:solidFill>
                  <a:srgbClr val="0057E7"/>
                </a:solidFill>
                <a:latin typeface="GT America" pitchFamily="34" charset="0"/>
                <a:ea typeface="GT America" pitchFamily="34" charset="-122"/>
                <a:cs typeface="GT America" pitchFamily="34" charset="-120"/>
              </a:rPr>
              <a:t>INTEGRATED LENDING PORTFOLIO</a:t>
            </a:r>
            <a:endParaRPr lang="en-US" sz="1000" dirty="0"/>
          </a:p>
        </p:txBody>
      </p:sp>
      <p:sp>
        <p:nvSpPr>
          <p:cNvPr id="10" name="Text 8"/>
          <p:cNvSpPr/>
          <p:nvPr/>
        </p:nvSpPr>
        <p:spPr>
          <a:xfrm>
            <a:off x="5029200" y="2057400"/>
            <a:ext cx="3474720" cy="868680"/>
          </a:xfrm>
          <a:prstGeom prst="rect">
            <a:avLst/>
          </a:prstGeom>
          <a:noFill/>
          <a:ln/>
        </p:spPr>
        <p:txBody>
          <a:bodyPr wrap="square" rtlCol="0" anchor="ctr"/>
          <a:lstStyle/>
          <a:p>
            <a:pPr indent="0" marL="0">
              <a:lnSpc>
                <a:spcPct val="115000"/>
              </a:lnSpc>
              <a:buNone/>
            </a:pPr>
            <a:r>
              <a:rPr lang="en-US" sz="1300" b="1" dirty="0">
                <a:solidFill>
                  <a:srgbClr val="FFFFFF"/>
                </a:solidFill>
                <a:latin typeface="GT America" pitchFamily="34" charset="0"/>
                <a:ea typeface="GT America" pitchFamily="34" charset="-122"/>
                <a:cs typeface="GT America" pitchFamily="34" charset="-120"/>
              </a:rPr>
              <a:t>Lending Suite: a unified portfolio spanning Origination and Monitoring</a:t>
            </a:r>
            <a:endParaRPr lang="en-US" sz="1300" dirty="0"/>
          </a:p>
        </p:txBody>
      </p:sp>
      <p:sp>
        <p:nvSpPr>
          <p:cNvPr id="11" name="Text 9"/>
          <p:cNvSpPr/>
          <p:nvPr/>
        </p:nvSpPr>
        <p:spPr>
          <a:xfrm>
            <a:off x="5029200" y="2743200"/>
            <a:ext cx="3474720" cy="457200"/>
          </a:xfrm>
          <a:prstGeom prst="rect">
            <a:avLst/>
          </a:prstGeom>
          <a:noFill/>
          <a:ln/>
        </p:spPr>
        <p:txBody>
          <a:bodyPr wrap="square" rtlCol="0" anchor="ctr"/>
          <a:lstStyle/>
          <a:p>
            <a:pPr indent="0" marL="0">
              <a:buNone/>
            </a:pPr>
            <a:r>
              <a:rPr lang="en-US" sz="1050" i="1" dirty="0">
                <a:solidFill>
                  <a:srgbClr val="9FB0CC"/>
                </a:solidFill>
                <a:latin typeface="GT America" pitchFamily="34" charset="0"/>
                <a:ea typeface="GT America" pitchFamily="34" charset="-122"/>
                <a:cs typeface="GT America" pitchFamily="34" charset="-120"/>
              </a:rPr>
              <a:t>Repositioned around customer workflows rather than individual products</a:t>
            </a:r>
            <a:endParaRPr lang="en-US" sz="1050" dirty="0"/>
          </a:p>
        </p:txBody>
      </p:sp>
      <p:sp>
        <p:nvSpPr>
          <p:cNvPr id="12" name="Shape 10"/>
          <p:cNvSpPr/>
          <p:nvPr/>
        </p:nvSpPr>
        <p:spPr>
          <a:xfrm>
            <a:off x="8869680" y="2478024"/>
            <a:ext cx="457200" cy="164592"/>
          </a:xfrm>
          <a:prstGeom prst="rightArrow">
            <a:avLst/>
          </a:prstGeom>
          <a:solidFill>
            <a:srgbClr val="2E4DA6"/>
          </a:solidFill>
          <a:ln/>
        </p:spPr>
      </p:sp>
      <p:sp>
        <p:nvSpPr>
          <p:cNvPr id="13" name="Shape 11"/>
          <p:cNvSpPr/>
          <p:nvPr/>
        </p:nvSpPr>
        <p:spPr>
          <a:xfrm>
            <a:off x="9464040" y="1645920"/>
            <a:ext cx="2267712" cy="1645920"/>
          </a:xfrm>
          <a:prstGeom prst="roundRect">
            <a:avLst>
              <a:gd name="adj" fmla="val 444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4" name="Text 12"/>
          <p:cNvSpPr/>
          <p:nvPr/>
        </p:nvSpPr>
        <p:spPr>
          <a:xfrm>
            <a:off x="9628632" y="1773936"/>
            <a:ext cx="1938528" cy="457200"/>
          </a:xfrm>
          <a:prstGeom prst="rect">
            <a:avLst/>
          </a:prstGeom>
          <a:noFill/>
          <a:ln/>
        </p:spPr>
        <p:txBody>
          <a:bodyPr wrap="square" rtlCol="0" anchor="ctr"/>
          <a:lstStyle/>
          <a:p>
            <a:pPr indent="0" marL="0">
              <a:lnSpc>
                <a:spcPct val="105000"/>
              </a:lnSpc>
              <a:buNone/>
            </a:pPr>
            <a:r>
              <a:rPr lang="en-US" sz="1000" b="1" spc="30" kern="0" dirty="0">
                <a:solidFill>
                  <a:srgbClr val="2E4DA6"/>
                </a:solidFill>
                <a:latin typeface="GT America" pitchFamily="34" charset="0"/>
                <a:ea typeface="GT America" pitchFamily="34" charset="-122"/>
                <a:cs typeface="GT America" pitchFamily="34" charset="-120"/>
              </a:rPr>
              <a:t>MOODY’S DATA</a:t>
            </a:r>
            <a:endParaRPr lang="en-US" sz="1000" dirty="0"/>
          </a:p>
          <a:p>
            <a:pPr indent="0" marL="0">
              <a:lnSpc>
                <a:spcPct val="105000"/>
              </a:lnSpc>
              <a:buNone/>
            </a:pPr>
            <a:r>
              <a:rPr lang="en-US" sz="1000" b="1" spc="30" kern="0" dirty="0">
                <a:solidFill>
                  <a:srgbClr val="2E4DA6"/>
                </a:solidFill>
                <a:latin typeface="GT America" pitchFamily="34" charset="0"/>
                <a:ea typeface="GT America" pitchFamily="34" charset="-122"/>
                <a:cs typeface="GT America" pitchFamily="34" charset="-120"/>
              </a:rPr>
              <a:t>ADVANTAGE</a:t>
            </a:r>
            <a:endParaRPr lang="en-US" sz="1000" dirty="0"/>
          </a:p>
        </p:txBody>
      </p:sp>
      <p:sp>
        <p:nvSpPr>
          <p:cNvPr id="15" name="Text 13"/>
          <p:cNvSpPr/>
          <p:nvPr/>
        </p:nvSpPr>
        <p:spPr>
          <a:xfrm>
            <a:off x="9628632" y="2267712"/>
            <a:ext cx="1938528" cy="914400"/>
          </a:xfrm>
          <a:prstGeom prst="rect">
            <a:avLst/>
          </a:prstGeom>
          <a:noFill/>
          <a:ln/>
        </p:spPr>
        <p:txBody>
          <a:bodyPr wrap="square" rtlCol="0" anchor="ctr"/>
          <a:lstStyle/>
          <a:p>
            <a:pPr indent="0" marL="0">
              <a:lnSpc>
                <a:spcPct val="118000"/>
              </a:lnSpc>
              <a:buNone/>
            </a:pPr>
            <a:r>
              <a:rPr lang="en-US" sz="950" dirty="0">
                <a:solidFill>
                  <a:srgbClr val="5B6472"/>
                </a:solidFill>
                <a:latin typeface="GT America" pitchFamily="34" charset="0"/>
                <a:ea typeface="GT America" pitchFamily="34" charset="-122"/>
                <a:cs typeface="GT America" pitchFamily="34" charset="-120"/>
              </a:rPr>
              <a:t>Orbis firmographic data, credit risk analytics, and proprietary Moody’s datasets packaged into one suite for differentiation and scale.</a:t>
            </a:r>
            <a:endParaRPr lang="en-US" sz="950" dirty="0"/>
          </a:p>
        </p:txBody>
      </p:sp>
      <p:sp>
        <p:nvSpPr>
          <p:cNvPr id="16" name="Shape 14"/>
          <p:cNvSpPr/>
          <p:nvPr/>
        </p:nvSpPr>
        <p:spPr>
          <a:xfrm>
            <a:off x="457200" y="3520440"/>
            <a:ext cx="11274552" cy="658368"/>
          </a:xfrm>
          <a:prstGeom prst="roundRect">
            <a:avLst>
              <a:gd name="adj" fmla="val 1111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731520" y="3520440"/>
            <a:ext cx="1280160" cy="658368"/>
          </a:xfrm>
          <a:prstGeom prst="rect">
            <a:avLst/>
          </a:prstGeom>
          <a:noFill/>
          <a:ln/>
        </p:spPr>
        <p:txBody>
          <a:bodyPr wrap="square" rtlCol="0" anchor="ctr"/>
          <a:lstStyle/>
          <a:p>
            <a:pPr indent="0" marL="0">
              <a:buNone/>
            </a:pPr>
            <a:r>
              <a:rPr lang="en-US" sz="1050" b="1" spc="100" kern="0" dirty="0">
                <a:solidFill>
                  <a:srgbClr val="0057E7"/>
                </a:solidFill>
                <a:latin typeface="GT America" pitchFamily="34" charset="0"/>
                <a:ea typeface="GT America" pitchFamily="34" charset="-122"/>
                <a:cs typeface="GT America" pitchFamily="34" charset="-120"/>
              </a:rPr>
              <a:t>WHY NOW</a:t>
            </a:r>
            <a:endParaRPr lang="en-US" sz="1050" dirty="0"/>
          </a:p>
        </p:txBody>
      </p:sp>
      <p:sp>
        <p:nvSpPr>
          <p:cNvPr id="18" name="Text 16"/>
          <p:cNvSpPr/>
          <p:nvPr/>
        </p:nvSpPr>
        <p:spPr>
          <a:xfrm>
            <a:off x="1965960" y="3520440"/>
            <a:ext cx="9509760" cy="658368"/>
          </a:xfrm>
          <a:prstGeom prst="rect">
            <a:avLst/>
          </a:prstGeom>
          <a:noFill/>
          <a:ln/>
        </p:spPr>
        <p:txBody>
          <a:bodyPr wrap="square" rtlCol="0" anchor="ctr"/>
          <a:lstStyle/>
          <a:p>
            <a:pPr indent="0" marL="0">
              <a:lnSpc>
                <a:spcPct val="120000"/>
              </a:lnSpc>
              <a:buNone/>
            </a:pPr>
            <a:r>
              <a:rPr lang="en-US" sz="1150" i="1" dirty="0">
                <a:solidFill>
                  <a:srgbClr val="10142B"/>
                </a:solidFill>
                <a:latin typeface="GT America" pitchFamily="34" charset="0"/>
                <a:ea typeface="GT America" pitchFamily="34" charset="-122"/>
                <a:cs typeface="GT America" pitchFamily="34" charset="-120"/>
              </a:rPr>
              <a:t>Competitors are shifting to integrated, AI-driven lending platforms; banks and lenders want end-to-end coverage — borrower engagement through compliance — rather than piecemeal tools.</a:t>
            </a:r>
            <a:endParaRPr lang="en-US" sz="1150" dirty="0"/>
          </a:p>
        </p:txBody>
      </p:sp>
      <p:sp>
        <p:nvSpPr>
          <p:cNvPr id="19" name="Shape 17"/>
          <p:cNvSpPr/>
          <p:nvPr/>
        </p:nvSpPr>
        <p:spPr>
          <a:xfrm>
            <a:off x="457200" y="4343400"/>
            <a:ext cx="1962302" cy="1691640"/>
          </a:xfrm>
          <a:prstGeom prst="roundRect">
            <a:avLst>
              <a:gd name="adj" fmla="val 432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0" name="Shape 18"/>
          <p:cNvSpPr/>
          <p:nvPr/>
        </p:nvSpPr>
        <p:spPr>
          <a:xfrm>
            <a:off x="640080" y="4526280"/>
            <a:ext cx="329184" cy="329184"/>
          </a:xfrm>
          <a:prstGeom prst="ellipse">
            <a:avLst/>
          </a:prstGeom>
          <a:solidFill>
            <a:srgbClr val="0057E7"/>
          </a:solidFill>
          <a:ln/>
        </p:spPr>
      </p:sp>
      <p:sp>
        <p:nvSpPr>
          <p:cNvPr id="21" name="Text 19"/>
          <p:cNvSpPr/>
          <p:nvPr/>
        </p:nvSpPr>
        <p:spPr>
          <a:xfrm>
            <a:off x="640080" y="4526280"/>
            <a:ext cx="329184" cy="329184"/>
          </a:xfrm>
          <a:prstGeom prst="rect">
            <a:avLst/>
          </a:prstGeom>
          <a:noFill/>
          <a:ln/>
        </p:spPr>
        <p:txBody>
          <a:bodyPr wrap="square" rtlCol="0" anchor="ctr"/>
          <a:lstStyle/>
          <a:p>
            <a:pPr algn="ctr" indent="0" marL="0">
              <a:buNone/>
            </a:pPr>
            <a:r>
              <a:rPr lang="en-US" sz="1350" b="1" dirty="0">
                <a:solidFill>
                  <a:srgbClr val="FFFFFF"/>
                </a:solidFill>
                <a:latin typeface="GT America" pitchFamily="34" charset="0"/>
                <a:ea typeface="GT America" pitchFamily="34" charset="-122"/>
                <a:cs typeface="GT America" pitchFamily="34" charset="-120"/>
              </a:rPr>
              <a:t>1</a:t>
            </a:r>
            <a:endParaRPr lang="en-US" sz="1350" dirty="0"/>
          </a:p>
        </p:txBody>
      </p:sp>
      <p:sp>
        <p:nvSpPr>
          <p:cNvPr id="22" name="Text 20"/>
          <p:cNvSpPr/>
          <p:nvPr/>
        </p:nvSpPr>
        <p:spPr>
          <a:xfrm>
            <a:off x="603504" y="4965192"/>
            <a:ext cx="1669694" cy="457200"/>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Portfolio clarity</a:t>
            </a:r>
            <a:endParaRPr lang="en-US" sz="1200" dirty="0"/>
          </a:p>
        </p:txBody>
      </p:sp>
      <p:sp>
        <p:nvSpPr>
          <p:cNvPr id="23" name="Text 21"/>
          <p:cNvSpPr/>
          <p:nvPr/>
        </p:nvSpPr>
        <p:spPr>
          <a:xfrm>
            <a:off x="603504" y="5385816"/>
            <a:ext cx="1669694" cy="621792"/>
          </a:xfrm>
          <a:prstGeom prst="rect">
            <a:avLst/>
          </a:prstGeom>
          <a:noFill/>
          <a:ln/>
        </p:spPr>
        <p:txBody>
          <a:bodyPr wrap="square" rtlCol="0" anchor="ctr"/>
          <a:lstStyle/>
          <a:p>
            <a:pPr indent="0" marL="0">
              <a:lnSpc>
                <a:spcPct val="110000"/>
              </a:lnSpc>
              <a:buNone/>
            </a:pPr>
            <a:r>
              <a:rPr lang="en-US" sz="950" dirty="0">
                <a:solidFill>
                  <a:srgbClr val="5B6472"/>
                </a:solidFill>
                <a:latin typeface="GT America" pitchFamily="34" charset="0"/>
                <a:ea typeface="GT America" pitchFamily="34" charset="-122"/>
                <a:cs typeface="GT America" pitchFamily="34" charset="-120"/>
              </a:rPr>
              <a:t>A single, coherent lending story instead of fragmented products</a:t>
            </a:r>
            <a:endParaRPr lang="en-US" sz="950" dirty="0"/>
          </a:p>
        </p:txBody>
      </p:sp>
      <p:sp>
        <p:nvSpPr>
          <p:cNvPr id="24" name="Shape 22"/>
          <p:cNvSpPr/>
          <p:nvPr/>
        </p:nvSpPr>
        <p:spPr>
          <a:xfrm>
            <a:off x="2785262" y="4343400"/>
            <a:ext cx="1962302" cy="1691640"/>
          </a:xfrm>
          <a:prstGeom prst="roundRect">
            <a:avLst>
              <a:gd name="adj" fmla="val 432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5" name="Shape 23"/>
          <p:cNvSpPr/>
          <p:nvPr/>
        </p:nvSpPr>
        <p:spPr>
          <a:xfrm>
            <a:off x="2968142" y="4526280"/>
            <a:ext cx="329184" cy="329184"/>
          </a:xfrm>
          <a:prstGeom prst="ellipse">
            <a:avLst/>
          </a:prstGeom>
          <a:solidFill>
            <a:srgbClr val="0057E7"/>
          </a:solidFill>
          <a:ln/>
        </p:spPr>
      </p:sp>
      <p:sp>
        <p:nvSpPr>
          <p:cNvPr id="26" name="Text 24"/>
          <p:cNvSpPr/>
          <p:nvPr/>
        </p:nvSpPr>
        <p:spPr>
          <a:xfrm>
            <a:off x="2968142" y="4526280"/>
            <a:ext cx="329184" cy="329184"/>
          </a:xfrm>
          <a:prstGeom prst="rect">
            <a:avLst/>
          </a:prstGeom>
          <a:noFill/>
          <a:ln/>
        </p:spPr>
        <p:txBody>
          <a:bodyPr wrap="square" rtlCol="0" anchor="ctr"/>
          <a:lstStyle/>
          <a:p>
            <a:pPr algn="ctr" indent="0" marL="0">
              <a:buNone/>
            </a:pPr>
            <a:r>
              <a:rPr lang="en-US" sz="1350" b="1" dirty="0">
                <a:solidFill>
                  <a:srgbClr val="FFFFFF"/>
                </a:solidFill>
                <a:latin typeface="GT America" pitchFamily="34" charset="0"/>
                <a:ea typeface="GT America" pitchFamily="34" charset="-122"/>
                <a:cs typeface="GT America" pitchFamily="34" charset="-120"/>
              </a:rPr>
              <a:t>2</a:t>
            </a:r>
            <a:endParaRPr lang="en-US" sz="1350" dirty="0"/>
          </a:p>
        </p:txBody>
      </p:sp>
      <p:sp>
        <p:nvSpPr>
          <p:cNvPr id="27" name="Text 25"/>
          <p:cNvSpPr/>
          <p:nvPr/>
        </p:nvSpPr>
        <p:spPr>
          <a:xfrm>
            <a:off x="2931566" y="4965192"/>
            <a:ext cx="1669694" cy="457200"/>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Customer relevance</a:t>
            </a:r>
            <a:endParaRPr lang="en-US" sz="1200" dirty="0"/>
          </a:p>
        </p:txBody>
      </p:sp>
      <p:sp>
        <p:nvSpPr>
          <p:cNvPr id="28" name="Text 26"/>
          <p:cNvSpPr/>
          <p:nvPr/>
        </p:nvSpPr>
        <p:spPr>
          <a:xfrm>
            <a:off x="2931566" y="5385816"/>
            <a:ext cx="1669694" cy="621792"/>
          </a:xfrm>
          <a:prstGeom prst="rect">
            <a:avLst/>
          </a:prstGeom>
          <a:noFill/>
          <a:ln/>
        </p:spPr>
        <p:txBody>
          <a:bodyPr wrap="square" rtlCol="0" anchor="ctr"/>
          <a:lstStyle/>
          <a:p>
            <a:pPr indent="0" marL="0">
              <a:lnSpc>
                <a:spcPct val="110000"/>
              </a:lnSpc>
              <a:buNone/>
            </a:pPr>
            <a:r>
              <a:rPr lang="en-US" sz="950" dirty="0">
                <a:solidFill>
                  <a:srgbClr val="5B6472"/>
                </a:solidFill>
                <a:latin typeface="GT America" pitchFamily="34" charset="0"/>
                <a:ea typeface="GT America" pitchFamily="34" charset="-122"/>
                <a:cs typeface="GT America" pitchFamily="34" charset="-120"/>
              </a:rPr>
              <a:t>Positioning organized around lending workflows, not feature lists</a:t>
            </a:r>
            <a:endParaRPr lang="en-US" sz="950" dirty="0"/>
          </a:p>
        </p:txBody>
      </p:sp>
      <p:sp>
        <p:nvSpPr>
          <p:cNvPr id="29" name="Shape 27"/>
          <p:cNvSpPr/>
          <p:nvPr/>
        </p:nvSpPr>
        <p:spPr>
          <a:xfrm>
            <a:off x="5113325" y="4343400"/>
            <a:ext cx="1962302" cy="1691640"/>
          </a:xfrm>
          <a:prstGeom prst="roundRect">
            <a:avLst>
              <a:gd name="adj" fmla="val 432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0" name="Shape 28"/>
          <p:cNvSpPr/>
          <p:nvPr/>
        </p:nvSpPr>
        <p:spPr>
          <a:xfrm>
            <a:off x="5296205" y="4526280"/>
            <a:ext cx="329184" cy="329184"/>
          </a:xfrm>
          <a:prstGeom prst="ellipse">
            <a:avLst/>
          </a:prstGeom>
          <a:solidFill>
            <a:srgbClr val="0057E7"/>
          </a:solidFill>
          <a:ln/>
        </p:spPr>
      </p:sp>
      <p:sp>
        <p:nvSpPr>
          <p:cNvPr id="31" name="Text 29"/>
          <p:cNvSpPr/>
          <p:nvPr/>
        </p:nvSpPr>
        <p:spPr>
          <a:xfrm>
            <a:off x="5296205" y="4526280"/>
            <a:ext cx="329184" cy="329184"/>
          </a:xfrm>
          <a:prstGeom prst="rect">
            <a:avLst/>
          </a:prstGeom>
          <a:noFill/>
          <a:ln/>
        </p:spPr>
        <p:txBody>
          <a:bodyPr wrap="square" rtlCol="0" anchor="ctr"/>
          <a:lstStyle/>
          <a:p>
            <a:pPr algn="ctr" indent="0" marL="0">
              <a:buNone/>
            </a:pPr>
            <a:r>
              <a:rPr lang="en-US" sz="1350" b="1" dirty="0">
                <a:solidFill>
                  <a:srgbClr val="FFFFFF"/>
                </a:solidFill>
                <a:latin typeface="GT America" pitchFamily="34" charset="0"/>
                <a:ea typeface="GT America" pitchFamily="34" charset="-122"/>
                <a:cs typeface="GT America" pitchFamily="34" charset="-120"/>
              </a:rPr>
              <a:t>3</a:t>
            </a:r>
            <a:endParaRPr lang="en-US" sz="1350" dirty="0"/>
          </a:p>
        </p:txBody>
      </p:sp>
      <p:sp>
        <p:nvSpPr>
          <p:cNvPr id="32" name="Text 30"/>
          <p:cNvSpPr/>
          <p:nvPr/>
        </p:nvSpPr>
        <p:spPr>
          <a:xfrm>
            <a:off x="5259629" y="4965192"/>
            <a:ext cx="1669694" cy="457200"/>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Scalable GTM structure</a:t>
            </a:r>
            <a:endParaRPr lang="en-US" sz="1200" dirty="0"/>
          </a:p>
        </p:txBody>
      </p:sp>
      <p:sp>
        <p:nvSpPr>
          <p:cNvPr id="33" name="Text 31"/>
          <p:cNvSpPr/>
          <p:nvPr/>
        </p:nvSpPr>
        <p:spPr>
          <a:xfrm>
            <a:off x="5259629" y="5385816"/>
            <a:ext cx="1669694" cy="621792"/>
          </a:xfrm>
          <a:prstGeom prst="rect">
            <a:avLst/>
          </a:prstGeom>
          <a:noFill/>
          <a:ln/>
        </p:spPr>
        <p:txBody>
          <a:bodyPr wrap="square" rtlCol="0" anchor="ctr"/>
          <a:lstStyle/>
          <a:p>
            <a:pPr indent="0" marL="0">
              <a:lnSpc>
                <a:spcPct val="110000"/>
              </a:lnSpc>
              <a:buNone/>
            </a:pPr>
            <a:r>
              <a:rPr lang="en-US" sz="950" dirty="0">
                <a:solidFill>
                  <a:srgbClr val="5B6472"/>
                </a:solidFill>
                <a:latin typeface="GT America" pitchFamily="34" charset="0"/>
                <a:ea typeface="GT America" pitchFamily="34" charset="-122"/>
                <a:cs typeface="GT America" pitchFamily="34" charset="-120"/>
              </a:rPr>
              <a:t>A framework that absorbs new modules without re-architecting messaging</a:t>
            </a:r>
            <a:endParaRPr lang="en-US" sz="950" dirty="0"/>
          </a:p>
        </p:txBody>
      </p:sp>
      <p:sp>
        <p:nvSpPr>
          <p:cNvPr id="34" name="Shape 32"/>
          <p:cNvSpPr/>
          <p:nvPr/>
        </p:nvSpPr>
        <p:spPr>
          <a:xfrm>
            <a:off x="7441387" y="4343400"/>
            <a:ext cx="1962302" cy="1691640"/>
          </a:xfrm>
          <a:prstGeom prst="roundRect">
            <a:avLst>
              <a:gd name="adj" fmla="val 432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5" name="Shape 33"/>
          <p:cNvSpPr/>
          <p:nvPr/>
        </p:nvSpPr>
        <p:spPr>
          <a:xfrm>
            <a:off x="7624267" y="4526280"/>
            <a:ext cx="329184" cy="329184"/>
          </a:xfrm>
          <a:prstGeom prst="ellipse">
            <a:avLst/>
          </a:prstGeom>
          <a:solidFill>
            <a:srgbClr val="0057E7"/>
          </a:solidFill>
          <a:ln/>
        </p:spPr>
      </p:sp>
      <p:sp>
        <p:nvSpPr>
          <p:cNvPr id="36" name="Text 34"/>
          <p:cNvSpPr/>
          <p:nvPr/>
        </p:nvSpPr>
        <p:spPr>
          <a:xfrm>
            <a:off x="7624267" y="4526280"/>
            <a:ext cx="329184" cy="329184"/>
          </a:xfrm>
          <a:prstGeom prst="rect">
            <a:avLst/>
          </a:prstGeom>
          <a:noFill/>
          <a:ln/>
        </p:spPr>
        <p:txBody>
          <a:bodyPr wrap="square" rtlCol="0" anchor="ctr"/>
          <a:lstStyle/>
          <a:p>
            <a:pPr algn="ctr" indent="0" marL="0">
              <a:buNone/>
            </a:pPr>
            <a:r>
              <a:rPr lang="en-US" sz="1350" b="1" dirty="0">
                <a:solidFill>
                  <a:srgbClr val="FFFFFF"/>
                </a:solidFill>
                <a:latin typeface="GT America" pitchFamily="34" charset="0"/>
                <a:ea typeface="GT America" pitchFamily="34" charset="-122"/>
                <a:cs typeface="GT America" pitchFamily="34" charset="-120"/>
              </a:rPr>
              <a:t>4</a:t>
            </a:r>
            <a:endParaRPr lang="en-US" sz="1350" dirty="0"/>
          </a:p>
        </p:txBody>
      </p:sp>
      <p:sp>
        <p:nvSpPr>
          <p:cNvPr id="37" name="Text 35"/>
          <p:cNvSpPr/>
          <p:nvPr/>
        </p:nvSpPr>
        <p:spPr>
          <a:xfrm>
            <a:off x="7587691" y="4965192"/>
            <a:ext cx="1669694" cy="457200"/>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Consistent messaging</a:t>
            </a:r>
            <a:endParaRPr lang="en-US" sz="1200" dirty="0"/>
          </a:p>
        </p:txBody>
      </p:sp>
      <p:sp>
        <p:nvSpPr>
          <p:cNvPr id="38" name="Text 36"/>
          <p:cNvSpPr/>
          <p:nvPr/>
        </p:nvSpPr>
        <p:spPr>
          <a:xfrm>
            <a:off x="7587691" y="5385816"/>
            <a:ext cx="1669694" cy="621792"/>
          </a:xfrm>
          <a:prstGeom prst="rect">
            <a:avLst/>
          </a:prstGeom>
          <a:noFill/>
          <a:ln/>
        </p:spPr>
        <p:txBody>
          <a:bodyPr wrap="square" rtlCol="0" anchor="ctr"/>
          <a:lstStyle/>
          <a:p>
            <a:pPr indent="0" marL="0">
              <a:lnSpc>
                <a:spcPct val="110000"/>
              </a:lnSpc>
              <a:buNone/>
            </a:pPr>
            <a:r>
              <a:rPr lang="en-US" sz="950" dirty="0">
                <a:solidFill>
                  <a:srgbClr val="5B6472"/>
                </a:solidFill>
                <a:latin typeface="GT America" pitchFamily="34" charset="0"/>
                <a:ea typeface="GT America" pitchFamily="34" charset="-122"/>
                <a:cs typeface="GT America" pitchFamily="34" charset="-120"/>
              </a:rPr>
              <a:t>One value narrative across web, sales, and campaign assets</a:t>
            </a:r>
            <a:endParaRPr lang="en-US" sz="950" dirty="0"/>
          </a:p>
        </p:txBody>
      </p:sp>
      <p:sp>
        <p:nvSpPr>
          <p:cNvPr id="39" name="Shape 37"/>
          <p:cNvSpPr/>
          <p:nvPr/>
        </p:nvSpPr>
        <p:spPr>
          <a:xfrm>
            <a:off x="9769450" y="4343400"/>
            <a:ext cx="1962302" cy="1691640"/>
          </a:xfrm>
          <a:prstGeom prst="roundRect">
            <a:avLst>
              <a:gd name="adj" fmla="val 432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0" name="Shape 38"/>
          <p:cNvSpPr/>
          <p:nvPr/>
        </p:nvSpPr>
        <p:spPr>
          <a:xfrm>
            <a:off x="9952330" y="4526280"/>
            <a:ext cx="329184" cy="329184"/>
          </a:xfrm>
          <a:prstGeom prst="ellipse">
            <a:avLst/>
          </a:prstGeom>
          <a:solidFill>
            <a:srgbClr val="0057E7"/>
          </a:solidFill>
          <a:ln/>
        </p:spPr>
      </p:sp>
      <p:sp>
        <p:nvSpPr>
          <p:cNvPr id="41" name="Text 39"/>
          <p:cNvSpPr/>
          <p:nvPr/>
        </p:nvSpPr>
        <p:spPr>
          <a:xfrm>
            <a:off x="9952330" y="4526280"/>
            <a:ext cx="329184" cy="329184"/>
          </a:xfrm>
          <a:prstGeom prst="rect">
            <a:avLst/>
          </a:prstGeom>
          <a:noFill/>
          <a:ln/>
        </p:spPr>
        <p:txBody>
          <a:bodyPr wrap="square" rtlCol="0" anchor="ctr"/>
          <a:lstStyle/>
          <a:p>
            <a:pPr algn="ctr" indent="0" marL="0">
              <a:buNone/>
            </a:pPr>
            <a:r>
              <a:rPr lang="en-US" sz="1350" b="1" dirty="0">
                <a:solidFill>
                  <a:srgbClr val="FFFFFF"/>
                </a:solidFill>
                <a:latin typeface="GT America" pitchFamily="34" charset="0"/>
                <a:ea typeface="GT America" pitchFamily="34" charset="-122"/>
                <a:cs typeface="GT America" pitchFamily="34" charset="-120"/>
              </a:rPr>
              <a:t>5</a:t>
            </a:r>
            <a:endParaRPr lang="en-US" sz="1350" dirty="0"/>
          </a:p>
        </p:txBody>
      </p:sp>
      <p:sp>
        <p:nvSpPr>
          <p:cNvPr id="42" name="Text 40"/>
          <p:cNvSpPr/>
          <p:nvPr/>
        </p:nvSpPr>
        <p:spPr>
          <a:xfrm>
            <a:off x="9915754" y="4965192"/>
            <a:ext cx="1669694" cy="457200"/>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Support for new capabilities</a:t>
            </a:r>
            <a:endParaRPr lang="en-US" sz="1200" dirty="0"/>
          </a:p>
        </p:txBody>
      </p:sp>
      <p:sp>
        <p:nvSpPr>
          <p:cNvPr id="43" name="Text 41"/>
          <p:cNvSpPr/>
          <p:nvPr/>
        </p:nvSpPr>
        <p:spPr>
          <a:xfrm>
            <a:off x="9915754" y="5385816"/>
            <a:ext cx="1669694" cy="621792"/>
          </a:xfrm>
          <a:prstGeom prst="rect">
            <a:avLst/>
          </a:prstGeom>
          <a:noFill/>
          <a:ln/>
        </p:spPr>
        <p:txBody>
          <a:bodyPr wrap="square" rtlCol="0" anchor="ctr"/>
          <a:lstStyle/>
          <a:p>
            <a:pPr indent="0" marL="0">
              <a:lnSpc>
                <a:spcPct val="110000"/>
              </a:lnSpc>
              <a:buNone/>
            </a:pPr>
            <a:r>
              <a:rPr lang="en-US" sz="950" dirty="0">
                <a:solidFill>
                  <a:srgbClr val="5B6472"/>
                </a:solidFill>
                <a:latin typeface="GT America" pitchFamily="34" charset="0"/>
                <a:ea typeface="GT America" pitchFamily="34" charset="-122"/>
                <a:cs typeface="GT America" pitchFamily="34" charset="-120"/>
              </a:rPr>
              <a:t>Room to introduce AI modules and asset-class offerings coherently</a:t>
            </a:r>
            <a:endParaRPr lang="en-US" sz="950" dirty="0"/>
          </a:p>
        </p:txBody>
      </p:sp>
      <p:sp>
        <p:nvSpPr>
          <p:cNvPr id="44" name="Text 42"/>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BUSINESS CONTEXT</a:t>
            </a:r>
            <a:endParaRPr lang="en-US" sz="900" dirty="0"/>
          </a:p>
        </p:txBody>
      </p:sp>
      <p:sp>
        <p:nvSpPr>
          <p:cNvPr id="45" name="Text 43"/>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2 / 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THE MARKETING CHALLENGE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Six Forces Shaping the GTM Problem</a:t>
            </a:r>
            <a:endParaRPr lang="en-US" sz="2800" dirty="0"/>
          </a:p>
        </p:txBody>
      </p:sp>
      <p:sp>
        <p:nvSpPr>
          <p:cNvPr id="4" name="Shape 2"/>
          <p:cNvSpPr/>
          <p:nvPr/>
        </p:nvSpPr>
        <p:spPr>
          <a:xfrm>
            <a:off x="5227168" y="1463040"/>
            <a:ext cx="1737360" cy="1737360"/>
          </a:xfrm>
          <a:prstGeom prst="ellipse">
            <a:avLst/>
          </a:prstGeom>
          <a:solidFill>
            <a:srgbClr val="0A1264"/>
          </a:solidFill>
          <a:ln/>
        </p:spPr>
      </p:sp>
      <p:sp>
        <p:nvSpPr>
          <p:cNvPr id="5" name="Text 3"/>
          <p:cNvSpPr/>
          <p:nvPr/>
        </p:nvSpPr>
        <p:spPr>
          <a:xfrm>
            <a:off x="5227168" y="1463040"/>
            <a:ext cx="1737360" cy="1737360"/>
          </a:xfrm>
          <a:prstGeom prst="rect">
            <a:avLst/>
          </a:prstGeom>
          <a:noFill/>
          <a:ln/>
        </p:spPr>
        <p:txBody>
          <a:bodyPr wrap="square" rtlCol="0" anchor="ctr"/>
          <a:lstStyle/>
          <a:p>
            <a:pPr algn="ctr" indent="0" marL="0">
              <a:lnSpc>
                <a:spcPct val="110000"/>
              </a:lnSpc>
              <a:buNone/>
            </a:pPr>
            <a:r>
              <a:rPr lang="en-US" sz="1400" b="1" spc="50" kern="0" dirty="0">
                <a:solidFill>
                  <a:srgbClr val="FFFFFF"/>
                </a:solidFill>
                <a:latin typeface="GT America" pitchFamily="34" charset="0"/>
                <a:ea typeface="GT America" pitchFamily="34" charset="-122"/>
                <a:cs typeface="GT America" pitchFamily="34" charset="-120"/>
              </a:rPr>
              <a:t>GTM</a:t>
            </a:r>
            <a:endParaRPr lang="en-US" sz="1400" dirty="0"/>
          </a:p>
          <a:p>
            <a:pPr algn="ctr" indent="0" marL="0">
              <a:lnSpc>
                <a:spcPct val="110000"/>
              </a:lnSpc>
              <a:buNone/>
            </a:pPr>
            <a:r>
              <a:rPr lang="en-US" sz="1400" b="1" spc="50" kern="0" dirty="0">
                <a:solidFill>
                  <a:srgbClr val="FFFFFF"/>
                </a:solidFill>
                <a:latin typeface="GT America" pitchFamily="34" charset="0"/>
                <a:ea typeface="GT America" pitchFamily="34" charset="-122"/>
                <a:cs typeface="GT America" pitchFamily="34" charset="-120"/>
              </a:rPr>
              <a:t>COMPLEXITY</a:t>
            </a:r>
            <a:endParaRPr lang="en-US" sz="1400" dirty="0"/>
          </a:p>
        </p:txBody>
      </p:sp>
      <p:sp>
        <p:nvSpPr>
          <p:cNvPr id="6" name="Shape 4"/>
          <p:cNvSpPr/>
          <p:nvPr/>
        </p:nvSpPr>
        <p:spPr>
          <a:xfrm>
            <a:off x="457200" y="3429000"/>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7" name="Shape 5"/>
          <p:cNvSpPr/>
          <p:nvPr/>
        </p:nvSpPr>
        <p:spPr>
          <a:xfrm>
            <a:off x="640080" y="3593592"/>
            <a:ext cx="292608" cy="292608"/>
          </a:xfrm>
          <a:prstGeom prst="ellipse">
            <a:avLst/>
          </a:prstGeom>
          <a:solidFill>
            <a:srgbClr val="0057E7"/>
          </a:solidFill>
          <a:ln/>
        </p:spPr>
      </p:sp>
      <p:sp>
        <p:nvSpPr>
          <p:cNvPr id="8" name="Text 6"/>
          <p:cNvSpPr/>
          <p:nvPr/>
        </p:nvSpPr>
        <p:spPr>
          <a:xfrm>
            <a:off x="640080" y="3593592"/>
            <a:ext cx="292608" cy="292608"/>
          </a:xfrm>
          <a:prstGeom prst="rect">
            <a:avLst/>
          </a:prstGeom>
          <a:noFill/>
          <a:ln/>
        </p:spPr>
        <p:txBody>
          <a:bodyPr wrap="square" rtlCol="0" anchor="ctr"/>
          <a:lstStyle/>
          <a:p>
            <a:pPr algn="ctr" indent="0" marL="0">
              <a:buNone/>
            </a:pPr>
            <a:endParaRPr lang="en-US" sz="1200" dirty="0"/>
          </a:p>
        </p:txBody>
      </p:sp>
      <p:sp>
        <p:nvSpPr>
          <p:cNvPr id="9" name="Text 7"/>
          <p:cNvSpPr/>
          <p:nvPr/>
        </p:nvSpPr>
        <p:spPr>
          <a:xfrm>
            <a:off x="640080" y="3593592"/>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1</a:t>
            </a:r>
            <a:endParaRPr lang="en-US" sz="1200" dirty="0"/>
          </a:p>
        </p:txBody>
      </p:sp>
      <p:sp>
        <p:nvSpPr>
          <p:cNvPr id="10" name="Text 8"/>
          <p:cNvSpPr/>
          <p:nvPr/>
        </p:nvSpPr>
        <p:spPr>
          <a:xfrm>
            <a:off x="1042416" y="3547872"/>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Portfolio complexity</a:t>
            </a:r>
            <a:endParaRPr lang="en-US" sz="1200" dirty="0"/>
          </a:p>
        </p:txBody>
      </p:sp>
      <p:sp>
        <p:nvSpPr>
          <p:cNvPr id="11" name="Text 9"/>
          <p:cNvSpPr/>
          <p:nvPr/>
        </p:nvSpPr>
        <p:spPr>
          <a:xfrm>
            <a:off x="640080" y="3995928"/>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across multiple products and packages</a:t>
            </a:r>
            <a:endParaRPr lang="en-US" sz="1000" dirty="0"/>
          </a:p>
        </p:txBody>
      </p:sp>
      <p:sp>
        <p:nvSpPr>
          <p:cNvPr id="12" name="Shape 10"/>
          <p:cNvSpPr/>
          <p:nvPr/>
        </p:nvSpPr>
        <p:spPr>
          <a:xfrm>
            <a:off x="2080260" y="3200400"/>
            <a:ext cx="4015588" cy="228600"/>
          </a:xfrm>
          <a:prstGeom prst="line">
            <a:avLst/>
          </a:prstGeom>
          <a:noFill/>
          <a:ln w="12700">
            <a:solidFill>
              <a:srgbClr val="DCE1EC"/>
            </a:solidFill>
            <a:prstDash val="solid"/>
          </a:ln>
        </p:spPr>
      </p:sp>
      <p:sp>
        <p:nvSpPr>
          <p:cNvPr id="13" name="Shape 11"/>
          <p:cNvSpPr/>
          <p:nvPr/>
        </p:nvSpPr>
        <p:spPr>
          <a:xfrm>
            <a:off x="3959352" y="3429000"/>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4" name="Shape 12"/>
          <p:cNvSpPr/>
          <p:nvPr/>
        </p:nvSpPr>
        <p:spPr>
          <a:xfrm>
            <a:off x="4142232" y="3593592"/>
            <a:ext cx="292608" cy="292608"/>
          </a:xfrm>
          <a:prstGeom prst="ellipse">
            <a:avLst/>
          </a:prstGeom>
          <a:solidFill>
            <a:srgbClr val="0057E7"/>
          </a:solidFill>
          <a:ln/>
        </p:spPr>
      </p:sp>
      <p:sp>
        <p:nvSpPr>
          <p:cNvPr id="15" name="Text 13"/>
          <p:cNvSpPr/>
          <p:nvPr/>
        </p:nvSpPr>
        <p:spPr>
          <a:xfrm>
            <a:off x="4142232" y="3593592"/>
            <a:ext cx="292608" cy="292608"/>
          </a:xfrm>
          <a:prstGeom prst="rect">
            <a:avLst/>
          </a:prstGeom>
          <a:noFill/>
          <a:ln/>
        </p:spPr>
        <p:txBody>
          <a:bodyPr wrap="square" rtlCol="0" anchor="ctr"/>
          <a:lstStyle/>
          <a:p>
            <a:pPr algn="ctr" indent="0" marL="0">
              <a:buNone/>
            </a:pPr>
            <a:endParaRPr lang="en-US" sz="1200" dirty="0"/>
          </a:p>
        </p:txBody>
      </p:sp>
      <p:sp>
        <p:nvSpPr>
          <p:cNvPr id="16" name="Text 14"/>
          <p:cNvSpPr/>
          <p:nvPr/>
        </p:nvSpPr>
        <p:spPr>
          <a:xfrm>
            <a:off x="4142232" y="3593592"/>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2</a:t>
            </a:r>
            <a:endParaRPr lang="en-US" sz="1200" dirty="0"/>
          </a:p>
        </p:txBody>
      </p:sp>
      <p:sp>
        <p:nvSpPr>
          <p:cNvPr id="17" name="Text 15"/>
          <p:cNvSpPr/>
          <p:nvPr/>
        </p:nvSpPr>
        <p:spPr>
          <a:xfrm>
            <a:off x="4544568" y="3547872"/>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Customer understanding</a:t>
            </a:r>
            <a:endParaRPr lang="en-US" sz="1200" dirty="0"/>
          </a:p>
        </p:txBody>
      </p:sp>
      <p:sp>
        <p:nvSpPr>
          <p:cNvPr id="18" name="Text 16"/>
          <p:cNvSpPr/>
          <p:nvPr/>
        </p:nvSpPr>
        <p:spPr>
          <a:xfrm>
            <a:off x="4142232" y="3995928"/>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varying by role, workflow, and region</a:t>
            </a:r>
            <a:endParaRPr lang="en-US" sz="1000" dirty="0"/>
          </a:p>
        </p:txBody>
      </p:sp>
      <p:sp>
        <p:nvSpPr>
          <p:cNvPr id="19" name="Shape 17"/>
          <p:cNvSpPr/>
          <p:nvPr/>
        </p:nvSpPr>
        <p:spPr>
          <a:xfrm>
            <a:off x="5582412" y="3200400"/>
            <a:ext cx="513436" cy="228600"/>
          </a:xfrm>
          <a:prstGeom prst="line">
            <a:avLst/>
          </a:prstGeom>
          <a:noFill/>
          <a:ln w="12700">
            <a:solidFill>
              <a:srgbClr val="DCE1EC"/>
            </a:solidFill>
            <a:prstDash val="solid"/>
          </a:ln>
        </p:spPr>
      </p:sp>
      <p:sp>
        <p:nvSpPr>
          <p:cNvPr id="20" name="Shape 18"/>
          <p:cNvSpPr/>
          <p:nvPr/>
        </p:nvSpPr>
        <p:spPr>
          <a:xfrm>
            <a:off x="7461504" y="3429000"/>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1" name="Shape 19"/>
          <p:cNvSpPr/>
          <p:nvPr/>
        </p:nvSpPr>
        <p:spPr>
          <a:xfrm>
            <a:off x="7644384" y="3593592"/>
            <a:ext cx="292608" cy="292608"/>
          </a:xfrm>
          <a:prstGeom prst="ellipse">
            <a:avLst/>
          </a:prstGeom>
          <a:solidFill>
            <a:srgbClr val="0057E7"/>
          </a:solidFill>
          <a:ln/>
        </p:spPr>
      </p:sp>
      <p:sp>
        <p:nvSpPr>
          <p:cNvPr id="22" name="Text 20"/>
          <p:cNvSpPr/>
          <p:nvPr/>
        </p:nvSpPr>
        <p:spPr>
          <a:xfrm>
            <a:off x="7644384" y="3593592"/>
            <a:ext cx="292608" cy="292608"/>
          </a:xfrm>
          <a:prstGeom prst="rect">
            <a:avLst/>
          </a:prstGeom>
          <a:noFill/>
          <a:ln/>
        </p:spPr>
        <p:txBody>
          <a:bodyPr wrap="square" rtlCol="0" anchor="ctr"/>
          <a:lstStyle/>
          <a:p>
            <a:pPr algn="ctr" indent="0" marL="0">
              <a:buNone/>
            </a:pPr>
            <a:endParaRPr lang="en-US" sz="1200" dirty="0"/>
          </a:p>
        </p:txBody>
      </p:sp>
      <p:sp>
        <p:nvSpPr>
          <p:cNvPr id="23" name="Text 21"/>
          <p:cNvSpPr/>
          <p:nvPr/>
        </p:nvSpPr>
        <p:spPr>
          <a:xfrm>
            <a:off x="7644384" y="3593592"/>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3</a:t>
            </a:r>
            <a:endParaRPr lang="en-US" sz="1200" dirty="0"/>
          </a:p>
        </p:txBody>
      </p:sp>
      <p:sp>
        <p:nvSpPr>
          <p:cNvPr id="24" name="Text 22"/>
          <p:cNvSpPr/>
          <p:nvPr/>
        </p:nvSpPr>
        <p:spPr>
          <a:xfrm>
            <a:off x="8046720" y="3547872"/>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Feature-to-value translation</a:t>
            </a:r>
            <a:endParaRPr lang="en-US" sz="1200" dirty="0"/>
          </a:p>
        </p:txBody>
      </p:sp>
      <p:sp>
        <p:nvSpPr>
          <p:cNvPr id="25" name="Text 23"/>
          <p:cNvSpPr/>
          <p:nvPr/>
        </p:nvSpPr>
        <p:spPr>
          <a:xfrm>
            <a:off x="7644384" y="3995928"/>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moving beyond technical capability lists</a:t>
            </a:r>
            <a:endParaRPr lang="en-US" sz="1000" dirty="0"/>
          </a:p>
        </p:txBody>
      </p:sp>
      <p:sp>
        <p:nvSpPr>
          <p:cNvPr id="26" name="Shape 24"/>
          <p:cNvSpPr/>
          <p:nvPr/>
        </p:nvSpPr>
        <p:spPr>
          <a:xfrm>
            <a:off x="6095848" y="3200400"/>
            <a:ext cx="2988716" cy="228600"/>
          </a:xfrm>
          <a:prstGeom prst="line">
            <a:avLst/>
          </a:prstGeom>
          <a:noFill/>
          <a:ln w="12700">
            <a:solidFill>
              <a:srgbClr val="DCE1EC"/>
            </a:solidFill>
            <a:prstDash val="solid"/>
          </a:ln>
        </p:spPr>
      </p:sp>
      <p:sp>
        <p:nvSpPr>
          <p:cNvPr id="27" name="Shape 25"/>
          <p:cNvSpPr/>
          <p:nvPr/>
        </p:nvSpPr>
        <p:spPr>
          <a:xfrm>
            <a:off x="457200" y="4910328"/>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8" name="Shape 26"/>
          <p:cNvSpPr/>
          <p:nvPr/>
        </p:nvSpPr>
        <p:spPr>
          <a:xfrm>
            <a:off x="640080" y="5074920"/>
            <a:ext cx="292608" cy="292608"/>
          </a:xfrm>
          <a:prstGeom prst="ellipse">
            <a:avLst/>
          </a:prstGeom>
          <a:solidFill>
            <a:srgbClr val="0057E7"/>
          </a:solidFill>
          <a:ln/>
        </p:spPr>
      </p:sp>
      <p:sp>
        <p:nvSpPr>
          <p:cNvPr id="29" name="Text 27"/>
          <p:cNvSpPr/>
          <p:nvPr/>
        </p:nvSpPr>
        <p:spPr>
          <a:xfrm>
            <a:off x="640080" y="5074920"/>
            <a:ext cx="292608" cy="292608"/>
          </a:xfrm>
          <a:prstGeom prst="rect">
            <a:avLst/>
          </a:prstGeom>
          <a:noFill/>
          <a:ln/>
        </p:spPr>
        <p:txBody>
          <a:bodyPr wrap="square" rtlCol="0" anchor="ctr"/>
          <a:lstStyle/>
          <a:p>
            <a:pPr algn="ctr" indent="0" marL="0">
              <a:buNone/>
            </a:pPr>
            <a:endParaRPr lang="en-US" sz="1200" dirty="0"/>
          </a:p>
        </p:txBody>
      </p:sp>
      <p:sp>
        <p:nvSpPr>
          <p:cNvPr id="30" name="Text 28"/>
          <p:cNvSpPr/>
          <p:nvPr/>
        </p:nvSpPr>
        <p:spPr>
          <a:xfrm>
            <a:off x="640080" y="5074920"/>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4</a:t>
            </a:r>
            <a:endParaRPr lang="en-US" sz="1200" dirty="0"/>
          </a:p>
        </p:txBody>
      </p:sp>
      <p:sp>
        <p:nvSpPr>
          <p:cNvPr id="31" name="Text 29"/>
          <p:cNvSpPr/>
          <p:nvPr/>
        </p:nvSpPr>
        <p:spPr>
          <a:xfrm>
            <a:off x="1042416" y="5029200"/>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Multiple buyer personas</a:t>
            </a:r>
            <a:endParaRPr lang="en-US" sz="1200" dirty="0"/>
          </a:p>
        </p:txBody>
      </p:sp>
      <p:sp>
        <p:nvSpPr>
          <p:cNvPr id="32" name="Text 30"/>
          <p:cNvSpPr/>
          <p:nvPr/>
        </p:nvSpPr>
        <p:spPr>
          <a:xfrm>
            <a:off x="640080" y="5477256"/>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credit, risk, ops, and relationship roles</a:t>
            </a:r>
            <a:endParaRPr lang="en-US" sz="1000" dirty="0"/>
          </a:p>
        </p:txBody>
      </p:sp>
      <p:sp>
        <p:nvSpPr>
          <p:cNvPr id="33" name="Shape 31"/>
          <p:cNvSpPr/>
          <p:nvPr/>
        </p:nvSpPr>
        <p:spPr>
          <a:xfrm>
            <a:off x="3959352" y="4910328"/>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4" name="Shape 32"/>
          <p:cNvSpPr/>
          <p:nvPr/>
        </p:nvSpPr>
        <p:spPr>
          <a:xfrm>
            <a:off x="4142232" y="5074920"/>
            <a:ext cx="292608" cy="292608"/>
          </a:xfrm>
          <a:prstGeom prst="ellipse">
            <a:avLst/>
          </a:prstGeom>
          <a:solidFill>
            <a:srgbClr val="0057E7"/>
          </a:solidFill>
          <a:ln/>
        </p:spPr>
      </p:sp>
      <p:sp>
        <p:nvSpPr>
          <p:cNvPr id="35" name="Text 33"/>
          <p:cNvSpPr/>
          <p:nvPr/>
        </p:nvSpPr>
        <p:spPr>
          <a:xfrm>
            <a:off x="4142232" y="5074920"/>
            <a:ext cx="292608" cy="292608"/>
          </a:xfrm>
          <a:prstGeom prst="rect">
            <a:avLst/>
          </a:prstGeom>
          <a:noFill/>
          <a:ln/>
        </p:spPr>
        <p:txBody>
          <a:bodyPr wrap="square" rtlCol="0" anchor="ctr"/>
          <a:lstStyle/>
          <a:p>
            <a:pPr algn="ctr" indent="0" marL="0">
              <a:buNone/>
            </a:pPr>
            <a:endParaRPr lang="en-US" sz="1200" dirty="0"/>
          </a:p>
        </p:txBody>
      </p:sp>
      <p:sp>
        <p:nvSpPr>
          <p:cNvPr id="36" name="Text 34"/>
          <p:cNvSpPr/>
          <p:nvPr/>
        </p:nvSpPr>
        <p:spPr>
          <a:xfrm>
            <a:off x="4142232" y="5074920"/>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5</a:t>
            </a:r>
            <a:endParaRPr lang="en-US" sz="1200" dirty="0"/>
          </a:p>
        </p:txBody>
      </p:sp>
      <p:sp>
        <p:nvSpPr>
          <p:cNvPr id="37" name="Text 35"/>
          <p:cNvSpPr/>
          <p:nvPr/>
        </p:nvSpPr>
        <p:spPr>
          <a:xfrm>
            <a:off x="4544568" y="5029200"/>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Regional market needs</a:t>
            </a:r>
            <a:endParaRPr lang="en-US" sz="1200" dirty="0"/>
          </a:p>
        </p:txBody>
      </p:sp>
      <p:sp>
        <p:nvSpPr>
          <p:cNvPr id="38" name="Text 36"/>
          <p:cNvSpPr/>
          <p:nvPr/>
        </p:nvSpPr>
        <p:spPr>
          <a:xfrm>
            <a:off x="4142232" y="5477256"/>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US, EMEA, and APAC differences</a:t>
            </a:r>
            <a:endParaRPr lang="en-US" sz="1000" dirty="0"/>
          </a:p>
        </p:txBody>
      </p:sp>
      <p:sp>
        <p:nvSpPr>
          <p:cNvPr id="39" name="Shape 37"/>
          <p:cNvSpPr/>
          <p:nvPr/>
        </p:nvSpPr>
        <p:spPr>
          <a:xfrm>
            <a:off x="7461504" y="4910328"/>
            <a:ext cx="3246120" cy="1298448"/>
          </a:xfrm>
          <a:prstGeom prst="roundRect">
            <a:avLst>
              <a:gd name="adj" fmla="val 563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0" name="Shape 38"/>
          <p:cNvSpPr/>
          <p:nvPr/>
        </p:nvSpPr>
        <p:spPr>
          <a:xfrm>
            <a:off x="7644384" y="5074920"/>
            <a:ext cx="292608" cy="292608"/>
          </a:xfrm>
          <a:prstGeom prst="ellipse">
            <a:avLst/>
          </a:prstGeom>
          <a:solidFill>
            <a:srgbClr val="0057E7"/>
          </a:solidFill>
          <a:ln/>
        </p:spPr>
      </p:sp>
      <p:sp>
        <p:nvSpPr>
          <p:cNvPr id="41" name="Text 39"/>
          <p:cNvSpPr/>
          <p:nvPr/>
        </p:nvSpPr>
        <p:spPr>
          <a:xfrm>
            <a:off x="7644384" y="5074920"/>
            <a:ext cx="292608" cy="292608"/>
          </a:xfrm>
          <a:prstGeom prst="rect">
            <a:avLst/>
          </a:prstGeom>
          <a:noFill/>
          <a:ln/>
        </p:spPr>
        <p:txBody>
          <a:bodyPr wrap="square" rtlCol="0" anchor="ctr"/>
          <a:lstStyle/>
          <a:p>
            <a:pPr algn="ctr" indent="0" marL="0">
              <a:buNone/>
            </a:pPr>
            <a:endParaRPr lang="en-US" sz="1200" dirty="0"/>
          </a:p>
        </p:txBody>
      </p:sp>
      <p:sp>
        <p:nvSpPr>
          <p:cNvPr id="42" name="Text 40"/>
          <p:cNvSpPr/>
          <p:nvPr/>
        </p:nvSpPr>
        <p:spPr>
          <a:xfrm>
            <a:off x="7644384" y="5074920"/>
            <a:ext cx="292608" cy="292608"/>
          </a:xfrm>
          <a:prstGeom prst="rect">
            <a:avLst/>
          </a:prstGeom>
          <a:noFill/>
          <a:ln/>
        </p:spPr>
        <p:txBody>
          <a:bodyPr wrap="square" rtlCol="0" anchor="ctr"/>
          <a:lstStyle/>
          <a:p>
            <a:pPr algn="ctr" indent="0" marL="0">
              <a:buNone/>
            </a:pPr>
            <a:r>
              <a:rPr lang="en-US" sz="1200" b="1" dirty="0">
                <a:solidFill>
                  <a:srgbClr val="FFFFFF"/>
                </a:solidFill>
                <a:latin typeface="GT America" pitchFamily="34" charset="0"/>
                <a:ea typeface="GT America" pitchFamily="34" charset="-122"/>
                <a:cs typeface="GT America" pitchFamily="34" charset="-120"/>
              </a:rPr>
              <a:t>6</a:t>
            </a:r>
            <a:endParaRPr lang="en-US" sz="1200" dirty="0"/>
          </a:p>
        </p:txBody>
      </p:sp>
      <p:sp>
        <p:nvSpPr>
          <p:cNvPr id="43" name="Text 41"/>
          <p:cNvSpPr/>
          <p:nvPr/>
        </p:nvSpPr>
        <p:spPr>
          <a:xfrm>
            <a:off x="8046720" y="5029200"/>
            <a:ext cx="2496312" cy="384048"/>
          </a:xfrm>
          <a:prstGeom prst="rect">
            <a:avLst/>
          </a:prstGeom>
          <a:noFill/>
          <a:ln/>
        </p:spPr>
        <p:txBody>
          <a:bodyPr wrap="square" rtlCol="0" anchor="ctr"/>
          <a:lstStyle/>
          <a:p>
            <a:pPr indent="0" marL="0">
              <a:lnSpc>
                <a:spcPct val="105000"/>
              </a:lnSpc>
              <a:buNone/>
            </a:pPr>
            <a:r>
              <a:rPr lang="en-US" sz="1200" b="1" dirty="0">
                <a:solidFill>
                  <a:srgbClr val="0A1264"/>
                </a:solidFill>
                <a:latin typeface="GT America" pitchFamily="34" charset="0"/>
                <a:ea typeface="GT America" pitchFamily="34" charset="-122"/>
                <a:cs typeface="GT America" pitchFamily="34" charset="-120"/>
              </a:rPr>
              <a:t>Sales &amp; marketing alignment</a:t>
            </a:r>
            <a:endParaRPr lang="en-US" sz="1200" dirty="0"/>
          </a:p>
        </p:txBody>
      </p:sp>
      <p:sp>
        <p:nvSpPr>
          <p:cNvPr id="44" name="Text 42"/>
          <p:cNvSpPr/>
          <p:nvPr/>
        </p:nvSpPr>
        <p:spPr>
          <a:xfrm>
            <a:off x="7644384" y="5477256"/>
            <a:ext cx="2880360" cy="640080"/>
          </a:xfrm>
          <a:prstGeom prst="rect">
            <a:avLst/>
          </a:prstGeom>
          <a:noFill/>
          <a:ln/>
        </p:spPr>
        <p:txBody>
          <a:bodyPr wrap="square" rtlCol="0" anchor="ctr"/>
          <a:lstStyle/>
          <a:p>
            <a:pPr indent="0" marL="0">
              <a:lnSpc>
                <a:spcPct val="112000"/>
              </a:lnSpc>
              <a:buNone/>
            </a:pPr>
            <a:r>
              <a:rPr lang="en-US" sz="1000" dirty="0">
                <a:solidFill>
                  <a:srgbClr val="5B6472"/>
                </a:solidFill>
                <a:latin typeface="GT America" pitchFamily="34" charset="0"/>
                <a:ea typeface="GT America" pitchFamily="34" charset="-122"/>
                <a:cs typeface="GT America" pitchFamily="34" charset="-120"/>
              </a:rPr>
              <a:t>shared context and consistent messaging</a:t>
            </a:r>
            <a:endParaRPr lang="en-US" sz="1000" dirty="0"/>
          </a:p>
        </p:txBody>
      </p:sp>
      <p:sp>
        <p:nvSpPr>
          <p:cNvPr id="45" name="Text 4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THE MARKETING CHALLENGE</a:t>
            </a:r>
            <a:endParaRPr lang="en-US" sz="900" dirty="0"/>
          </a:p>
        </p:txBody>
      </p:sp>
      <p:sp>
        <p:nvSpPr>
          <p:cNvPr id="46" name="Text 4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3 / 23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PORTFOLIO EVOLUTION</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Lending Suite Architecture</a:t>
            </a:r>
            <a:endParaRPr lang="en-US" sz="2800" dirty="0"/>
          </a:p>
        </p:txBody>
      </p:sp>
      <p:sp>
        <p:nvSpPr>
          <p:cNvPr id="4" name="Text 2"/>
          <p:cNvSpPr/>
          <p:nvPr/>
        </p:nvSpPr>
        <p:spPr>
          <a:xfrm>
            <a:off x="457200" y="1444752"/>
            <a:ext cx="73152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Reflects Moody’s published Lending Suite architecture.</a:t>
            </a:r>
            <a:endParaRPr lang="en-US" sz="1000" dirty="0"/>
          </a:p>
        </p:txBody>
      </p:sp>
      <p:sp>
        <p:nvSpPr>
          <p:cNvPr id="5" name="Shape 3"/>
          <p:cNvSpPr/>
          <p:nvPr/>
        </p:nvSpPr>
        <p:spPr>
          <a:xfrm>
            <a:off x="4724248" y="1737360"/>
            <a:ext cx="2743200" cy="457200"/>
          </a:xfrm>
          <a:prstGeom prst="roundRect">
            <a:avLst>
              <a:gd name="adj" fmla="val 16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6" name="Text 4"/>
          <p:cNvSpPr/>
          <p:nvPr/>
        </p:nvSpPr>
        <p:spPr>
          <a:xfrm>
            <a:off x="4724248" y="1737360"/>
            <a:ext cx="2743200" cy="457200"/>
          </a:xfrm>
          <a:prstGeom prst="rect">
            <a:avLst/>
          </a:prstGeom>
          <a:noFill/>
          <a:ln/>
        </p:spPr>
        <p:txBody>
          <a:bodyPr wrap="square" rtlCol="0" anchor="ctr"/>
          <a:lstStyle/>
          <a:p>
            <a:pPr algn="ctr" indent="0" marL="0">
              <a:buNone/>
            </a:pPr>
            <a:r>
              <a:rPr lang="en-US" sz="1150" b="1" spc="50" kern="0" dirty="0">
                <a:solidFill>
                  <a:srgbClr val="FFFFFF"/>
                </a:solidFill>
                <a:latin typeface="GT America" pitchFamily="34" charset="0"/>
                <a:ea typeface="GT America" pitchFamily="34" charset="-122"/>
                <a:cs typeface="GT America" pitchFamily="34" charset="-120"/>
              </a:rPr>
              <a:t>MOODY’S LENDING SUITE</a:t>
            </a:r>
            <a:endParaRPr lang="en-US" sz="1150" dirty="0"/>
          </a:p>
        </p:txBody>
      </p:sp>
      <p:sp>
        <p:nvSpPr>
          <p:cNvPr id="7" name="Shape 5"/>
          <p:cNvSpPr/>
          <p:nvPr/>
        </p:nvSpPr>
        <p:spPr>
          <a:xfrm>
            <a:off x="457200" y="2450592"/>
            <a:ext cx="2331720" cy="384048"/>
          </a:xfrm>
          <a:prstGeom prst="roundRect">
            <a:avLst>
              <a:gd name="adj" fmla="val 19048"/>
            </a:avLst>
          </a:prstGeom>
          <a:solidFill>
            <a:srgbClr val="2E4DA6"/>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8" name="Text 6"/>
          <p:cNvSpPr/>
          <p:nvPr/>
        </p:nvSpPr>
        <p:spPr>
          <a:xfrm>
            <a:off x="457200" y="2450592"/>
            <a:ext cx="2331720" cy="384048"/>
          </a:xfrm>
          <a:prstGeom prst="rect">
            <a:avLst/>
          </a:prstGeom>
          <a:noFill/>
          <a:ln/>
        </p:spPr>
        <p:txBody>
          <a:bodyPr wrap="square" rtlCol="0" anchor="ctr"/>
          <a:lstStyle/>
          <a:p>
            <a:pPr algn="ctr" indent="0" marL="0">
              <a:buNone/>
            </a:pPr>
            <a:r>
              <a:rPr lang="en-US" sz="1000" b="1" spc="60" kern="0" dirty="0">
                <a:solidFill>
                  <a:srgbClr val="FFFFFF"/>
                </a:solidFill>
                <a:latin typeface="GT America" pitchFamily="34" charset="0"/>
                <a:ea typeface="GT America" pitchFamily="34" charset="-122"/>
                <a:cs typeface="GT America" pitchFamily="34" charset="-120"/>
              </a:rPr>
              <a:t>BORROWER ENGAGEMENT</a:t>
            </a:r>
            <a:endParaRPr lang="en-US" sz="1000" dirty="0"/>
          </a:p>
        </p:txBody>
      </p:sp>
      <p:sp>
        <p:nvSpPr>
          <p:cNvPr id="9" name="Shape 7"/>
          <p:cNvSpPr/>
          <p:nvPr/>
        </p:nvSpPr>
        <p:spPr>
          <a:xfrm>
            <a:off x="1623060" y="2194560"/>
            <a:ext cx="4472788" cy="182880"/>
          </a:xfrm>
          <a:prstGeom prst="line">
            <a:avLst/>
          </a:prstGeom>
          <a:noFill/>
          <a:ln w="12700">
            <a:solidFill>
              <a:srgbClr val="DCE1EC"/>
            </a:solidFill>
            <a:prstDash val="solid"/>
          </a:ln>
        </p:spPr>
      </p:sp>
      <p:sp>
        <p:nvSpPr>
          <p:cNvPr id="10" name="Shape 8"/>
          <p:cNvSpPr/>
          <p:nvPr/>
        </p:nvSpPr>
        <p:spPr>
          <a:xfrm>
            <a:off x="1623060" y="2377440"/>
            <a:ext cx="0" cy="73152"/>
          </a:xfrm>
          <a:prstGeom prst="line">
            <a:avLst/>
          </a:prstGeom>
          <a:noFill/>
          <a:ln w="12700">
            <a:solidFill>
              <a:srgbClr val="DCE1EC"/>
            </a:solidFill>
            <a:prstDash val="solid"/>
          </a:ln>
        </p:spPr>
      </p:sp>
      <p:sp>
        <p:nvSpPr>
          <p:cNvPr id="11" name="Shape 9"/>
          <p:cNvSpPr/>
          <p:nvPr/>
        </p:nvSpPr>
        <p:spPr>
          <a:xfrm>
            <a:off x="457200" y="2944368"/>
            <a:ext cx="112014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2" name="Text 10"/>
          <p:cNvSpPr/>
          <p:nvPr/>
        </p:nvSpPr>
        <p:spPr>
          <a:xfrm>
            <a:off x="493776" y="2944368"/>
            <a:ext cx="104698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Screening</a:t>
            </a:r>
            <a:endParaRPr lang="en-US" sz="880" dirty="0"/>
          </a:p>
        </p:txBody>
      </p:sp>
      <p:sp>
        <p:nvSpPr>
          <p:cNvPr id="13" name="Shape 11"/>
          <p:cNvSpPr/>
          <p:nvPr/>
        </p:nvSpPr>
        <p:spPr>
          <a:xfrm>
            <a:off x="1668780" y="2944368"/>
            <a:ext cx="112014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4" name="Text 12"/>
          <p:cNvSpPr/>
          <p:nvPr/>
        </p:nvSpPr>
        <p:spPr>
          <a:xfrm>
            <a:off x="1705356" y="2944368"/>
            <a:ext cx="104698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Borrower</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Onboarding</a:t>
            </a:r>
            <a:endParaRPr lang="en-US" sz="880" dirty="0"/>
          </a:p>
        </p:txBody>
      </p:sp>
      <p:sp>
        <p:nvSpPr>
          <p:cNvPr id="15" name="Shape 13"/>
          <p:cNvSpPr/>
          <p:nvPr/>
        </p:nvSpPr>
        <p:spPr>
          <a:xfrm>
            <a:off x="1623060" y="2834640"/>
            <a:ext cx="0" cy="109728"/>
          </a:xfrm>
          <a:prstGeom prst="line">
            <a:avLst/>
          </a:prstGeom>
          <a:noFill/>
          <a:ln w="12700">
            <a:solidFill>
              <a:srgbClr val="DCE1EC"/>
            </a:solidFill>
            <a:prstDash val="solid"/>
          </a:ln>
        </p:spPr>
      </p:sp>
      <p:sp>
        <p:nvSpPr>
          <p:cNvPr id="16" name="Shape 14"/>
          <p:cNvSpPr/>
          <p:nvPr/>
        </p:nvSpPr>
        <p:spPr>
          <a:xfrm>
            <a:off x="3044952" y="2450592"/>
            <a:ext cx="5074920" cy="384048"/>
          </a:xfrm>
          <a:prstGeom prst="roundRect">
            <a:avLst>
              <a:gd name="adj" fmla="val 19048"/>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3044952" y="2450592"/>
            <a:ext cx="5074920" cy="384048"/>
          </a:xfrm>
          <a:prstGeom prst="rect">
            <a:avLst/>
          </a:prstGeom>
          <a:noFill/>
          <a:ln/>
        </p:spPr>
        <p:txBody>
          <a:bodyPr wrap="square" rtlCol="0" anchor="ctr"/>
          <a:lstStyle/>
          <a:p>
            <a:pPr algn="ctr" indent="0" marL="0">
              <a:buNone/>
            </a:pPr>
            <a:r>
              <a:rPr lang="en-US" sz="1000" b="1" spc="60" kern="0" dirty="0">
                <a:solidFill>
                  <a:srgbClr val="FFFFFF"/>
                </a:solidFill>
                <a:latin typeface="GT America" pitchFamily="34" charset="0"/>
                <a:ea typeface="GT America" pitchFamily="34" charset="-122"/>
                <a:cs typeface="GT America" pitchFamily="34" charset="-120"/>
              </a:rPr>
              <a:t>ORIGINATION</a:t>
            </a:r>
            <a:endParaRPr lang="en-US" sz="1000" dirty="0"/>
          </a:p>
        </p:txBody>
      </p:sp>
      <p:sp>
        <p:nvSpPr>
          <p:cNvPr id="18" name="Shape 16"/>
          <p:cNvSpPr/>
          <p:nvPr/>
        </p:nvSpPr>
        <p:spPr>
          <a:xfrm>
            <a:off x="5582412" y="2194560"/>
            <a:ext cx="513436" cy="182880"/>
          </a:xfrm>
          <a:prstGeom prst="line">
            <a:avLst/>
          </a:prstGeom>
          <a:noFill/>
          <a:ln w="12700">
            <a:solidFill>
              <a:srgbClr val="DCE1EC"/>
            </a:solidFill>
            <a:prstDash val="solid"/>
          </a:ln>
        </p:spPr>
      </p:sp>
      <p:sp>
        <p:nvSpPr>
          <p:cNvPr id="19" name="Shape 17"/>
          <p:cNvSpPr/>
          <p:nvPr/>
        </p:nvSpPr>
        <p:spPr>
          <a:xfrm>
            <a:off x="5582412" y="2377440"/>
            <a:ext cx="0" cy="73152"/>
          </a:xfrm>
          <a:prstGeom prst="line">
            <a:avLst/>
          </a:prstGeom>
          <a:noFill/>
          <a:ln w="12700">
            <a:solidFill>
              <a:srgbClr val="DCE1EC"/>
            </a:solidFill>
            <a:prstDash val="solid"/>
          </a:ln>
        </p:spPr>
      </p:sp>
      <p:sp>
        <p:nvSpPr>
          <p:cNvPr id="20" name="Shape 18"/>
          <p:cNvSpPr/>
          <p:nvPr/>
        </p:nvSpPr>
        <p:spPr>
          <a:xfrm>
            <a:off x="3044952" y="2944368"/>
            <a:ext cx="120015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1" name="Text 19"/>
          <p:cNvSpPr/>
          <p:nvPr/>
        </p:nvSpPr>
        <p:spPr>
          <a:xfrm>
            <a:off x="3081528" y="2944368"/>
            <a:ext cx="112699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Structuring &amp;</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Pricing</a:t>
            </a:r>
            <a:endParaRPr lang="en-US" sz="880" dirty="0"/>
          </a:p>
        </p:txBody>
      </p:sp>
      <p:sp>
        <p:nvSpPr>
          <p:cNvPr id="22" name="Shape 20"/>
          <p:cNvSpPr/>
          <p:nvPr/>
        </p:nvSpPr>
        <p:spPr>
          <a:xfrm>
            <a:off x="4336542" y="2944368"/>
            <a:ext cx="120015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3" name="Text 21"/>
          <p:cNvSpPr/>
          <p:nvPr/>
        </p:nvSpPr>
        <p:spPr>
          <a:xfrm>
            <a:off x="4373118" y="2944368"/>
            <a:ext cx="112699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Spreading &amp;</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Scoring</a:t>
            </a:r>
            <a:endParaRPr lang="en-US" sz="880" dirty="0"/>
          </a:p>
        </p:txBody>
      </p:sp>
      <p:sp>
        <p:nvSpPr>
          <p:cNvPr id="24" name="Shape 22"/>
          <p:cNvSpPr/>
          <p:nvPr/>
        </p:nvSpPr>
        <p:spPr>
          <a:xfrm>
            <a:off x="5628132" y="2944368"/>
            <a:ext cx="120015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5" name="Text 23"/>
          <p:cNvSpPr/>
          <p:nvPr/>
        </p:nvSpPr>
        <p:spPr>
          <a:xfrm>
            <a:off x="5664708" y="2944368"/>
            <a:ext cx="112699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Underwriting &amp;</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Decisioning</a:t>
            </a:r>
            <a:endParaRPr lang="en-US" sz="880" dirty="0"/>
          </a:p>
        </p:txBody>
      </p:sp>
      <p:sp>
        <p:nvSpPr>
          <p:cNvPr id="26" name="Shape 24"/>
          <p:cNvSpPr/>
          <p:nvPr/>
        </p:nvSpPr>
        <p:spPr>
          <a:xfrm>
            <a:off x="6919722" y="2944368"/>
            <a:ext cx="120015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7" name="Text 25"/>
          <p:cNvSpPr/>
          <p:nvPr/>
        </p:nvSpPr>
        <p:spPr>
          <a:xfrm>
            <a:off x="6956298" y="2944368"/>
            <a:ext cx="112699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Fulfillment &amp;</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Booking</a:t>
            </a:r>
            <a:endParaRPr lang="en-US" sz="880" dirty="0"/>
          </a:p>
        </p:txBody>
      </p:sp>
      <p:sp>
        <p:nvSpPr>
          <p:cNvPr id="28" name="Shape 26"/>
          <p:cNvSpPr/>
          <p:nvPr/>
        </p:nvSpPr>
        <p:spPr>
          <a:xfrm>
            <a:off x="5582412" y="2834640"/>
            <a:ext cx="0" cy="109728"/>
          </a:xfrm>
          <a:prstGeom prst="line">
            <a:avLst/>
          </a:prstGeom>
          <a:noFill/>
          <a:ln w="12700">
            <a:solidFill>
              <a:srgbClr val="DCE1EC"/>
            </a:solidFill>
            <a:prstDash val="solid"/>
          </a:ln>
        </p:spPr>
      </p:sp>
      <p:sp>
        <p:nvSpPr>
          <p:cNvPr id="29" name="Shape 27"/>
          <p:cNvSpPr/>
          <p:nvPr/>
        </p:nvSpPr>
        <p:spPr>
          <a:xfrm>
            <a:off x="8375904" y="2450592"/>
            <a:ext cx="3200400" cy="384048"/>
          </a:xfrm>
          <a:prstGeom prst="roundRect">
            <a:avLst>
              <a:gd name="adj" fmla="val 19048"/>
            </a:avLst>
          </a:prstGeom>
          <a:solidFill>
            <a:srgbClr val="2E4DA6"/>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0" name="Text 28"/>
          <p:cNvSpPr/>
          <p:nvPr/>
        </p:nvSpPr>
        <p:spPr>
          <a:xfrm>
            <a:off x="8375904" y="2450592"/>
            <a:ext cx="3200400" cy="384048"/>
          </a:xfrm>
          <a:prstGeom prst="rect">
            <a:avLst/>
          </a:prstGeom>
          <a:noFill/>
          <a:ln/>
        </p:spPr>
        <p:txBody>
          <a:bodyPr wrap="square" rtlCol="0" anchor="ctr"/>
          <a:lstStyle/>
          <a:p>
            <a:pPr algn="ctr" indent="0" marL="0">
              <a:buNone/>
            </a:pPr>
            <a:r>
              <a:rPr lang="en-US" sz="1000" b="1" spc="60" kern="0" dirty="0">
                <a:solidFill>
                  <a:srgbClr val="FFFFFF"/>
                </a:solidFill>
                <a:latin typeface="GT America" pitchFamily="34" charset="0"/>
                <a:ea typeface="GT America" pitchFamily="34" charset="-122"/>
                <a:cs typeface="GT America" pitchFamily="34" charset="-120"/>
              </a:rPr>
              <a:t>MONITORING</a:t>
            </a:r>
            <a:endParaRPr lang="en-US" sz="1000" dirty="0"/>
          </a:p>
        </p:txBody>
      </p:sp>
      <p:sp>
        <p:nvSpPr>
          <p:cNvPr id="31" name="Shape 29"/>
          <p:cNvSpPr/>
          <p:nvPr/>
        </p:nvSpPr>
        <p:spPr>
          <a:xfrm>
            <a:off x="6095848" y="2194560"/>
            <a:ext cx="3880256" cy="182880"/>
          </a:xfrm>
          <a:prstGeom prst="line">
            <a:avLst/>
          </a:prstGeom>
          <a:noFill/>
          <a:ln w="12700">
            <a:solidFill>
              <a:srgbClr val="DCE1EC"/>
            </a:solidFill>
            <a:prstDash val="solid"/>
          </a:ln>
        </p:spPr>
      </p:sp>
      <p:sp>
        <p:nvSpPr>
          <p:cNvPr id="32" name="Shape 30"/>
          <p:cNvSpPr/>
          <p:nvPr/>
        </p:nvSpPr>
        <p:spPr>
          <a:xfrm>
            <a:off x="9976104" y="2377440"/>
            <a:ext cx="0" cy="73152"/>
          </a:xfrm>
          <a:prstGeom prst="line">
            <a:avLst/>
          </a:prstGeom>
          <a:noFill/>
          <a:ln w="12700">
            <a:solidFill>
              <a:srgbClr val="DCE1EC"/>
            </a:solidFill>
            <a:prstDash val="solid"/>
          </a:ln>
        </p:spPr>
      </p:sp>
      <p:sp>
        <p:nvSpPr>
          <p:cNvPr id="33" name="Shape 31"/>
          <p:cNvSpPr/>
          <p:nvPr/>
        </p:nvSpPr>
        <p:spPr>
          <a:xfrm>
            <a:off x="8375904" y="2944368"/>
            <a:ext cx="100584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4" name="Text 32"/>
          <p:cNvSpPr/>
          <p:nvPr/>
        </p:nvSpPr>
        <p:spPr>
          <a:xfrm>
            <a:off x="8412480" y="2944368"/>
            <a:ext cx="93268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Portfolio</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Insights</a:t>
            </a:r>
            <a:endParaRPr lang="en-US" sz="880" dirty="0"/>
          </a:p>
        </p:txBody>
      </p:sp>
      <p:sp>
        <p:nvSpPr>
          <p:cNvPr id="35" name="Shape 33"/>
          <p:cNvSpPr/>
          <p:nvPr/>
        </p:nvSpPr>
        <p:spPr>
          <a:xfrm>
            <a:off x="9473184" y="2944368"/>
            <a:ext cx="100584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6" name="Text 34"/>
          <p:cNvSpPr/>
          <p:nvPr/>
        </p:nvSpPr>
        <p:spPr>
          <a:xfrm>
            <a:off x="9509760" y="2944368"/>
            <a:ext cx="93268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Covenants</a:t>
            </a:r>
            <a:endParaRPr lang="en-US" sz="880" dirty="0"/>
          </a:p>
        </p:txBody>
      </p:sp>
      <p:sp>
        <p:nvSpPr>
          <p:cNvPr id="37" name="Shape 35"/>
          <p:cNvSpPr/>
          <p:nvPr/>
        </p:nvSpPr>
        <p:spPr>
          <a:xfrm>
            <a:off x="10570464" y="2944368"/>
            <a:ext cx="1005840" cy="749808"/>
          </a:xfrm>
          <a:prstGeom prst="roundRect">
            <a:avLst>
              <a:gd name="adj" fmla="val 975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8" name="Text 36"/>
          <p:cNvSpPr/>
          <p:nvPr/>
        </p:nvSpPr>
        <p:spPr>
          <a:xfrm>
            <a:off x="10607040" y="2944368"/>
            <a:ext cx="932688" cy="749808"/>
          </a:xfrm>
          <a:prstGeom prst="rect">
            <a:avLst/>
          </a:prstGeom>
          <a:noFill/>
          <a:ln/>
        </p:spPr>
        <p:txBody>
          <a:bodyPr wrap="square" rtlCol="0" anchor="ctr"/>
          <a:lstStyle/>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Early</a:t>
            </a:r>
            <a:endParaRPr lang="en-US" sz="880" dirty="0"/>
          </a:p>
          <a:p>
            <a:pPr algn="ctr" indent="0" marL="0">
              <a:lnSpc>
                <a:spcPct val="105000"/>
              </a:lnSpc>
              <a:buNone/>
            </a:pPr>
            <a:r>
              <a:rPr lang="en-US" sz="880" b="1" dirty="0">
                <a:solidFill>
                  <a:srgbClr val="0A1264"/>
                </a:solidFill>
                <a:latin typeface="GT America" pitchFamily="34" charset="0"/>
                <a:ea typeface="GT America" pitchFamily="34" charset="-122"/>
                <a:cs typeface="GT America" pitchFamily="34" charset="-120"/>
              </a:rPr>
              <a:t>Warning</a:t>
            </a:r>
            <a:endParaRPr lang="en-US" sz="880" dirty="0"/>
          </a:p>
        </p:txBody>
      </p:sp>
      <p:sp>
        <p:nvSpPr>
          <p:cNvPr id="39" name="Shape 37"/>
          <p:cNvSpPr/>
          <p:nvPr/>
        </p:nvSpPr>
        <p:spPr>
          <a:xfrm>
            <a:off x="9976104" y="2834640"/>
            <a:ext cx="0" cy="109728"/>
          </a:xfrm>
          <a:prstGeom prst="line">
            <a:avLst/>
          </a:prstGeom>
          <a:noFill/>
          <a:ln w="12700">
            <a:solidFill>
              <a:srgbClr val="DCE1EC"/>
            </a:solidFill>
            <a:prstDash val="solid"/>
          </a:ln>
        </p:spPr>
      </p:sp>
      <p:sp>
        <p:nvSpPr>
          <p:cNvPr id="40" name="Shape 38"/>
          <p:cNvSpPr/>
          <p:nvPr/>
        </p:nvSpPr>
        <p:spPr>
          <a:xfrm>
            <a:off x="457200" y="3657600"/>
            <a:ext cx="11274552" cy="566928"/>
          </a:xfrm>
          <a:prstGeom prst="roundRect">
            <a:avLst>
              <a:gd name="adj" fmla="val 12903"/>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1" name="Text 39"/>
          <p:cNvSpPr/>
          <p:nvPr/>
        </p:nvSpPr>
        <p:spPr>
          <a:xfrm>
            <a:off x="685800" y="3657600"/>
            <a:ext cx="2651760" cy="566928"/>
          </a:xfrm>
          <a:prstGeom prst="rect">
            <a:avLst/>
          </a:prstGeom>
          <a:noFill/>
          <a:ln/>
        </p:spPr>
        <p:txBody>
          <a:bodyPr wrap="square" rtlCol="0" anchor="ctr"/>
          <a:lstStyle/>
          <a:p>
            <a:pPr indent="0" marL="0">
              <a:lnSpc>
                <a:spcPct val="105000"/>
              </a:lnSpc>
              <a:buNone/>
            </a:pPr>
            <a:r>
              <a:rPr lang="en-US" sz="950" b="1" spc="40" kern="0" dirty="0">
                <a:solidFill>
                  <a:srgbClr val="4D8DFF"/>
                </a:solidFill>
                <a:latin typeface="GT America" pitchFamily="34" charset="0"/>
                <a:ea typeface="GT America" pitchFamily="34" charset="-122"/>
                <a:cs typeface="GT America" pitchFamily="34" charset="-120"/>
              </a:rPr>
              <a:t>MOODY’S DATA, INTEGRATED THROUGHOUT</a:t>
            </a:r>
            <a:endParaRPr lang="en-US" sz="950" dirty="0"/>
          </a:p>
        </p:txBody>
      </p:sp>
      <p:sp>
        <p:nvSpPr>
          <p:cNvPr id="42" name="Text 40"/>
          <p:cNvSpPr/>
          <p:nvPr/>
        </p:nvSpPr>
        <p:spPr>
          <a:xfrm>
            <a:off x="3520440" y="3657600"/>
            <a:ext cx="7955280" cy="566928"/>
          </a:xfrm>
          <a:prstGeom prst="rect">
            <a:avLst/>
          </a:prstGeom>
          <a:noFill/>
          <a:ln/>
        </p:spPr>
        <p:txBody>
          <a:bodyPr wrap="square" rtlCol="0" anchor="ctr"/>
          <a:lstStyle/>
          <a:p>
            <a:pPr indent="0" marL="0">
              <a:lnSpc>
                <a:spcPct val="115000"/>
              </a:lnSpc>
              <a:buNone/>
            </a:pPr>
            <a:r>
              <a:rPr lang="en-US" sz="950" i="1" dirty="0">
                <a:solidFill>
                  <a:srgbClr val="E7ECF6"/>
                </a:solidFill>
                <a:latin typeface="GT America" pitchFamily="34" charset="0"/>
                <a:ea typeface="GT America" pitchFamily="34" charset="-122"/>
                <a:cs typeface="GT America" pitchFamily="34" charset="-120"/>
              </a:rPr>
              <a:t>Credit risk analysis · Physical &amp; transition risk · Counterparty &amp; industry data · Firmographic data · Behavioral &amp; economic data · Financial crime &amp; sanctions data</a:t>
            </a:r>
            <a:endParaRPr lang="en-US" sz="950" dirty="0"/>
          </a:p>
        </p:txBody>
      </p:sp>
      <p:sp>
        <p:nvSpPr>
          <p:cNvPr id="43" name="Text 41"/>
          <p:cNvSpPr/>
          <p:nvPr/>
        </p:nvSpPr>
        <p:spPr>
          <a:xfrm>
            <a:off x="457200" y="4206240"/>
            <a:ext cx="3657600" cy="237744"/>
          </a:xfrm>
          <a:prstGeom prst="rect">
            <a:avLst/>
          </a:prstGeom>
          <a:noFill/>
          <a:ln/>
        </p:spPr>
        <p:txBody>
          <a:bodyPr wrap="square" rtlCol="0" anchor="ctr"/>
          <a:lstStyle/>
          <a:p>
            <a:pPr indent="0" marL="0">
              <a:buNone/>
            </a:pPr>
            <a:r>
              <a:rPr lang="en-US" sz="1000" b="1" spc="120" kern="0" dirty="0">
                <a:solidFill>
                  <a:srgbClr val="0057E7"/>
                </a:solidFill>
                <a:latin typeface="GT America" pitchFamily="34" charset="0"/>
                <a:ea typeface="GT America" pitchFamily="34" charset="-122"/>
                <a:cs typeface="GT America" pitchFamily="34" charset="-120"/>
              </a:rPr>
              <a:t>AI-ENABLED MODULES</a:t>
            </a:r>
            <a:endParaRPr lang="en-US" sz="1000" dirty="0"/>
          </a:p>
        </p:txBody>
      </p:sp>
      <p:sp>
        <p:nvSpPr>
          <p:cNvPr id="44" name="Shape 42"/>
          <p:cNvSpPr/>
          <p:nvPr/>
        </p:nvSpPr>
        <p:spPr>
          <a:xfrm>
            <a:off x="457200" y="4480560"/>
            <a:ext cx="3514344" cy="502920"/>
          </a:xfrm>
          <a:prstGeom prst="roundRect">
            <a:avLst>
              <a:gd name="adj" fmla="val 14545"/>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5" name="Text 43"/>
          <p:cNvSpPr/>
          <p:nvPr/>
        </p:nvSpPr>
        <p:spPr>
          <a:xfrm>
            <a:off x="457200" y="4480560"/>
            <a:ext cx="3514344" cy="502920"/>
          </a:xfrm>
          <a:prstGeom prst="rect">
            <a:avLst/>
          </a:prstGeom>
          <a:noFill/>
          <a:ln/>
        </p:spPr>
        <p:txBody>
          <a:bodyPr wrap="square" rtlCol="0" anchor="ctr"/>
          <a:lstStyle/>
          <a:p>
            <a:pPr algn="ctr" indent="0" marL="0">
              <a:buNone/>
            </a:pPr>
            <a:r>
              <a:rPr lang="en-US" sz="1150" b="1" dirty="0">
                <a:solidFill>
                  <a:srgbClr val="1B3F91"/>
                </a:solidFill>
                <a:latin typeface="GT America" pitchFamily="34" charset="0"/>
                <a:ea typeface="GT America" pitchFamily="34" charset="-122"/>
                <a:cs typeface="GT America" pitchFamily="34" charset="-120"/>
              </a:rPr>
              <a:t>Automated Spreading</a:t>
            </a:r>
            <a:endParaRPr lang="en-US" sz="1150" dirty="0"/>
          </a:p>
        </p:txBody>
      </p:sp>
      <p:sp>
        <p:nvSpPr>
          <p:cNvPr id="46" name="Shape 44"/>
          <p:cNvSpPr/>
          <p:nvPr/>
        </p:nvSpPr>
        <p:spPr>
          <a:xfrm>
            <a:off x="4337304" y="4480560"/>
            <a:ext cx="3514344" cy="502920"/>
          </a:xfrm>
          <a:prstGeom prst="roundRect">
            <a:avLst>
              <a:gd name="adj" fmla="val 14545"/>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7" name="Text 45"/>
          <p:cNvSpPr/>
          <p:nvPr/>
        </p:nvSpPr>
        <p:spPr>
          <a:xfrm>
            <a:off x="4337304" y="4480560"/>
            <a:ext cx="3514344" cy="502920"/>
          </a:xfrm>
          <a:prstGeom prst="rect">
            <a:avLst/>
          </a:prstGeom>
          <a:noFill/>
          <a:ln/>
        </p:spPr>
        <p:txBody>
          <a:bodyPr wrap="square" rtlCol="0" anchor="ctr"/>
          <a:lstStyle/>
          <a:p>
            <a:pPr algn="ctr" indent="0" marL="0">
              <a:buNone/>
            </a:pPr>
            <a:r>
              <a:rPr lang="en-US" sz="1150" b="1" dirty="0">
                <a:solidFill>
                  <a:srgbClr val="1B3F91"/>
                </a:solidFill>
                <a:latin typeface="GT America" pitchFamily="34" charset="0"/>
                <a:ea typeface="GT America" pitchFamily="34" charset="-122"/>
                <a:cs typeface="GT America" pitchFamily="34" charset="-120"/>
              </a:rPr>
              <a:t>Automated Credit Memo</a:t>
            </a:r>
            <a:endParaRPr lang="en-US" sz="1150" dirty="0"/>
          </a:p>
        </p:txBody>
      </p:sp>
      <p:sp>
        <p:nvSpPr>
          <p:cNvPr id="48" name="Shape 46"/>
          <p:cNvSpPr/>
          <p:nvPr/>
        </p:nvSpPr>
        <p:spPr>
          <a:xfrm>
            <a:off x="8217408" y="4480560"/>
            <a:ext cx="3514344" cy="502920"/>
          </a:xfrm>
          <a:prstGeom prst="roundRect">
            <a:avLst>
              <a:gd name="adj" fmla="val 14545"/>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9" name="Text 47"/>
          <p:cNvSpPr/>
          <p:nvPr/>
        </p:nvSpPr>
        <p:spPr>
          <a:xfrm>
            <a:off x="8217408" y="4480560"/>
            <a:ext cx="3514344" cy="502920"/>
          </a:xfrm>
          <a:prstGeom prst="rect">
            <a:avLst/>
          </a:prstGeom>
          <a:noFill/>
          <a:ln/>
        </p:spPr>
        <p:txBody>
          <a:bodyPr wrap="square" rtlCol="0" anchor="ctr"/>
          <a:lstStyle/>
          <a:p>
            <a:pPr algn="ctr" indent="0" marL="0">
              <a:buNone/>
            </a:pPr>
            <a:r>
              <a:rPr lang="en-US" sz="1150" b="1" dirty="0">
                <a:solidFill>
                  <a:srgbClr val="1B3F91"/>
                </a:solidFill>
                <a:latin typeface="GT America" pitchFamily="34" charset="0"/>
                <a:ea typeface="GT America" pitchFamily="34" charset="-122"/>
                <a:cs typeface="GT America" pitchFamily="34" charset="-120"/>
              </a:rPr>
              <a:t>Automated Covenants</a:t>
            </a:r>
            <a:endParaRPr lang="en-US" sz="1150" dirty="0"/>
          </a:p>
        </p:txBody>
      </p:sp>
      <p:sp>
        <p:nvSpPr>
          <p:cNvPr id="50" name="Text 48"/>
          <p:cNvSpPr/>
          <p:nvPr/>
        </p:nvSpPr>
        <p:spPr>
          <a:xfrm>
            <a:off x="457200" y="4983480"/>
            <a:ext cx="3657600" cy="237744"/>
          </a:xfrm>
          <a:prstGeom prst="rect">
            <a:avLst/>
          </a:prstGeom>
          <a:noFill/>
          <a:ln/>
        </p:spPr>
        <p:txBody>
          <a:bodyPr wrap="square" rtlCol="0" anchor="ctr"/>
          <a:lstStyle/>
          <a:p>
            <a:pPr indent="0" marL="0">
              <a:buNone/>
            </a:pPr>
            <a:r>
              <a:rPr lang="en-US" sz="1000" b="1" spc="120" kern="0" dirty="0">
                <a:solidFill>
                  <a:srgbClr val="2E4DA6"/>
                </a:solidFill>
                <a:latin typeface="GT America" pitchFamily="34" charset="0"/>
                <a:ea typeface="GT America" pitchFamily="34" charset="-122"/>
                <a:cs typeface="GT America" pitchFamily="34" charset="-120"/>
              </a:rPr>
              <a:t>ASSET-CLASS OFFERINGS</a:t>
            </a:r>
            <a:endParaRPr lang="en-US" sz="1000" dirty="0"/>
          </a:p>
        </p:txBody>
      </p:sp>
      <p:sp>
        <p:nvSpPr>
          <p:cNvPr id="51" name="Shape 49"/>
          <p:cNvSpPr/>
          <p:nvPr/>
        </p:nvSpPr>
        <p:spPr>
          <a:xfrm>
            <a:off x="457200" y="5257800"/>
            <a:ext cx="3514344" cy="502920"/>
          </a:xfrm>
          <a:prstGeom prst="roundRect">
            <a:avLst>
              <a:gd name="adj" fmla="val 14545"/>
            </a:avLst>
          </a:prstGeom>
          <a:solidFill>
            <a:srgbClr val="FFFFFF"/>
          </a:solidFill>
          <a:ln w="12700">
            <a:solidFill>
              <a:srgbClr val="6E93E0"/>
            </a:solidFill>
            <a:prstDash val="solid"/>
          </a:ln>
          <a:effectLst>
            <a:outerShdw sx="100000" sy="100000" kx="0" ky="0" algn="bl" rotWithShape="0" blurRad="101600" dist="25400" dir="5400000">
              <a:srgbClr val="1B2430">
                <a:alpha val="12000"/>
              </a:srgbClr>
            </a:outerShdw>
          </a:effectLst>
        </p:spPr>
      </p:sp>
      <p:sp>
        <p:nvSpPr>
          <p:cNvPr id="52" name="Text 50"/>
          <p:cNvSpPr/>
          <p:nvPr/>
        </p:nvSpPr>
        <p:spPr>
          <a:xfrm>
            <a:off x="457200" y="5257800"/>
            <a:ext cx="3514344" cy="502920"/>
          </a:xfrm>
          <a:prstGeom prst="rect">
            <a:avLst/>
          </a:prstGeom>
          <a:noFill/>
          <a:ln/>
        </p:spPr>
        <p:txBody>
          <a:bodyPr wrap="square" rtlCol="0" anchor="ctr"/>
          <a:lstStyle/>
          <a:p>
            <a:pPr algn="ctr" indent="0" marL="0">
              <a:buNone/>
            </a:pPr>
            <a:r>
              <a:rPr lang="en-US" sz="1150" b="1" dirty="0">
                <a:solidFill>
                  <a:srgbClr val="2E4DA6"/>
                </a:solidFill>
                <a:latin typeface="GT America" pitchFamily="34" charset="0"/>
                <a:ea typeface="GT America" pitchFamily="34" charset="-122"/>
                <a:cs typeface="GT America" pitchFamily="34" charset="-120"/>
              </a:rPr>
              <a:t>Commercial Real Estate (CRE)</a:t>
            </a:r>
            <a:endParaRPr lang="en-US" sz="1150" dirty="0"/>
          </a:p>
        </p:txBody>
      </p:sp>
      <p:sp>
        <p:nvSpPr>
          <p:cNvPr id="53" name="Shape 51"/>
          <p:cNvSpPr/>
          <p:nvPr/>
        </p:nvSpPr>
        <p:spPr>
          <a:xfrm>
            <a:off x="4337304" y="5257800"/>
            <a:ext cx="3514344" cy="502920"/>
          </a:xfrm>
          <a:prstGeom prst="roundRect">
            <a:avLst>
              <a:gd name="adj" fmla="val 14545"/>
            </a:avLst>
          </a:prstGeom>
          <a:solidFill>
            <a:srgbClr val="FFFFFF"/>
          </a:solidFill>
          <a:ln w="12700">
            <a:solidFill>
              <a:srgbClr val="6E93E0"/>
            </a:solidFill>
            <a:prstDash val="solid"/>
          </a:ln>
          <a:effectLst>
            <a:outerShdw sx="100000" sy="100000" kx="0" ky="0" algn="bl" rotWithShape="0" blurRad="101600" dist="25400" dir="5400000">
              <a:srgbClr val="1B2430">
                <a:alpha val="12000"/>
              </a:srgbClr>
            </a:outerShdw>
          </a:effectLst>
        </p:spPr>
      </p:sp>
      <p:sp>
        <p:nvSpPr>
          <p:cNvPr id="54" name="Text 52"/>
          <p:cNvSpPr/>
          <p:nvPr/>
        </p:nvSpPr>
        <p:spPr>
          <a:xfrm>
            <a:off x="4337304" y="5257800"/>
            <a:ext cx="3514344" cy="502920"/>
          </a:xfrm>
          <a:prstGeom prst="rect">
            <a:avLst/>
          </a:prstGeom>
          <a:noFill/>
          <a:ln/>
        </p:spPr>
        <p:txBody>
          <a:bodyPr wrap="square" rtlCol="0" anchor="ctr"/>
          <a:lstStyle/>
          <a:p>
            <a:pPr algn="ctr" indent="0" marL="0">
              <a:buNone/>
            </a:pPr>
            <a:r>
              <a:rPr lang="en-US" sz="1150" b="1" dirty="0">
                <a:solidFill>
                  <a:srgbClr val="2E4DA6"/>
                </a:solidFill>
                <a:latin typeface="GT America" pitchFamily="34" charset="0"/>
                <a:ea typeface="GT America" pitchFamily="34" charset="-122"/>
                <a:cs typeface="GT America" pitchFamily="34" charset="-120"/>
              </a:rPr>
              <a:t>Agriculture</a:t>
            </a:r>
            <a:endParaRPr lang="en-US" sz="1150" dirty="0"/>
          </a:p>
        </p:txBody>
      </p:sp>
      <p:sp>
        <p:nvSpPr>
          <p:cNvPr id="55" name="Shape 53"/>
          <p:cNvSpPr/>
          <p:nvPr/>
        </p:nvSpPr>
        <p:spPr>
          <a:xfrm>
            <a:off x="8217408" y="5257800"/>
            <a:ext cx="3514344" cy="502920"/>
          </a:xfrm>
          <a:prstGeom prst="roundRect">
            <a:avLst>
              <a:gd name="adj" fmla="val 14545"/>
            </a:avLst>
          </a:prstGeom>
          <a:solidFill>
            <a:srgbClr val="FFFFFF"/>
          </a:solidFill>
          <a:ln w="12700">
            <a:solidFill>
              <a:srgbClr val="6E93E0"/>
            </a:solidFill>
            <a:prstDash val="solid"/>
          </a:ln>
          <a:effectLst>
            <a:outerShdw sx="100000" sy="100000" kx="0" ky="0" algn="bl" rotWithShape="0" blurRad="101600" dist="25400" dir="5400000">
              <a:srgbClr val="1B2430">
                <a:alpha val="12000"/>
              </a:srgbClr>
            </a:outerShdw>
          </a:effectLst>
        </p:spPr>
      </p:sp>
      <p:sp>
        <p:nvSpPr>
          <p:cNvPr id="56" name="Text 54"/>
          <p:cNvSpPr/>
          <p:nvPr/>
        </p:nvSpPr>
        <p:spPr>
          <a:xfrm>
            <a:off x="8217408" y="5257800"/>
            <a:ext cx="3514344" cy="502920"/>
          </a:xfrm>
          <a:prstGeom prst="rect">
            <a:avLst/>
          </a:prstGeom>
          <a:noFill/>
          <a:ln/>
        </p:spPr>
        <p:txBody>
          <a:bodyPr wrap="square" rtlCol="0" anchor="ctr"/>
          <a:lstStyle/>
          <a:p>
            <a:pPr algn="ctr" indent="0" marL="0">
              <a:buNone/>
            </a:pPr>
            <a:r>
              <a:rPr lang="en-US" sz="1150" b="1" dirty="0">
                <a:solidFill>
                  <a:srgbClr val="2E4DA6"/>
                </a:solidFill>
                <a:latin typeface="GT America" pitchFamily="34" charset="0"/>
                <a:ea typeface="GT America" pitchFamily="34" charset="-122"/>
                <a:cs typeface="GT America" pitchFamily="34" charset="-120"/>
              </a:rPr>
              <a:t>Small Business</a:t>
            </a:r>
            <a:endParaRPr lang="en-US" sz="1150" dirty="0"/>
          </a:p>
        </p:txBody>
      </p:sp>
      <p:sp>
        <p:nvSpPr>
          <p:cNvPr id="57" name="Text 55"/>
          <p:cNvSpPr/>
          <p:nvPr/>
        </p:nvSpPr>
        <p:spPr>
          <a:xfrm>
            <a:off x="457200" y="5989320"/>
            <a:ext cx="109728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Targeted experiences for Commercial &amp; Industrial, Commercial Real Estate, Agriculture, and Small Business portfolios.</a:t>
            </a:r>
            <a:endParaRPr lang="en-US" sz="1000" dirty="0"/>
          </a:p>
        </p:txBody>
      </p:sp>
      <p:sp>
        <p:nvSpPr>
          <p:cNvPr id="58" name="Text 56"/>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PORTFOLIO EVOLUTION</a:t>
            </a:r>
            <a:endParaRPr lang="en-US" sz="900" dirty="0"/>
          </a:p>
        </p:txBody>
      </p:sp>
      <p:sp>
        <p:nvSpPr>
          <p:cNvPr id="59" name="Text 57"/>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4 / 23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PHASED PORTFOLIO EXPANSION</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A Portfolio Built in Stages</a:t>
            </a:r>
            <a:endParaRPr lang="en-US" sz="2800" dirty="0"/>
          </a:p>
        </p:txBody>
      </p:sp>
      <p:sp>
        <p:nvSpPr>
          <p:cNvPr id="4" name="Shape 2"/>
          <p:cNvSpPr/>
          <p:nvPr/>
        </p:nvSpPr>
        <p:spPr>
          <a:xfrm>
            <a:off x="1280160" y="4160520"/>
            <a:ext cx="9628632" cy="0"/>
          </a:xfrm>
          <a:prstGeom prst="line">
            <a:avLst/>
          </a:prstGeom>
          <a:noFill/>
          <a:ln w="25400">
            <a:solidFill>
              <a:srgbClr val="DCE1EC"/>
            </a:solidFill>
            <a:prstDash val="solid"/>
          </a:ln>
        </p:spPr>
      </p:sp>
      <p:sp>
        <p:nvSpPr>
          <p:cNvPr id="5" name="Shape 3"/>
          <p:cNvSpPr/>
          <p:nvPr/>
        </p:nvSpPr>
        <p:spPr>
          <a:xfrm>
            <a:off x="2738628" y="4014216"/>
            <a:ext cx="292608" cy="292608"/>
          </a:xfrm>
          <a:prstGeom prst="ellipse">
            <a:avLst/>
          </a:prstGeom>
          <a:solidFill>
            <a:srgbClr val="0057E7"/>
          </a:solidFill>
          <a:ln/>
        </p:spPr>
      </p:sp>
      <p:sp>
        <p:nvSpPr>
          <p:cNvPr id="6" name="Shape 4"/>
          <p:cNvSpPr/>
          <p:nvPr/>
        </p:nvSpPr>
        <p:spPr>
          <a:xfrm>
            <a:off x="1513332" y="2286000"/>
            <a:ext cx="2743200" cy="1554480"/>
          </a:xfrm>
          <a:prstGeom prst="roundRect">
            <a:avLst>
              <a:gd name="adj" fmla="val 470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7" name="Text 5"/>
          <p:cNvSpPr/>
          <p:nvPr/>
        </p:nvSpPr>
        <p:spPr>
          <a:xfrm>
            <a:off x="1696212" y="2423160"/>
            <a:ext cx="2377440" cy="228600"/>
          </a:xfrm>
          <a:prstGeom prst="rect">
            <a:avLst/>
          </a:prstGeom>
          <a:noFill/>
          <a:ln/>
        </p:spPr>
        <p:txBody>
          <a:bodyPr wrap="square" rtlCol="0" anchor="ctr"/>
          <a:lstStyle/>
          <a:p>
            <a:pPr indent="0" marL="0">
              <a:buNone/>
            </a:pPr>
            <a:r>
              <a:rPr lang="en-US" sz="1050" b="1" spc="150" kern="0" dirty="0">
                <a:solidFill>
                  <a:srgbClr val="0057E7"/>
                </a:solidFill>
                <a:latin typeface="GT America" pitchFamily="34" charset="0"/>
                <a:ea typeface="GT America" pitchFamily="34" charset="-122"/>
                <a:cs typeface="GT America" pitchFamily="34" charset="-120"/>
              </a:rPr>
              <a:t>PHASE 1 · 2023</a:t>
            </a:r>
            <a:endParaRPr lang="en-US" sz="1050" dirty="0"/>
          </a:p>
        </p:txBody>
      </p:sp>
      <p:sp>
        <p:nvSpPr>
          <p:cNvPr id="8" name="Text 6"/>
          <p:cNvSpPr/>
          <p:nvPr/>
        </p:nvSpPr>
        <p:spPr>
          <a:xfrm>
            <a:off x="1696212" y="2697480"/>
            <a:ext cx="2377440" cy="502920"/>
          </a:xfrm>
          <a:prstGeom prst="rect">
            <a:avLst/>
          </a:prstGeom>
          <a:noFill/>
          <a:ln/>
        </p:spPr>
        <p:txBody>
          <a:bodyPr wrap="square" rtlCol="0" anchor="ctr"/>
          <a:lstStyle/>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Origination &amp;</a:t>
            </a:r>
            <a:endParaRPr lang="en-US" sz="1450" dirty="0"/>
          </a:p>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Monitoring</a:t>
            </a:r>
            <a:endParaRPr lang="en-US" sz="1450" dirty="0"/>
          </a:p>
        </p:txBody>
      </p:sp>
      <p:sp>
        <p:nvSpPr>
          <p:cNvPr id="9" name="Text 7"/>
          <p:cNvSpPr/>
          <p:nvPr/>
        </p:nvSpPr>
        <p:spPr>
          <a:xfrm>
            <a:off x="1696212" y="3246120"/>
            <a:ext cx="2377440" cy="548640"/>
          </a:xfrm>
          <a:prstGeom prst="rect">
            <a:avLst/>
          </a:prstGeom>
          <a:noFill/>
          <a:ln/>
        </p:spPr>
        <p:txBody>
          <a:bodyPr wrap="square" rtlCol="0" anchor="ctr"/>
          <a:lstStyle/>
          <a:p>
            <a:pPr indent="0" marL="0">
              <a:lnSpc>
                <a:spcPct val="115000"/>
              </a:lnSpc>
              <a:buNone/>
            </a:pPr>
            <a:r>
              <a:rPr lang="en-US" sz="1000" i="1" dirty="0">
                <a:solidFill>
                  <a:srgbClr val="5B6472"/>
                </a:solidFill>
                <a:latin typeface="GT America" pitchFamily="34" charset="0"/>
                <a:ea typeface="GT America" pitchFamily="34" charset="-122"/>
                <a:cs typeface="GT America" pitchFamily="34" charset="-120"/>
              </a:rPr>
              <a:t>CreditLens rebranded to Lending Suite; Origination and Monitoring packages established</a:t>
            </a:r>
            <a:endParaRPr lang="en-US" sz="1000" dirty="0"/>
          </a:p>
        </p:txBody>
      </p:sp>
      <p:sp>
        <p:nvSpPr>
          <p:cNvPr id="10" name="Shape 8"/>
          <p:cNvSpPr/>
          <p:nvPr/>
        </p:nvSpPr>
        <p:spPr>
          <a:xfrm>
            <a:off x="2884932" y="3840480"/>
            <a:ext cx="0" cy="173736"/>
          </a:xfrm>
          <a:prstGeom prst="line">
            <a:avLst/>
          </a:prstGeom>
          <a:noFill/>
          <a:ln w="12700">
            <a:solidFill>
              <a:srgbClr val="DCE1EC"/>
            </a:solidFill>
            <a:prstDash val="solid"/>
          </a:ln>
        </p:spPr>
      </p:sp>
      <p:sp>
        <p:nvSpPr>
          <p:cNvPr id="11" name="Shape 9"/>
          <p:cNvSpPr/>
          <p:nvPr/>
        </p:nvSpPr>
        <p:spPr>
          <a:xfrm>
            <a:off x="5948172" y="4014216"/>
            <a:ext cx="292608" cy="292608"/>
          </a:xfrm>
          <a:prstGeom prst="ellipse">
            <a:avLst/>
          </a:prstGeom>
          <a:solidFill>
            <a:srgbClr val="0057E7"/>
          </a:solidFill>
          <a:ln/>
        </p:spPr>
      </p:sp>
      <p:sp>
        <p:nvSpPr>
          <p:cNvPr id="12" name="Shape 10"/>
          <p:cNvSpPr/>
          <p:nvPr/>
        </p:nvSpPr>
        <p:spPr>
          <a:xfrm>
            <a:off x="4722876" y="2286000"/>
            <a:ext cx="2743200" cy="1554480"/>
          </a:xfrm>
          <a:prstGeom prst="roundRect">
            <a:avLst>
              <a:gd name="adj" fmla="val 470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3" name="Text 11"/>
          <p:cNvSpPr/>
          <p:nvPr/>
        </p:nvSpPr>
        <p:spPr>
          <a:xfrm>
            <a:off x="4905756" y="2423160"/>
            <a:ext cx="2377440" cy="228600"/>
          </a:xfrm>
          <a:prstGeom prst="rect">
            <a:avLst/>
          </a:prstGeom>
          <a:noFill/>
          <a:ln/>
        </p:spPr>
        <p:txBody>
          <a:bodyPr wrap="square" rtlCol="0" anchor="ctr"/>
          <a:lstStyle/>
          <a:p>
            <a:pPr indent="0" marL="0">
              <a:buNone/>
            </a:pPr>
            <a:r>
              <a:rPr lang="en-US" sz="1050" b="1" spc="150" kern="0" dirty="0">
                <a:solidFill>
                  <a:srgbClr val="0057E7"/>
                </a:solidFill>
                <a:latin typeface="GT America" pitchFamily="34" charset="0"/>
                <a:ea typeface="GT America" pitchFamily="34" charset="-122"/>
                <a:cs typeface="GT America" pitchFamily="34" charset="-120"/>
              </a:rPr>
              <a:t>PHASE 2 · 2024</a:t>
            </a:r>
            <a:endParaRPr lang="en-US" sz="1050" dirty="0"/>
          </a:p>
        </p:txBody>
      </p:sp>
      <p:sp>
        <p:nvSpPr>
          <p:cNvPr id="14" name="Text 12"/>
          <p:cNvSpPr/>
          <p:nvPr/>
        </p:nvSpPr>
        <p:spPr>
          <a:xfrm>
            <a:off x="4905756" y="2697480"/>
            <a:ext cx="2377440" cy="502920"/>
          </a:xfrm>
          <a:prstGeom prst="rect">
            <a:avLst/>
          </a:prstGeom>
          <a:noFill/>
          <a:ln/>
        </p:spPr>
        <p:txBody>
          <a:bodyPr wrap="square" rtlCol="0" anchor="ctr"/>
          <a:lstStyle/>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AI-Enabled</a:t>
            </a:r>
            <a:endParaRPr lang="en-US" sz="1450" dirty="0"/>
          </a:p>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Modules</a:t>
            </a:r>
            <a:endParaRPr lang="en-US" sz="1450" dirty="0"/>
          </a:p>
        </p:txBody>
      </p:sp>
      <p:sp>
        <p:nvSpPr>
          <p:cNvPr id="15" name="Text 13"/>
          <p:cNvSpPr/>
          <p:nvPr/>
        </p:nvSpPr>
        <p:spPr>
          <a:xfrm>
            <a:off x="4905756" y="3246120"/>
            <a:ext cx="2377440" cy="548640"/>
          </a:xfrm>
          <a:prstGeom prst="rect">
            <a:avLst/>
          </a:prstGeom>
          <a:noFill/>
          <a:ln/>
        </p:spPr>
        <p:txBody>
          <a:bodyPr wrap="square" rtlCol="0" anchor="ctr"/>
          <a:lstStyle/>
          <a:p>
            <a:pPr indent="0" marL="0">
              <a:lnSpc>
                <a:spcPct val="115000"/>
              </a:lnSpc>
              <a:buNone/>
            </a:pPr>
            <a:r>
              <a:rPr lang="en-US" sz="1000" i="1" dirty="0">
                <a:solidFill>
                  <a:srgbClr val="5B6472"/>
                </a:solidFill>
                <a:latin typeface="GT America" pitchFamily="34" charset="0"/>
                <a:ea typeface="GT America" pitchFamily="34" charset="-122"/>
                <a:cs typeface="GT America" pitchFamily="34" charset="-120"/>
              </a:rPr>
              <a:t>Automated Spreading, Credit Memo, and Covenants introduced</a:t>
            </a:r>
            <a:endParaRPr lang="en-US" sz="1000" dirty="0"/>
          </a:p>
        </p:txBody>
      </p:sp>
      <p:sp>
        <p:nvSpPr>
          <p:cNvPr id="16" name="Shape 14"/>
          <p:cNvSpPr/>
          <p:nvPr/>
        </p:nvSpPr>
        <p:spPr>
          <a:xfrm>
            <a:off x="6094476" y="3840480"/>
            <a:ext cx="0" cy="173736"/>
          </a:xfrm>
          <a:prstGeom prst="line">
            <a:avLst/>
          </a:prstGeom>
          <a:noFill/>
          <a:ln w="12700">
            <a:solidFill>
              <a:srgbClr val="DCE1EC"/>
            </a:solidFill>
            <a:prstDash val="solid"/>
          </a:ln>
        </p:spPr>
      </p:sp>
      <p:sp>
        <p:nvSpPr>
          <p:cNvPr id="17" name="Shape 15"/>
          <p:cNvSpPr/>
          <p:nvPr/>
        </p:nvSpPr>
        <p:spPr>
          <a:xfrm>
            <a:off x="9157716" y="4014216"/>
            <a:ext cx="292608" cy="292608"/>
          </a:xfrm>
          <a:prstGeom prst="ellipse">
            <a:avLst/>
          </a:prstGeom>
          <a:solidFill>
            <a:srgbClr val="0057E7"/>
          </a:solidFill>
          <a:ln/>
        </p:spPr>
      </p:sp>
      <p:sp>
        <p:nvSpPr>
          <p:cNvPr id="18" name="Shape 16"/>
          <p:cNvSpPr/>
          <p:nvPr/>
        </p:nvSpPr>
        <p:spPr>
          <a:xfrm>
            <a:off x="7932420" y="2286000"/>
            <a:ext cx="2743200" cy="1554480"/>
          </a:xfrm>
          <a:prstGeom prst="roundRect">
            <a:avLst>
              <a:gd name="adj" fmla="val 4706"/>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9" name="Text 17"/>
          <p:cNvSpPr/>
          <p:nvPr/>
        </p:nvSpPr>
        <p:spPr>
          <a:xfrm>
            <a:off x="8115300" y="2423160"/>
            <a:ext cx="2377440" cy="228600"/>
          </a:xfrm>
          <a:prstGeom prst="rect">
            <a:avLst/>
          </a:prstGeom>
          <a:noFill/>
          <a:ln/>
        </p:spPr>
        <p:txBody>
          <a:bodyPr wrap="square" rtlCol="0" anchor="ctr"/>
          <a:lstStyle/>
          <a:p>
            <a:pPr indent="0" marL="0">
              <a:buNone/>
            </a:pPr>
            <a:r>
              <a:rPr lang="en-US" sz="1050" b="1" spc="150" kern="0" dirty="0">
                <a:solidFill>
                  <a:srgbClr val="0057E7"/>
                </a:solidFill>
                <a:latin typeface="GT America" pitchFamily="34" charset="0"/>
                <a:ea typeface="GT America" pitchFamily="34" charset="-122"/>
                <a:cs typeface="GT America" pitchFamily="34" charset="-120"/>
              </a:rPr>
              <a:t>PHASE 3 · 2025</a:t>
            </a:r>
            <a:endParaRPr lang="en-US" sz="1050" dirty="0"/>
          </a:p>
        </p:txBody>
      </p:sp>
      <p:sp>
        <p:nvSpPr>
          <p:cNvPr id="20" name="Text 18"/>
          <p:cNvSpPr/>
          <p:nvPr/>
        </p:nvSpPr>
        <p:spPr>
          <a:xfrm>
            <a:off x="8115300" y="2697480"/>
            <a:ext cx="2377440" cy="502920"/>
          </a:xfrm>
          <a:prstGeom prst="rect">
            <a:avLst/>
          </a:prstGeom>
          <a:noFill/>
          <a:ln/>
        </p:spPr>
        <p:txBody>
          <a:bodyPr wrap="square" rtlCol="0" anchor="ctr"/>
          <a:lstStyle/>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Asset-Class</a:t>
            </a:r>
            <a:endParaRPr lang="en-US" sz="1450" dirty="0"/>
          </a:p>
          <a:p>
            <a:pPr indent="0" marL="0">
              <a:lnSpc>
                <a:spcPct val="105000"/>
              </a:lnSpc>
              <a:buNone/>
            </a:pPr>
            <a:r>
              <a:rPr lang="en-US" sz="1450" b="1" dirty="0">
                <a:solidFill>
                  <a:srgbClr val="0A1264"/>
                </a:solidFill>
                <a:latin typeface="GT America" pitchFamily="34" charset="0"/>
                <a:ea typeface="GT America" pitchFamily="34" charset="-122"/>
                <a:cs typeface="GT America" pitchFamily="34" charset="-120"/>
              </a:rPr>
              <a:t>Offerings</a:t>
            </a:r>
            <a:endParaRPr lang="en-US" sz="1450" dirty="0"/>
          </a:p>
        </p:txBody>
      </p:sp>
      <p:sp>
        <p:nvSpPr>
          <p:cNvPr id="21" name="Text 19"/>
          <p:cNvSpPr/>
          <p:nvPr/>
        </p:nvSpPr>
        <p:spPr>
          <a:xfrm>
            <a:off x="8115300" y="3246120"/>
            <a:ext cx="2377440" cy="548640"/>
          </a:xfrm>
          <a:prstGeom prst="rect">
            <a:avLst/>
          </a:prstGeom>
          <a:noFill/>
          <a:ln/>
        </p:spPr>
        <p:txBody>
          <a:bodyPr wrap="square" rtlCol="0" anchor="ctr"/>
          <a:lstStyle/>
          <a:p>
            <a:pPr indent="0" marL="0">
              <a:lnSpc>
                <a:spcPct val="115000"/>
              </a:lnSpc>
              <a:buNone/>
            </a:pPr>
            <a:r>
              <a:rPr lang="en-US" sz="1000" i="1" dirty="0">
                <a:solidFill>
                  <a:srgbClr val="5B6472"/>
                </a:solidFill>
                <a:latin typeface="GT America" pitchFamily="34" charset="0"/>
                <a:ea typeface="GT America" pitchFamily="34" charset="-122"/>
                <a:cs typeface="GT America" pitchFamily="34" charset="-120"/>
              </a:rPr>
              <a:t>CRE, Agriculture, and Small Business offerings launched</a:t>
            </a:r>
            <a:endParaRPr lang="en-US" sz="1000" dirty="0"/>
          </a:p>
        </p:txBody>
      </p:sp>
      <p:sp>
        <p:nvSpPr>
          <p:cNvPr id="22" name="Shape 20"/>
          <p:cNvSpPr/>
          <p:nvPr/>
        </p:nvSpPr>
        <p:spPr>
          <a:xfrm>
            <a:off x="9304020" y="3840480"/>
            <a:ext cx="0" cy="173736"/>
          </a:xfrm>
          <a:prstGeom prst="line">
            <a:avLst/>
          </a:prstGeom>
          <a:noFill/>
          <a:ln w="12700">
            <a:solidFill>
              <a:srgbClr val="DCE1EC"/>
            </a:solidFill>
            <a:prstDash val="solid"/>
          </a:ln>
        </p:spPr>
      </p:sp>
      <p:sp>
        <p:nvSpPr>
          <p:cNvPr id="23" name="Shape 21"/>
          <p:cNvSpPr/>
          <p:nvPr/>
        </p:nvSpPr>
        <p:spPr>
          <a:xfrm>
            <a:off x="457200" y="4663440"/>
            <a:ext cx="11274552" cy="1051560"/>
          </a:xfrm>
          <a:prstGeom prst="roundRect">
            <a:avLst>
              <a:gd name="adj" fmla="val 695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4" name="Text 22"/>
          <p:cNvSpPr/>
          <p:nvPr/>
        </p:nvSpPr>
        <p:spPr>
          <a:xfrm>
            <a:off x="822960" y="4663440"/>
            <a:ext cx="10561320" cy="1051560"/>
          </a:xfrm>
          <a:prstGeom prst="rect">
            <a:avLst/>
          </a:prstGeom>
          <a:noFill/>
          <a:ln/>
        </p:spPr>
        <p:txBody>
          <a:bodyPr wrap="square" rtlCol="0" anchor="ctr"/>
          <a:lstStyle/>
          <a:p>
            <a:pPr algn="l" indent="0" marL="0">
              <a:lnSpc>
                <a:spcPct val="130000"/>
              </a:lnSpc>
              <a:buNone/>
            </a:pPr>
            <a:r>
              <a:rPr lang="en-US" sz="1450" i="1" dirty="0">
                <a:solidFill>
                  <a:srgbClr val="10142B"/>
                </a:solidFill>
                <a:latin typeface="GT America" pitchFamily="34" charset="0"/>
                <a:ea typeface="GT America" pitchFamily="34" charset="-122"/>
                <a:cs typeface="GT America" pitchFamily="34" charset="-120"/>
              </a:rPr>
              <a:t>Each phase broadened portfolio depth — from core lending workflows, to AI-assisted execution, to asset-class specialization — without fragmenting the customer story.</a:t>
            </a:r>
            <a:endParaRPr lang="en-US" sz="1450" dirty="0"/>
          </a:p>
        </p:txBody>
      </p:sp>
      <p:sp>
        <p:nvSpPr>
          <p:cNvPr id="25" name="Text 2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PHASED PORTFOLIO EXPANSION</a:t>
            </a:r>
            <a:endParaRPr lang="en-US" sz="900" dirty="0"/>
          </a:p>
        </p:txBody>
      </p:sp>
      <p:sp>
        <p:nvSpPr>
          <p:cNvPr id="26" name="Text 2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5 / 23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MY ROLE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Connecting Strategy to Execution</a:t>
            </a:r>
            <a:endParaRPr lang="en-US" sz="2800" dirty="0"/>
          </a:p>
        </p:txBody>
      </p:sp>
      <p:sp>
        <p:nvSpPr>
          <p:cNvPr id="4" name="Shape 2"/>
          <p:cNvSpPr/>
          <p:nvPr/>
        </p:nvSpPr>
        <p:spPr>
          <a:xfrm>
            <a:off x="457200" y="1783080"/>
            <a:ext cx="4206240" cy="4160520"/>
          </a:xfrm>
          <a:prstGeom prst="roundRect">
            <a:avLst>
              <a:gd name="adj" fmla="val 1758"/>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777240" y="2057400"/>
            <a:ext cx="3566160" cy="365760"/>
          </a:xfrm>
          <a:prstGeom prst="rect">
            <a:avLst/>
          </a:prstGeom>
          <a:noFill/>
          <a:ln/>
        </p:spPr>
        <p:txBody>
          <a:bodyPr wrap="square" rtlCol="0" anchor="ctr"/>
          <a:lstStyle/>
          <a:p>
            <a:pPr indent="0" marL="0">
              <a:buNone/>
            </a:pPr>
            <a:r>
              <a:rPr lang="en-US" sz="1500" b="1" spc="200" kern="0" dirty="0">
                <a:solidFill>
                  <a:srgbClr val="0057E7"/>
                </a:solidFill>
                <a:latin typeface="GT America" pitchFamily="34" charset="0"/>
                <a:ea typeface="GT America" pitchFamily="34" charset="-122"/>
                <a:cs typeface="GT America" pitchFamily="34" charset="-120"/>
              </a:rPr>
              <a:t>STRATEGY</a:t>
            </a:r>
            <a:endParaRPr lang="en-US" sz="1500" dirty="0"/>
          </a:p>
        </p:txBody>
      </p:sp>
      <p:sp>
        <p:nvSpPr>
          <p:cNvPr id="6" name="Shape 4"/>
          <p:cNvSpPr/>
          <p:nvPr/>
        </p:nvSpPr>
        <p:spPr>
          <a:xfrm>
            <a:off x="777240" y="2697480"/>
            <a:ext cx="82296" cy="82296"/>
          </a:xfrm>
          <a:prstGeom prst="ellipse">
            <a:avLst/>
          </a:prstGeom>
          <a:solidFill>
            <a:srgbClr val="0057E7"/>
          </a:solidFill>
          <a:ln/>
        </p:spPr>
      </p:sp>
      <p:sp>
        <p:nvSpPr>
          <p:cNvPr id="7" name="Text 5"/>
          <p:cNvSpPr/>
          <p:nvPr/>
        </p:nvSpPr>
        <p:spPr>
          <a:xfrm>
            <a:off x="1005840" y="2578608"/>
            <a:ext cx="3337560" cy="320040"/>
          </a:xfrm>
          <a:prstGeom prst="rect">
            <a:avLst/>
          </a:prstGeom>
          <a:noFill/>
          <a:ln/>
        </p:spPr>
        <p:txBody>
          <a:bodyPr wrap="square" rtlCol="0" anchor="ctr"/>
          <a:lstStyle/>
          <a:p>
            <a:pPr indent="0" marL="0">
              <a:lnSpc>
                <a:spcPct val="105000"/>
              </a:lnSpc>
              <a:buNone/>
            </a:pPr>
            <a:r>
              <a:rPr lang="en-US" sz="1300" b="1" dirty="0">
                <a:solidFill>
                  <a:srgbClr val="FFFFFF"/>
                </a:solidFill>
                <a:latin typeface="GT America" pitchFamily="34" charset="0"/>
                <a:ea typeface="GT America" pitchFamily="34" charset="-122"/>
                <a:cs typeface="GT America" pitchFamily="34" charset="-120"/>
              </a:rPr>
              <a:t>Portfolio &amp; Product Understanding</a:t>
            </a:r>
            <a:endParaRPr lang="en-US" sz="1300" dirty="0"/>
          </a:p>
        </p:txBody>
      </p:sp>
      <p:sp>
        <p:nvSpPr>
          <p:cNvPr id="8" name="Text 6"/>
          <p:cNvSpPr/>
          <p:nvPr/>
        </p:nvSpPr>
        <p:spPr>
          <a:xfrm>
            <a:off x="1005840" y="2871216"/>
            <a:ext cx="3337560" cy="502920"/>
          </a:xfrm>
          <a:prstGeom prst="rect">
            <a:avLst/>
          </a:prstGeom>
          <a:noFill/>
          <a:ln/>
        </p:spPr>
        <p:txBody>
          <a:bodyPr wrap="square" rtlCol="0" anchor="ctr"/>
          <a:lstStyle/>
          <a:p>
            <a:pPr indent="0" marL="0">
              <a:lnSpc>
                <a:spcPct val="115000"/>
              </a:lnSpc>
              <a:buNone/>
            </a:pPr>
            <a:r>
              <a:rPr lang="en-US" sz="1050" dirty="0">
                <a:solidFill>
                  <a:srgbClr val="9FB0CC"/>
                </a:solidFill>
                <a:latin typeface="GT America" pitchFamily="34" charset="0"/>
                <a:ea typeface="GT America" pitchFamily="34" charset="-122"/>
                <a:cs typeface="GT America" pitchFamily="34" charset="-120"/>
              </a:rPr>
              <a:t>Collaborated with product teams to understand lending solutions</a:t>
            </a:r>
            <a:endParaRPr lang="en-US" sz="1050" dirty="0"/>
          </a:p>
        </p:txBody>
      </p:sp>
      <p:sp>
        <p:nvSpPr>
          <p:cNvPr id="9" name="Shape 7"/>
          <p:cNvSpPr/>
          <p:nvPr/>
        </p:nvSpPr>
        <p:spPr>
          <a:xfrm>
            <a:off x="777240" y="3685032"/>
            <a:ext cx="82296" cy="82296"/>
          </a:xfrm>
          <a:prstGeom prst="ellipse">
            <a:avLst/>
          </a:prstGeom>
          <a:solidFill>
            <a:srgbClr val="0057E7"/>
          </a:solidFill>
          <a:ln/>
        </p:spPr>
      </p:sp>
      <p:sp>
        <p:nvSpPr>
          <p:cNvPr id="10" name="Text 8"/>
          <p:cNvSpPr/>
          <p:nvPr/>
        </p:nvSpPr>
        <p:spPr>
          <a:xfrm>
            <a:off x="1005840" y="3566160"/>
            <a:ext cx="3337560" cy="320040"/>
          </a:xfrm>
          <a:prstGeom prst="rect">
            <a:avLst/>
          </a:prstGeom>
          <a:noFill/>
          <a:ln/>
        </p:spPr>
        <p:txBody>
          <a:bodyPr wrap="square" rtlCol="0" anchor="ctr"/>
          <a:lstStyle/>
          <a:p>
            <a:pPr indent="0" marL="0">
              <a:lnSpc>
                <a:spcPct val="105000"/>
              </a:lnSpc>
              <a:buNone/>
            </a:pPr>
            <a:r>
              <a:rPr lang="en-US" sz="1300" b="1" dirty="0">
                <a:solidFill>
                  <a:srgbClr val="FFFFFF"/>
                </a:solidFill>
                <a:latin typeface="GT America" pitchFamily="34" charset="0"/>
                <a:ea typeface="GT America" pitchFamily="34" charset="-122"/>
                <a:cs typeface="GT America" pitchFamily="34" charset="-120"/>
              </a:rPr>
              <a:t>Customer &amp; Buyer Research</a:t>
            </a:r>
            <a:endParaRPr lang="en-US" sz="1300" dirty="0"/>
          </a:p>
        </p:txBody>
      </p:sp>
      <p:sp>
        <p:nvSpPr>
          <p:cNvPr id="11" name="Text 9"/>
          <p:cNvSpPr/>
          <p:nvPr/>
        </p:nvSpPr>
        <p:spPr>
          <a:xfrm>
            <a:off x="1005840" y="3858768"/>
            <a:ext cx="3337560" cy="502920"/>
          </a:xfrm>
          <a:prstGeom prst="rect">
            <a:avLst/>
          </a:prstGeom>
          <a:noFill/>
          <a:ln/>
        </p:spPr>
        <p:txBody>
          <a:bodyPr wrap="square" rtlCol="0" anchor="ctr"/>
          <a:lstStyle/>
          <a:p>
            <a:pPr indent="0" marL="0">
              <a:lnSpc>
                <a:spcPct val="115000"/>
              </a:lnSpc>
              <a:buNone/>
            </a:pPr>
            <a:r>
              <a:rPr lang="en-US" sz="1050" dirty="0">
                <a:solidFill>
                  <a:srgbClr val="9FB0CC"/>
                </a:solidFill>
                <a:latin typeface="GT America" pitchFamily="34" charset="0"/>
                <a:ea typeface="GT America" pitchFamily="34" charset="-122"/>
                <a:cs typeface="GT America" pitchFamily="34" charset="-120"/>
              </a:rPr>
              <a:t>Researched ICPs, buyer personas, and regional needs</a:t>
            </a:r>
            <a:endParaRPr lang="en-US" sz="1050" dirty="0"/>
          </a:p>
        </p:txBody>
      </p:sp>
      <p:sp>
        <p:nvSpPr>
          <p:cNvPr id="12" name="Shape 10"/>
          <p:cNvSpPr/>
          <p:nvPr/>
        </p:nvSpPr>
        <p:spPr>
          <a:xfrm>
            <a:off x="777240" y="4672584"/>
            <a:ext cx="82296" cy="82296"/>
          </a:xfrm>
          <a:prstGeom prst="ellipse">
            <a:avLst/>
          </a:prstGeom>
          <a:solidFill>
            <a:srgbClr val="0057E7"/>
          </a:solidFill>
          <a:ln/>
        </p:spPr>
      </p:sp>
      <p:sp>
        <p:nvSpPr>
          <p:cNvPr id="13" name="Text 11"/>
          <p:cNvSpPr/>
          <p:nvPr/>
        </p:nvSpPr>
        <p:spPr>
          <a:xfrm>
            <a:off x="1005840" y="4553712"/>
            <a:ext cx="3337560" cy="320040"/>
          </a:xfrm>
          <a:prstGeom prst="rect">
            <a:avLst/>
          </a:prstGeom>
          <a:noFill/>
          <a:ln/>
        </p:spPr>
        <p:txBody>
          <a:bodyPr wrap="square" rtlCol="0" anchor="ctr"/>
          <a:lstStyle/>
          <a:p>
            <a:pPr indent="0" marL="0">
              <a:lnSpc>
                <a:spcPct val="105000"/>
              </a:lnSpc>
              <a:buNone/>
            </a:pPr>
            <a:r>
              <a:rPr lang="en-US" sz="1300" b="1" dirty="0">
                <a:solidFill>
                  <a:srgbClr val="FFFFFF"/>
                </a:solidFill>
                <a:latin typeface="GT America" pitchFamily="34" charset="0"/>
                <a:ea typeface="GT America" pitchFamily="34" charset="-122"/>
                <a:cs typeface="GT America" pitchFamily="34" charset="-120"/>
              </a:rPr>
              <a:t>Value Proposition &amp; Messaging</a:t>
            </a:r>
            <a:endParaRPr lang="en-US" sz="1300" dirty="0"/>
          </a:p>
        </p:txBody>
      </p:sp>
      <p:sp>
        <p:nvSpPr>
          <p:cNvPr id="14" name="Text 12"/>
          <p:cNvSpPr/>
          <p:nvPr/>
        </p:nvSpPr>
        <p:spPr>
          <a:xfrm>
            <a:off x="1005840" y="4846320"/>
            <a:ext cx="3337560" cy="502920"/>
          </a:xfrm>
          <a:prstGeom prst="rect">
            <a:avLst/>
          </a:prstGeom>
          <a:noFill/>
          <a:ln/>
        </p:spPr>
        <p:txBody>
          <a:bodyPr wrap="square" rtlCol="0" anchor="ctr"/>
          <a:lstStyle/>
          <a:p>
            <a:pPr indent="0" marL="0">
              <a:lnSpc>
                <a:spcPct val="115000"/>
              </a:lnSpc>
              <a:buNone/>
            </a:pPr>
            <a:r>
              <a:rPr lang="en-US" sz="1050" dirty="0">
                <a:solidFill>
                  <a:srgbClr val="9FB0CC"/>
                </a:solidFill>
                <a:latin typeface="GT America" pitchFamily="34" charset="0"/>
                <a:ea typeface="GT America" pitchFamily="34" charset="-122"/>
                <a:cs typeface="GT America" pitchFamily="34" charset="-120"/>
              </a:rPr>
              <a:t>Shifted communication from features to customer value</a:t>
            </a:r>
            <a:endParaRPr lang="en-US" sz="1050" dirty="0"/>
          </a:p>
        </p:txBody>
      </p:sp>
      <p:sp>
        <p:nvSpPr>
          <p:cNvPr id="15" name="Shape 13"/>
          <p:cNvSpPr/>
          <p:nvPr/>
        </p:nvSpPr>
        <p:spPr>
          <a:xfrm>
            <a:off x="4800600" y="3781044"/>
            <a:ext cx="548640" cy="164592"/>
          </a:xfrm>
          <a:prstGeom prst="rightArrow">
            <a:avLst/>
          </a:prstGeom>
          <a:solidFill>
            <a:srgbClr val="0057E7"/>
          </a:solidFill>
          <a:ln/>
        </p:spPr>
      </p:sp>
      <p:sp>
        <p:nvSpPr>
          <p:cNvPr id="16" name="Shape 14"/>
          <p:cNvSpPr/>
          <p:nvPr/>
        </p:nvSpPr>
        <p:spPr>
          <a:xfrm>
            <a:off x="5532120" y="1783080"/>
            <a:ext cx="6199632" cy="4160520"/>
          </a:xfrm>
          <a:prstGeom prst="roundRect">
            <a:avLst>
              <a:gd name="adj" fmla="val 1758"/>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5852160" y="2057400"/>
            <a:ext cx="5559552" cy="365760"/>
          </a:xfrm>
          <a:prstGeom prst="rect">
            <a:avLst/>
          </a:prstGeom>
          <a:noFill/>
          <a:ln/>
        </p:spPr>
        <p:txBody>
          <a:bodyPr wrap="square" rtlCol="0" anchor="ctr"/>
          <a:lstStyle/>
          <a:p>
            <a:pPr indent="0" marL="0">
              <a:buNone/>
            </a:pPr>
            <a:r>
              <a:rPr lang="en-US" sz="1500" b="1" spc="200" kern="0" dirty="0">
                <a:solidFill>
                  <a:srgbClr val="2E4DA6"/>
                </a:solidFill>
                <a:latin typeface="GT America" pitchFamily="34" charset="0"/>
                <a:ea typeface="GT America" pitchFamily="34" charset="-122"/>
                <a:cs typeface="GT America" pitchFamily="34" charset="-120"/>
              </a:rPr>
              <a:t>EXECUTION</a:t>
            </a:r>
            <a:endParaRPr lang="en-US" sz="1500" dirty="0"/>
          </a:p>
        </p:txBody>
      </p:sp>
      <p:sp>
        <p:nvSpPr>
          <p:cNvPr id="18" name="Shape 16"/>
          <p:cNvSpPr/>
          <p:nvPr/>
        </p:nvSpPr>
        <p:spPr>
          <a:xfrm>
            <a:off x="5852160" y="2651760"/>
            <a:ext cx="82296" cy="82296"/>
          </a:xfrm>
          <a:prstGeom prst="ellipse">
            <a:avLst/>
          </a:prstGeom>
          <a:solidFill>
            <a:srgbClr val="2E4DA6"/>
          </a:solidFill>
          <a:ln/>
        </p:spPr>
      </p:sp>
      <p:sp>
        <p:nvSpPr>
          <p:cNvPr id="19" name="Text 17"/>
          <p:cNvSpPr/>
          <p:nvPr/>
        </p:nvSpPr>
        <p:spPr>
          <a:xfrm>
            <a:off x="6080760" y="2532888"/>
            <a:ext cx="5330952" cy="274320"/>
          </a:xfrm>
          <a:prstGeom prst="rect">
            <a:avLst/>
          </a:prstGeom>
          <a:noFill/>
          <a:ln/>
        </p:spPr>
        <p:txBody>
          <a:bodyPr wrap="square" rtlCol="0" anchor="ctr"/>
          <a:lstStyle/>
          <a:p>
            <a:pPr indent="0" marL="0">
              <a:lnSpc>
                <a:spcPct val="100000"/>
              </a:lnSpc>
              <a:buNone/>
            </a:pPr>
            <a:r>
              <a:rPr lang="en-US" sz="1250" b="1" dirty="0">
                <a:solidFill>
                  <a:srgbClr val="0A1264"/>
                </a:solidFill>
                <a:latin typeface="GT America" pitchFamily="34" charset="0"/>
                <a:ea typeface="GT America" pitchFamily="34" charset="-122"/>
                <a:cs typeface="GT America" pitchFamily="34" charset="-120"/>
              </a:rPr>
              <a:t>Content Development</a:t>
            </a:r>
            <a:endParaRPr lang="en-US" sz="1250" dirty="0"/>
          </a:p>
        </p:txBody>
      </p:sp>
      <p:sp>
        <p:nvSpPr>
          <p:cNvPr id="20" name="Text 18"/>
          <p:cNvSpPr/>
          <p:nvPr/>
        </p:nvSpPr>
        <p:spPr>
          <a:xfrm>
            <a:off x="6080760" y="2788920"/>
            <a:ext cx="5330952" cy="365760"/>
          </a:xfrm>
          <a:prstGeom prst="rect">
            <a:avLst/>
          </a:prstGeom>
          <a:noFill/>
          <a:ln/>
        </p:spPr>
        <p:txBody>
          <a:bodyPr wrap="square" rtlCol="0" anchor="ctr"/>
          <a:lstStyle/>
          <a:p>
            <a:pPr indent="0" marL="0">
              <a:lnSpc>
                <a:spcPct val="110000"/>
              </a:lnSpc>
              <a:buNone/>
            </a:pPr>
            <a:r>
              <a:rPr lang="en-US" sz="1000" dirty="0">
                <a:solidFill>
                  <a:srgbClr val="5B6472"/>
                </a:solidFill>
                <a:latin typeface="GT America" pitchFamily="34" charset="0"/>
                <a:ea typeface="GT America" pitchFamily="34" charset="-122"/>
                <a:cs typeface="GT America" pitchFamily="34" charset="-120"/>
              </a:rPr>
              <a:t>Webpages, brochures, video scripts, “how it works” infographics, demo GIFs, campaign assets</a:t>
            </a:r>
            <a:endParaRPr lang="en-US" sz="1000" dirty="0"/>
          </a:p>
        </p:txBody>
      </p:sp>
      <p:sp>
        <p:nvSpPr>
          <p:cNvPr id="21" name="Shape 19"/>
          <p:cNvSpPr/>
          <p:nvPr/>
        </p:nvSpPr>
        <p:spPr>
          <a:xfrm>
            <a:off x="5852160" y="3310128"/>
            <a:ext cx="82296" cy="82296"/>
          </a:xfrm>
          <a:prstGeom prst="ellipse">
            <a:avLst/>
          </a:prstGeom>
          <a:solidFill>
            <a:srgbClr val="2E4DA6"/>
          </a:solidFill>
          <a:ln/>
        </p:spPr>
      </p:sp>
      <p:sp>
        <p:nvSpPr>
          <p:cNvPr id="22" name="Text 20"/>
          <p:cNvSpPr/>
          <p:nvPr/>
        </p:nvSpPr>
        <p:spPr>
          <a:xfrm>
            <a:off x="6080760" y="3191256"/>
            <a:ext cx="5330952" cy="274320"/>
          </a:xfrm>
          <a:prstGeom prst="rect">
            <a:avLst/>
          </a:prstGeom>
          <a:noFill/>
          <a:ln/>
        </p:spPr>
        <p:txBody>
          <a:bodyPr wrap="square" rtlCol="0" anchor="ctr"/>
          <a:lstStyle/>
          <a:p>
            <a:pPr indent="0" marL="0">
              <a:lnSpc>
                <a:spcPct val="100000"/>
              </a:lnSpc>
              <a:buNone/>
            </a:pPr>
            <a:r>
              <a:rPr lang="en-US" sz="1250" b="1" dirty="0">
                <a:solidFill>
                  <a:srgbClr val="0A1264"/>
                </a:solidFill>
                <a:latin typeface="GT America" pitchFamily="34" charset="0"/>
                <a:ea typeface="GT America" pitchFamily="34" charset="-122"/>
                <a:cs typeface="GT America" pitchFamily="34" charset="-120"/>
              </a:rPr>
              <a:t>SEO</a:t>
            </a:r>
            <a:endParaRPr lang="en-US" sz="1250" dirty="0"/>
          </a:p>
        </p:txBody>
      </p:sp>
      <p:sp>
        <p:nvSpPr>
          <p:cNvPr id="23" name="Text 21"/>
          <p:cNvSpPr/>
          <p:nvPr/>
        </p:nvSpPr>
        <p:spPr>
          <a:xfrm>
            <a:off x="6080760" y="3447288"/>
            <a:ext cx="5330952" cy="365760"/>
          </a:xfrm>
          <a:prstGeom prst="rect">
            <a:avLst/>
          </a:prstGeom>
          <a:noFill/>
          <a:ln/>
        </p:spPr>
        <p:txBody>
          <a:bodyPr wrap="square" rtlCol="0" anchor="ctr"/>
          <a:lstStyle/>
          <a:p>
            <a:pPr indent="0" marL="0">
              <a:lnSpc>
                <a:spcPct val="110000"/>
              </a:lnSpc>
              <a:buNone/>
            </a:pPr>
            <a:r>
              <a:rPr lang="en-US" sz="1000" dirty="0">
                <a:solidFill>
                  <a:srgbClr val="5B6472"/>
                </a:solidFill>
                <a:latin typeface="GT America" pitchFamily="34" charset="0"/>
                <a:ea typeface="GT America" pitchFamily="34" charset="-122"/>
                <a:cs typeface="GT America" pitchFamily="34" charset="-120"/>
              </a:rPr>
              <a:t>Keyword research and audience language informing content</a:t>
            </a:r>
            <a:endParaRPr lang="en-US" sz="1000" dirty="0"/>
          </a:p>
        </p:txBody>
      </p:sp>
      <p:sp>
        <p:nvSpPr>
          <p:cNvPr id="24" name="Shape 22"/>
          <p:cNvSpPr/>
          <p:nvPr/>
        </p:nvSpPr>
        <p:spPr>
          <a:xfrm>
            <a:off x="5852160" y="3968496"/>
            <a:ext cx="82296" cy="82296"/>
          </a:xfrm>
          <a:prstGeom prst="ellipse">
            <a:avLst/>
          </a:prstGeom>
          <a:solidFill>
            <a:srgbClr val="2E4DA6"/>
          </a:solidFill>
          <a:ln/>
        </p:spPr>
      </p:sp>
      <p:sp>
        <p:nvSpPr>
          <p:cNvPr id="25" name="Text 23"/>
          <p:cNvSpPr/>
          <p:nvPr/>
        </p:nvSpPr>
        <p:spPr>
          <a:xfrm>
            <a:off x="6080760" y="3849624"/>
            <a:ext cx="5330952" cy="274320"/>
          </a:xfrm>
          <a:prstGeom prst="rect">
            <a:avLst/>
          </a:prstGeom>
          <a:noFill/>
          <a:ln/>
        </p:spPr>
        <p:txBody>
          <a:bodyPr wrap="square" rtlCol="0" anchor="ctr"/>
          <a:lstStyle/>
          <a:p>
            <a:pPr indent="0" marL="0">
              <a:lnSpc>
                <a:spcPct val="100000"/>
              </a:lnSpc>
              <a:buNone/>
            </a:pPr>
            <a:r>
              <a:rPr lang="en-US" sz="1250" b="1" dirty="0">
                <a:solidFill>
                  <a:srgbClr val="0A1264"/>
                </a:solidFill>
                <a:latin typeface="GT America" pitchFamily="34" charset="0"/>
                <a:ea typeface="GT America" pitchFamily="34" charset="-122"/>
                <a:cs typeface="GT America" pitchFamily="34" charset="-120"/>
              </a:rPr>
              <a:t>Campaign Intelligence</a:t>
            </a:r>
            <a:endParaRPr lang="en-US" sz="1250" dirty="0"/>
          </a:p>
        </p:txBody>
      </p:sp>
      <p:sp>
        <p:nvSpPr>
          <p:cNvPr id="26" name="Text 24"/>
          <p:cNvSpPr/>
          <p:nvPr/>
        </p:nvSpPr>
        <p:spPr>
          <a:xfrm>
            <a:off x="6080760" y="4105656"/>
            <a:ext cx="5330952" cy="365760"/>
          </a:xfrm>
          <a:prstGeom prst="rect">
            <a:avLst/>
          </a:prstGeom>
          <a:noFill/>
          <a:ln/>
        </p:spPr>
        <p:txBody>
          <a:bodyPr wrap="square" rtlCol="0" anchor="ctr"/>
          <a:lstStyle/>
          <a:p>
            <a:pPr indent="0" marL="0">
              <a:lnSpc>
                <a:spcPct val="110000"/>
              </a:lnSpc>
              <a:buNone/>
            </a:pPr>
            <a:r>
              <a:rPr lang="en-US" sz="1000" dirty="0">
                <a:solidFill>
                  <a:srgbClr val="5B6472"/>
                </a:solidFill>
                <a:latin typeface="GT America" pitchFamily="34" charset="0"/>
                <a:ea typeface="GT America" pitchFamily="34" charset="-122"/>
                <a:cs typeface="GT America" pitchFamily="34" charset="-120"/>
              </a:rPr>
              <a:t>Briefs, ad copy, performance monitoring, and optimization support</a:t>
            </a:r>
            <a:endParaRPr lang="en-US" sz="1000" dirty="0"/>
          </a:p>
        </p:txBody>
      </p:sp>
      <p:sp>
        <p:nvSpPr>
          <p:cNvPr id="27" name="Shape 25"/>
          <p:cNvSpPr/>
          <p:nvPr/>
        </p:nvSpPr>
        <p:spPr>
          <a:xfrm>
            <a:off x="5852160" y="4626864"/>
            <a:ext cx="82296" cy="82296"/>
          </a:xfrm>
          <a:prstGeom prst="ellipse">
            <a:avLst/>
          </a:prstGeom>
          <a:solidFill>
            <a:srgbClr val="2E4DA6"/>
          </a:solidFill>
          <a:ln/>
        </p:spPr>
      </p:sp>
      <p:sp>
        <p:nvSpPr>
          <p:cNvPr id="28" name="Text 26"/>
          <p:cNvSpPr/>
          <p:nvPr/>
        </p:nvSpPr>
        <p:spPr>
          <a:xfrm>
            <a:off x="6080760" y="4507992"/>
            <a:ext cx="5330952" cy="274320"/>
          </a:xfrm>
          <a:prstGeom prst="rect">
            <a:avLst/>
          </a:prstGeom>
          <a:noFill/>
          <a:ln/>
        </p:spPr>
        <p:txBody>
          <a:bodyPr wrap="square" rtlCol="0" anchor="ctr"/>
          <a:lstStyle/>
          <a:p>
            <a:pPr indent="0" marL="0">
              <a:lnSpc>
                <a:spcPct val="100000"/>
              </a:lnSpc>
              <a:buNone/>
            </a:pPr>
            <a:r>
              <a:rPr lang="en-US" sz="1250" b="1" dirty="0">
                <a:solidFill>
                  <a:srgbClr val="0A1264"/>
                </a:solidFill>
                <a:latin typeface="GT America" pitchFamily="34" charset="0"/>
                <a:ea typeface="GT America" pitchFamily="34" charset="-122"/>
                <a:cs typeface="GT America" pitchFamily="34" charset="-120"/>
              </a:rPr>
              <a:t>Website Analytics</a:t>
            </a:r>
            <a:endParaRPr lang="en-US" sz="1250" dirty="0"/>
          </a:p>
        </p:txBody>
      </p:sp>
      <p:sp>
        <p:nvSpPr>
          <p:cNvPr id="29" name="Text 27"/>
          <p:cNvSpPr/>
          <p:nvPr/>
        </p:nvSpPr>
        <p:spPr>
          <a:xfrm>
            <a:off x="6080760" y="4764024"/>
            <a:ext cx="5330952" cy="365760"/>
          </a:xfrm>
          <a:prstGeom prst="rect">
            <a:avLst/>
          </a:prstGeom>
          <a:noFill/>
          <a:ln/>
        </p:spPr>
        <p:txBody>
          <a:bodyPr wrap="square" rtlCol="0" anchor="ctr"/>
          <a:lstStyle/>
          <a:p>
            <a:pPr indent="0" marL="0">
              <a:lnSpc>
                <a:spcPct val="110000"/>
              </a:lnSpc>
              <a:buNone/>
            </a:pPr>
            <a:r>
              <a:rPr lang="en-US" sz="1000" dirty="0">
                <a:solidFill>
                  <a:srgbClr val="5B6472"/>
                </a:solidFill>
                <a:latin typeface="GT America" pitchFamily="34" charset="0"/>
                <a:ea typeface="GT America" pitchFamily="34" charset="-122"/>
                <a:cs typeface="GT America" pitchFamily="34" charset="-120"/>
              </a:rPr>
              <a:t>Attribution analysis and heatmaps supporting page optimization</a:t>
            </a:r>
            <a:endParaRPr lang="en-US" sz="1000" dirty="0"/>
          </a:p>
        </p:txBody>
      </p:sp>
      <p:sp>
        <p:nvSpPr>
          <p:cNvPr id="30" name="Shape 28"/>
          <p:cNvSpPr/>
          <p:nvPr/>
        </p:nvSpPr>
        <p:spPr>
          <a:xfrm>
            <a:off x="5852160" y="5285232"/>
            <a:ext cx="82296" cy="82296"/>
          </a:xfrm>
          <a:prstGeom prst="ellipse">
            <a:avLst/>
          </a:prstGeom>
          <a:solidFill>
            <a:srgbClr val="2E4DA6"/>
          </a:solidFill>
          <a:ln/>
        </p:spPr>
      </p:sp>
      <p:sp>
        <p:nvSpPr>
          <p:cNvPr id="31" name="Text 29"/>
          <p:cNvSpPr/>
          <p:nvPr/>
        </p:nvSpPr>
        <p:spPr>
          <a:xfrm>
            <a:off x="6080760" y="5166360"/>
            <a:ext cx="5330952" cy="274320"/>
          </a:xfrm>
          <a:prstGeom prst="rect">
            <a:avLst/>
          </a:prstGeom>
          <a:noFill/>
          <a:ln/>
        </p:spPr>
        <p:txBody>
          <a:bodyPr wrap="square" rtlCol="0" anchor="ctr"/>
          <a:lstStyle/>
          <a:p>
            <a:pPr indent="0" marL="0">
              <a:lnSpc>
                <a:spcPct val="100000"/>
              </a:lnSpc>
              <a:buNone/>
            </a:pPr>
            <a:r>
              <a:rPr lang="en-US" sz="1250" b="1" dirty="0">
                <a:solidFill>
                  <a:srgbClr val="0A1264"/>
                </a:solidFill>
                <a:latin typeface="GT America" pitchFamily="34" charset="0"/>
                <a:ea typeface="GT America" pitchFamily="34" charset="-122"/>
                <a:cs typeface="GT America" pitchFamily="34" charset="-120"/>
              </a:rPr>
              <a:t>Sales Enablement</a:t>
            </a:r>
            <a:endParaRPr lang="en-US" sz="1250" dirty="0"/>
          </a:p>
        </p:txBody>
      </p:sp>
      <p:sp>
        <p:nvSpPr>
          <p:cNvPr id="32" name="Text 30"/>
          <p:cNvSpPr/>
          <p:nvPr/>
        </p:nvSpPr>
        <p:spPr>
          <a:xfrm>
            <a:off x="6080760" y="5422392"/>
            <a:ext cx="5330952" cy="365760"/>
          </a:xfrm>
          <a:prstGeom prst="rect">
            <a:avLst/>
          </a:prstGeom>
          <a:noFill/>
          <a:ln/>
        </p:spPr>
        <p:txBody>
          <a:bodyPr wrap="square" rtlCol="0" anchor="ctr"/>
          <a:lstStyle/>
          <a:p>
            <a:pPr indent="0" marL="0">
              <a:lnSpc>
                <a:spcPct val="110000"/>
              </a:lnSpc>
              <a:buNone/>
            </a:pPr>
            <a:r>
              <a:rPr lang="en-US" sz="1000" dirty="0">
                <a:solidFill>
                  <a:srgbClr val="5B6472"/>
                </a:solidFill>
                <a:latin typeface="GT America" pitchFamily="34" charset="0"/>
                <a:ea typeface="GT America" pitchFamily="34" charset="-122"/>
                <a:cs typeface="GT America" pitchFamily="34" charset="-120"/>
              </a:rPr>
              <a:t>Sales plays, battle cards, newsletters, and Salesforce reporting</a:t>
            </a:r>
            <a:endParaRPr lang="en-US" sz="1000" dirty="0"/>
          </a:p>
        </p:txBody>
      </p:sp>
      <p:sp>
        <p:nvSpPr>
          <p:cNvPr id="33" name="Text 31"/>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MY ROLE</a:t>
            </a:r>
            <a:endParaRPr lang="en-US" sz="900" dirty="0"/>
          </a:p>
        </p:txBody>
      </p:sp>
      <p:sp>
        <p:nvSpPr>
          <p:cNvPr id="34" name="Text 32"/>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6 / 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CUSTOMER &amp; BUYER UNDERSTANDING</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Persona-to-Workflow Framework</a:t>
            </a:r>
            <a:endParaRPr lang="en-US" sz="2800" dirty="0"/>
          </a:p>
        </p:txBody>
      </p:sp>
      <p:sp>
        <p:nvSpPr>
          <p:cNvPr id="4" name="Text 2"/>
          <p:cNvSpPr/>
          <p:nvPr/>
        </p:nvSpPr>
        <p:spPr>
          <a:xfrm>
            <a:off x="457200" y="1417320"/>
            <a:ext cx="91440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Illustrative framework — generalized lending roles, not confirmed company-specific personas.</a:t>
            </a:r>
            <a:endParaRPr lang="en-US" sz="1000" dirty="0"/>
          </a:p>
        </p:txBody>
      </p:sp>
      <p:sp>
        <p:nvSpPr>
          <p:cNvPr id="5" name="Shape 3"/>
          <p:cNvSpPr/>
          <p:nvPr/>
        </p:nvSpPr>
        <p:spPr>
          <a:xfrm>
            <a:off x="457200" y="1874520"/>
            <a:ext cx="2212848" cy="457200"/>
          </a:xfrm>
          <a:prstGeom prst="roundRect">
            <a:avLst>
              <a:gd name="adj" fmla="val 16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6" name="Text 4"/>
          <p:cNvSpPr/>
          <p:nvPr/>
        </p:nvSpPr>
        <p:spPr>
          <a:xfrm>
            <a:off x="566928" y="1874520"/>
            <a:ext cx="2029968" cy="457200"/>
          </a:xfrm>
          <a:prstGeom prst="rect">
            <a:avLst/>
          </a:prstGeom>
          <a:noFill/>
          <a:ln/>
        </p:spPr>
        <p:txBody>
          <a:bodyPr wrap="square" rtlCol="0" anchor="ctr"/>
          <a:lstStyle/>
          <a:p>
            <a:pPr indent="0" marL="0">
              <a:buNone/>
            </a:pPr>
            <a:r>
              <a:rPr lang="en-US" sz="1150" b="1" dirty="0">
                <a:solidFill>
                  <a:srgbClr val="FFFFFF"/>
                </a:solidFill>
                <a:latin typeface="GT America" pitchFamily="34" charset="0"/>
                <a:ea typeface="GT America" pitchFamily="34" charset="-122"/>
                <a:cs typeface="GT America" pitchFamily="34" charset="-120"/>
              </a:rPr>
              <a:t>Lending Role</a:t>
            </a:r>
            <a:endParaRPr lang="en-US" sz="1150" dirty="0"/>
          </a:p>
        </p:txBody>
      </p:sp>
      <p:sp>
        <p:nvSpPr>
          <p:cNvPr id="7" name="Shape 5"/>
          <p:cNvSpPr/>
          <p:nvPr/>
        </p:nvSpPr>
        <p:spPr>
          <a:xfrm>
            <a:off x="2743200" y="1874520"/>
            <a:ext cx="2807208" cy="457200"/>
          </a:xfrm>
          <a:prstGeom prst="roundRect">
            <a:avLst>
              <a:gd name="adj" fmla="val 16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8" name="Text 6"/>
          <p:cNvSpPr/>
          <p:nvPr/>
        </p:nvSpPr>
        <p:spPr>
          <a:xfrm>
            <a:off x="2852928" y="1874520"/>
            <a:ext cx="2624328" cy="457200"/>
          </a:xfrm>
          <a:prstGeom prst="rect">
            <a:avLst/>
          </a:prstGeom>
          <a:noFill/>
          <a:ln/>
        </p:spPr>
        <p:txBody>
          <a:bodyPr wrap="square" rtlCol="0" anchor="ctr"/>
          <a:lstStyle/>
          <a:p>
            <a:pPr indent="0" marL="0">
              <a:buNone/>
            </a:pPr>
            <a:r>
              <a:rPr lang="en-US" sz="1150" b="1" dirty="0">
                <a:solidFill>
                  <a:srgbClr val="FFFFFF"/>
                </a:solidFill>
                <a:latin typeface="GT America" pitchFamily="34" charset="0"/>
                <a:ea typeface="GT America" pitchFamily="34" charset="-122"/>
                <a:cs typeface="GT America" pitchFamily="34" charset="-120"/>
              </a:rPr>
              <a:t>Core Problem</a:t>
            </a:r>
            <a:endParaRPr lang="en-US" sz="1150" dirty="0"/>
          </a:p>
        </p:txBody>
      </p:sp>
      <p:sp>
        <p:nvSpPr>
          <p:cNvPr id="9" name="Shape 7"/>
          <p:cNvSpPr/>
          <p:nvPr/>
        </p:nvSpPr>
        <p:spPr>
          <a:xfrm>
            <a:off x="5623560" y="1874520"/>
            <a:ext cx="2944368" cy="457200"/>
          </a:xfrm>
          <a:prstGeom prst="roundRect">
            <a:avLst>
              <a:gd name="adj" fmla="val 16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0" name="Text 8"/>
          <p:cNvSpPr/>
          <p:nvPr/>
        </p:nvSpPr>
        <p:spPr>
          <a:xfrm>
            <a:off x="5733288" y="1874520"/>
            <a:ext cx="2761488" cy="457200"/>
          </a:xfrm>
          <a:prstGeom prst="rect">
            <a:avLst/>
          </a:prstGeom>
          <a:noFill/>
          <a:ln/>
        </p:spPr>
        <p:txBody>
          <a:bodyPr wrap="square" rtlCol="0" anchor="ctr"/>
          <a:lstStyle/>
          <a:p>
            <a:pPr indent="0" marL="0">
              <a:buNone/>
            </a:pPr>
            <a:r>
              <a:rPr lang="en-US" sz="1150" b="1" dirty="0">
                <a:solidFill>
                  <a:srgbClr val="FFFFFF"/>
                </a:solidFill>
                <a:latin typeface="GT America" pitchFamily="34" charset="0"/>
                <a:ea typeface="GT America" pitchFamily="34" charset="-122"/>
                <a:cs typeface="GT America" pitchFamily="34" charset="-120"/>
              </a:rPr>
              <a:t>Primary Workflow Need</a:t>
            </a:r>
            <a:endParaRPr lang="en-US" sz="1150" dirty="0"/>
          </a:p>
        </p:txBody>
      </p:sp>
      <p:sp>
        <p:nvSpPr>
          <p:cNvPr id="11" name="Shape 9"/>
          <p:cNvSpPr/>
          <p:nvPr/>
        </p:nvSpPr>
        <p:spPr>
          <a:xfrm>
            <a:off x="8641080" y="1874520"/>
            <a:ext cx="3017520" cy="457200"/>
          </a:xfrm>
          <a:prstGeom prst="roundRect">
            <a:avLst>
              <a:gd name="adj" fmla="val 16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2" name="Text 10"/>
          <p:cNvSpPr/>
          <p:nvPr/>
        </p:nvSpPr>
        <p:spPr>
          <a:xfrm>
            <a:off x="8750808" y="1874520"/>
            <a:ext cx="2834640" cy="457200"/>
          </a:xfrm>
          <a:prstGeom prst="rect">
            <a:avLst/>
          </a:prstGeom>
          <a:noFill/>
          <a:ln/>
        </p:spPr>
        <p:txBody>
          <a:bodyPr wrap="square" rtlCol="0" anchor="ctr"/>
          <a:lstStyle/>
          <a:p>
            <a:pPr indent="0" marL="0">
              <a:buNone/>
            </a:pPr>
            <a:r>
              <a:rPr lang="en-US" sz="1150" b="1" dirty="0">
                <a:solidFill>
                  <a:srgbClr val="FFFFFF"/>
                </a:solidFill>
                <a:latin typeface="GT America" pitchFamily="34" charset="0"/>
                <a:ea typeface="GT America" pitchFamily="34" charset="-122"/>
                <a:cs typeface="GT America" pitchFamily="34" charset="-120"/>
              </a:rPr>
              <a:t>Regional Consideration</a:t>
            </a:r>
            <a:endParaRPr lang="en-US" sz="1150" dirty="0"/>
          </a:p>
        </p:txBody>
      </p:sp>
      <p:sp>
        <p:nvSpPr>
          <p:cNvPr id="13" name="Shape 11"/>
          <p:cNvSpPr/>
          <p:nvPr/>
        </p:nvSpPr>
        <p:spPr>
          <a:xfrm>
            <a:off x="457200" y="2423160"/>
            <a:ext cx="2212848" cy="868680"/>
          </a:xfrm>
          <a:prstGeom prst="roundRect">
            <a:avLst>
              <a:gd name="adj" fmla="val 8421"/>
            </a:avLst>
          </a:prstGeom>
          <a:solidFill>
            <a:srgbClr val="EFF3FA"/>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4" name="Text 12"/>
          <p:cNvSpPr/>
          <p:nvPr/>
        </p:nvSpPr>
        <p:spPr>
          <a:xfrm>
            <a:off x="566928" y="2423160"/>
            <a:ext cx="2029968" cy="868680"/>
          </a:xfrm>
          <a:prstGeom prst="rect">
            <a:avLst/>
          </a:prstGeom>
          <a:noFill/>
          <a:ln/>
        </p:spPr>
        <p:txBody>
          <a:bodyPr wrap="square" rtlCol="0" anchor="ctr"/>
          <a:lstStyle/>
          <a:p>
            <a:pPr indent="0" marL="0">
              <a:lnSpc>
                <a:spcPct val="110000"/>
              </a:lnSpc>
              <a:buNone/>
            </a:pPr>
            <a:r>
              <a:rPr lang="en-US" sz="1200" b="1" dirty="0">
                <a:solidFill>
                  <a:srgbClr val="0A1264"/>
                </a:solidFill>
                <a:latin typeface="GT America" pitchFamily="34" charset="0"/>
                <a:ea typeface="GT America" pitchFamily="34" charset="-122"/>
                <a:cs typeface="GT America" pitchFamily="34" charset="-120"/>
              </a:rPr>
              <a:t>Credit / Underwriting</a:t>
            </a:r>
            <a:endParaRPr lang="en-US" sz="1200" dirty="0"/>
          </a:p>
        </p:txBody>
      </p:sp>
      <p:sp>
        <p:nvSpPr>
          <p:cNvPr id="15" name="Shape 13"/>
          <p:cNvSpPr/>
          <p:nvPr/>
        </p:nvSpPr>
        <p:spPr>
          <a:xfrm>
            <a:off x="2743200" y="2423160"/>
            <a:ext cx="280720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6" name="Text 14"/>
          <p:cNvSpPr/>
          <p:nvPr/>
        </p:nvSpPr>
        <p:spPr>
          <a:xfrm>
            <a:off x="2852928" y="2423160"/>
            <a:ext cx="262432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Manual spreading and inconsistent risk assessment</a:t>
            </a:r>
            <a:endParaRPr lang="en-US" sz="1050" dirty="0"/>
          </a:p>
        </p:txBody>
      </p:sp>
      <p:sp>
        <p:nvSpPr>
          <p:cNvPr id="17" name="Shape 15"/>
          <p:cNvSpPr/>
          <p:nvPr/>
        </p:nvSpPr>
        <p:spPr>
          <a:xfrm>
            <a:off x="5623560" y="2423160"/>
            <a:ext cx="294436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8" name="Text 16"/>
          <p:cNvSpPr/>
          <p:nvPr/>
        </p:nvSpPr>
        <p:spPr>
          <a:xfrm>
            <a:off x="5733288" y="2423160"/>
            <a:ext cx="276148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Faster, more consistent decisioning</a:t>
            </a:r>
            <a:endParaRPr lang="en-US" sz="1050" dirty="0"/>
          </a:p>
        </p:txBody>
      </p:sp>
      <p:sp>
        <p:nvSpPr>
          <p:cNvPr id="19" name="Shape 17"/>
          <p:cNvSpPr/>
          <p:nvPr/>
        </p:nvSpPr>
        <p:spPr>
          <a:xfrm>
            <a:off x="8641080" y="2423160"/>
            <a:ext cx="3017520"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0" name="Text 18"/>
          <p:cNvSpPr/>
          <p:nvPr/>
        </p:nvSpPr>
        <p:spPr>
          <a:xfrm>
            <a:off x="8750808" y="2423160"/>
            <a:ext cx="2834640"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Varies by lending regulation and data availability</a:t>
            </a:r>
            <a:endParaRPr lang="en-US" sz="1050" dirty="0"/>
          </a:p>
        </p:txBody>
      </p:sp>
      <p:sp>
        <p:nvSpPr>
          <p:cNvPr id="21" name="Shape 19"/>
          <p:cNvSpPr/>
          <p:nvPr/>
        </p:nvSpPr>
        <p:spPr>
          <a:xfrm>
            <a:off x="457200" y="3383280"/>
            <a:ext cx="2212848" cy="868680"/>
          </a:xfrm>
          <a:prstGeom prst="roundRect">
            <a:avLst>
              <a:gd name="adj" fmla="val 8421"/>
            </a:avLst>
          </a:prstGeom>
          <a:solidFill>
            <a:srgbClr val="EFF3FA"/>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2" name="Text 20"/>
          <p:cNvSpPr/>
          <p:nvPr/>
        </p:nvSpPr>
        <p:spPr>
          <a:xfrm>
            <a:off x="566928" y="3383280"/>
            <a:ext cx="2029968" cy="868680"/>
          </a:xfrm>
          <a:prstGeom prst="rect">
            <a:avLst/>
          </a:prstGeom>
          <a:noFill/>
          <a:ln/>
        </p:spPr>
        <p:txBody>
          <a:bodyPr wrap="square" rtlCol="0" anchor="ctr"/>
          <a:lstStyle/>
          <a:p>
            <a:pPr indent="0" marL="0">
              <a:lnSpc>
                <a:spcPct val="110000"/>
              </a:lnSpc>
              <a:buNone/>
            </a:pPr>
            <a:r>
              <a:rPr lang="en-US" sz="1200" b="1" dirty="0">
                <a:solidFill>
                  <a:srgbClr val="0A1264"/>
                </a:solidFill>
                <a:latin typeface="GT America" pitchFamily="34" charset="0"/>
                <a:ea typeface="GT America" pitchFamily="34" charset="-122"/>
                <a:cs typeface="GT America" pitchFamily="34" charset="-120"/>
              </a:rPr>
              <a:t>Loan Operations</a:t>
            </a:r>
            <a:endParaRPr lang="en-US" sz="1200" dirty="0"/>
          </a:p>
        </p:txBody>
      </p:sp>
      <p:sp>
        <p:nvSpPr>
          <p:cNvPr id="23" name="Shape 21"/>
          <p:cNvSpPr/>
          <p:nvPr/>
        </p:nvSpPr>
        <p:spPr>
          <a:xfrm>
            <a:off x="2743200" y="3383280"/>
            <a:ext cx="280720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4" name="Text 22"/>
          <p:cNvSpPr/>
          <p:nvPr/>
        </p:nvSpPr>
        <p:spPr>
          <a:xfrm>
            <a:off x="2852928" y="3383280"/>
            <a:ext cx="262432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Fragmented handoffs across origination stages</a:t>
            </a:r>
            <a:endParaRPr lang="en-US" sz="1050" dirty="0"/>
          </a:p>
        </p:txBody>
      </p:sp>
      <p:sp>
        <p:nvSpPr>
          <p:cNvPr id="25" name="Shape 23"/>
          <p:cNvSpPr/>
          <p:nvPr/>
        </p:nvSpPr>
        <p:spPr>
          <a:xfrm>
            <a:off x="5623560" y="3383280"/>
            <a:ext cx="294436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6" name="Text 24"/>
          <p:cNvSpPr/>
          <p:nvPr/>
        </p:nvSpPr>
        <p:spPr>
          <a:xfrm>
            <a:off x="5733288" y="3383280"/>
            <a:ext cx="276148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Streamlined loan operations workflow</a:t>
            </a:r>
            <a:endParaRPr lang="en-US" sz="1050" dirty="0"/>
          </a:p>
        </p:txBody>
      </p:sp>
      <p:sp>
        <p:nvSpPr>
          <p:cNvPr id="27" name="Shape 25"/>
          <p:cNvSpPr/>
          <p:nvPr/>
        </p:nvSpPr>
        <p:spPr>
          <a:xfrm>
            <a:off x="8641080" y="3383280"/>
            <a:ext cx="3017520"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8" name="Text 26"/>
          <p:cNvSpPr/>
          <p:nvPr/>
        </p:nvSpPr>
        <p:spPr>
          <a:xfrm>
            <a:off x="8750808" y="3383280"/>
            <a:ext cx="2834640"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Process maturity differs by market</a:t>
            </a:r>
            <a:endParaRPr lang="en-US" sz="1050" dirty="0"/>
          </a:p>
        </p:txBody>
      </p:sp>
      <p:sp>
        <p:nvSpPr>
          <p:cNvPr id="29" name="Shape 27"/>
          <p:cNvSpPr/>
          <p:nvPr/>
        </p:nvSpPr>
        <p:spPr>
          <a:xfrm>
            <a:off x="457200" y="4343400"/>
            <a:ext cx="2212848" cy="868680"/>
          </a:xfrm>
          <a:prstGeom prst="roundRect">
            <a:avLst>
              <a:gd name="adj" fmla="val 8421"/>
            </a:avLst>
          </a:prstGeom>
          <a:solidFill>
            <a:srgbClr val="EFF3FA"/>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0" name="Text 28"/>
          <p:cNvSpPr/>
          <p:nvPr/>
        </p:nvSpPr>
        <p:spPr>
          <a:xfrm>
            <a:off x="566928" y="4343400"/>
            <a:ext cx="2029968" cy="868680"/>
          </a:xfrm>
          <a:prstGeom prst="rect">
            <a:avLst/>
          </a:prstGeom>
          <a:noFill/>
          <a:ln/>
        </p:spPr>
        <p:txBody>
          <a:bodyPr wrap="square" rtlCol="0" anchor="ctr"/>
          <a:lstStyle/>
          <a:p>
            <a:pPr indent="0" marL="0">
              <a:lnSpc>
                <a:spcPct val="110000"/>
              </a:lnSpc>
              <a:buNone/>
            </a:pPr>
            <a:r>
              <a:rPr lang="en-US" sz="1200" b="1" dirty="0">
                <a:solidFill>
                  <a:srgbClr val="0A1264"/>
                </a:solidFill>
                <a:latin typeface="GT America" pitchFamily="34" charset="0"/>
                <a:ea typeface="GT America" pitchFamily="34" charset="-122"/>
                <a:cs typeface="GT America" pitchFamily="34" charset="-120"/>
              </a:rPr>
              <a:t>Relationship / Origination</a:t>
            </a:r>
            <a:endParaRPr lang="en-US" sz="1200" dirty="0"/>
          </a:p>
        </p:txBody>
      </p:sp>
      <p:sp>
        <p:nvSpPr>
          <p:cNvPr id="31" name="Shape 29"/>
          <p:cNvSpPr/>
          <p:nvPr/>
        </p:nvSpPr>
        <p:spPr>
          <a:xfrm>
            <a:off x="2743200" y="4343400"/>
            <a:ext cx="280720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2" name="Text 30"/>
          <p:cNvSpPr/>
          <p:nvPr/>
        </p:nvSpPr>
        <p:spPr>
          <a:xfrm>
            <a:off x="2852928" y="4343400"/>
            <a:ext cx="262432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Slow borrower engagement and onboarding</a:t>
            </a:r>
            <a:endParaRPr lang="en-US" sz="1050" dirty="0"/>
          </a:p>
        </p:txBody>
      </p:sp>
      <p:sp>
        <p:nvSpPr>
          <p:cNvPr id="33" name="Shape 31"/>
          <p:cNvSpPr/>
          <p:nvPr/>
        </p:nvSpPr>
        <p:spPr>
          <a:xfrm>
            <a:off x="5623560" y="4343400"/>
            <a:ext cx="294436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4" name="Text 32"/>
          <p:cNvSpPr/>
          <p:nvPr/>
        </p:nvSpPr>
        <p:spPr>
          <a:xfrm>
            <a:off x="5733288" y="4343400"/>
            <a:ext cx="276148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Faster borrower engagement cycle</a:t>
            </a:r>
            <a:endParaRPr lang="en-US" sz="1050" dirty="0"/>
          </a:p>
        </p:txBody>
      </p:sp>
      <p:sp>
        <p:nvSpPr>
          <p:cNvPr id="35" name="Shape 33"/>
          <p:cNvSpPr/>
          <p:nvPr/>
        </p:nvSpPr>
        <p:spPr>
          <a:xfrm>
            <a:off x="8641080" y="4343400"/>
            <a:ext cx="3017520"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6" name="Text 34"/>
          <p:cNvSpPr/>
          <p:nvPr/>
        </p:nvSpPr>
        <p:spPr>
          <a:xfrm>
            <a:off x="8750808" y="4343400"/>
            <a:ext cx="2834640"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Local borrower expectations differ by region</a:t>
            </a:r>
            <a:endParaRPr lang="en-US" sz="1050" dirty="0"/>
          </a:p>
        </p:txBody>
      </p:sp>
      <p:sp>
        <p:nvSpPr>
          <p:cNvPr id="37" name="Shape 35"/>
          <p:cNvSpPr/>
          <p:nvPr/>
        </p:nvSpPr>
        <p:spPr>
          <a:xfrm>
            <a:off x="457200" y="5303520"/>
            <a:ext cx="2212848" cy="868680"/>
          </a:xfrm>
          <a:prstGeom prst="roundRect">
            <a:avLst>
              <a:gd name="adj" fmla="val 8421"/>
            </a:avLst>
          </a:prstGeom>
          <a:solidFill>
            <a:srgbClr val="EFF3FA"/>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8" name="Text 36"/>
          <p:cNvSpPr/>
          <p:nvPr/>
        </p:nvSpPr>
        <p:spPr>
          <a:xfrm>
            <a:off x="566928" y="5303520"/>
            <a:ext cx="2029968" cy="868680"/>
          </a:xfrm>
          <a:prstGeom prst="rect">
            <a:avLst/>
          </a:prstGeom>
          <a:noFill/>
          <a:ln/>
        </p:spPr>
        <p:txBody>
          <a:bodyPr wrap="square" rtlCol="0" anchor="ctr"/>
          <a:lstStyle/>
          <a:p>
            <a:pPr indent="0" marL="0">
              <a:lnSpc>
                <a:spcPct val="110000"/>
              </a:lnSpc>
              <a:buNone/>
            </a:pPr>
            <a:r>
              <a:rPr lang="en-US" sz="1200" b="1" dirty="0">
                <a:solidFill>
                  <a:srgbClr val="0A1264"/>
                </a:solidFill>
                <a:latin typeface="GT America" pitchFamily="34" charset="0"/>
                <a:ea typeface="GT America" pitchFamily="34" charset="-122"/>
                <a:cs typeface="GT America" pitchFamily="34" charset="-120"/>
              </a:rPr>
              <a:t>Portfolio / Monitoring</a:t>
            </a:r>
            <a:endParaRPr lang="en-US" sz="1200" dirty="0"/>
          </a:p>
        </p:txBody>
      </p:sp>
      <p:sp>
        <p:nvSpPr>
          <p:cNvPr id="39" name="Shape 37"/>
          <p:cNvSpPr/>
          <p:nvPr/>
        </p:nvSpPr>
        <p:spPr>
          <a:xfrm>
            <a:off x="2743200" y="5303520"/>
            <a:ext cx="280720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0" name="Text 38"/>
          <p:cNvSpPr/>
          <p:nvPr/>
        </p:nvSpPr>
        <p:spPr>
          <a:xfrm>
            <a:off x="2852928" y="5303520"/>
            <a:ext cx="262432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Limited visibility into covenant and portfolio risk</a:t>
            </a:r>
            <a:endParaRPr lang="en-US" sz="1050" dirty="0"/>
          </a:p>
        </p:txBody>
      </p:sp>
      <p:sp>
        <p:nvSpPr>
          <p:cNvPr id="41" name="Shape 39"/>
          <p:cNvSpPr/>
          <p:nvPr/>
        </p:nvSpPr>
        <p:spPr>
          <a:xfrm>
            <a:off x="5623560" y="5303520"/>
            <a:ext cx="2944368"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2" name="Text 40"/>
          <p:cNvSpPr/>
          <p:nvPr/>
        </p:nvSpPr>
        <p:spPr>
          <a:xfrm>
            <a:off x="5733288" y="5303520"/>
            <a:ext cx="2761488"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Ongoing monitoring and early risk signals</a:t>
            </a:r>
            <a:endParaRPr lang="en-US" sz="1050" dirty="0"/>
          </a:p>
        </p:txBody>
      </p:sp>
      <p:sp>
        <p:nvSpPr>
          <p:cNvPr id="43" name="Shape 41"/>
          <p:cNvSpPr/>
          <p:nvPr/>
        </p:nvSpPr>
        <p:spPr>
          <a:xfrm>
            <a:off x="8641080" y="5303520"/>
            <a:ext cx="3017520" cy="868680"/>
          </a:xfrm>
          <a:prstGeom prst="roundRect">
            <a:avLst>
              <a:gd name="adj" fmla="val 84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4" name="Text 42"/>
          <p:cNvSpPr/>
          <p:nvPr/>
        </p:nvSpPr>
        <p:spPr>
          <a:xfrm>
            <a:off x="8750808" y="5303520"/>
            <a:ext cx="2834640" cy="868680"/>
          </a:xfrm>
          <a:prstGeom prst="rect">
            <a:avLst/>
          </a:prstGeom>
          <a:noFill/>
          <a:ln/>
        </p:spPr>
        <p:txBody>
          <a:bodyPr wrap="square" rtlCol="0" anchor="ctr"/>
          <a:lstStyle/>
          <a:p>
            <a:pPr indent="0" marL="0">
              <a:lnSpc>
                <a:spcPct val="110000"/>
              </a:lnSpc>
              <a:buNone/>
            </a:pPr>
            <a:r>
              <a:rPr lang="en-US" sz="1050" dirty="0">
                <a:solidFill>
                  <a:srgbClr val="10142B"/>
                </a:solidFill>
                <a:latin typeface="GT America" pitchFamily="34" charset="0"/>
                <a:ea typeface="GT America" pitchFamily="34" charset="-122"/>
                <a:cs typeface="GT America" pitchFamily="34" charset="-120"/>
              </a:rPr>
              <a:t>Reporting requirements vary by jurisdiction</a:t>
            </a:r>
            <a:endParaRPr lang="en-US" sz="1050" dirty="0"/>
          </a:p>
        </p:txBody>
      </p:sp>
      <p:sp>
        <p:nvSpPr>
          <p:cNvPr id="45" name="Text 4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CUSTOMER &amp; BUYER UNDERSTANDING</a:t>
            </a:r>
            <a:endParaRPr lang="en-US" sz="900" dirty="0"/>
          </a:p>
        </p:txBody>
      </p:sp>
      <p:sp>
        <p:nvSpPr>
          <p:cNvPr id="46" name="Text 4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7 / 23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MESSAGING TRANSFORMATION</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From Features to Customer Value</a:t>
            </a:r>
            <a:endParaRPr lang="en-US" sz="2800" dirty="0"/>
          </a:p>
        </p:txBody>
      </p:sp>
      <p:sp>
        <p:nvSpPr>
          <p:cNvPr id="4" name="Shape 2"/>
          <p:cNvSpPr/>
          <p:nvPr/>
        </p:nvSpPr>
        <p:spPr>
          <a:xfrm>
            <a:off x="457200" y="1874520"/>
            <a:ext cx="5349240" cy="3794760"/>
          </a:xfrm>
          <a:prstGeom prst="roundRect">
            <a:avLst>
              <a:gd name="adj" fmla="val 1928"/>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Shape 3"/>
          <p:cNvSpPr/>
          <p:nvPr/>
        </p:nvSpPr>
        <p:spPr>
          <a:xfrm>
            <a:off x="777240" y="2148840"/>
            <a:ext cx="3977640" cy="365760"/>
          </a:xfrm>
          <a:prstGeom prst="roundRect">
            <a:avLst>
              <a:gd name="adj" fmla="val 15000"/>
            </a:avLst>
          </a:prstGeom>
          <a:solidFill>
            <a:srgbClr val="EAEEF7"/>
          </a:solidFill>
          <a:ln/>
        </p:spPr>
      </p:sp>
      <p:sp>
        <p:nvSpPr>
          <p:cNvPr id="6" name="Text 4"/>
          <p:cNvSpPr/>
          <p:nvPr/>
        </p:nvSpPr>
        <p:spPr>
          <a:xfrm>
            <a:off x="777240" y="2148840"/>
            <a:ext cx="3977640" cy="365760"/>
          </a:xfrm>
          <a:prstGeom prst="rect">
            <a:avLst/>
          </a:prstGeom>
          <a:noFill/>
          <a:ln/>
        </p:spPr>
        <p:txBody>
          <a:bodyPr wrap="square" rtlCol="0" anchor="ctr"/>
          <a:lstStyle/>
          <a:p>
            <a:pPr algn="ctr" indent="0" marL="0">
              <a:buNone/>
            </a:pPr>
            <a:r>
              <a:rPr lang="en-US" sz="1100" b="1" dirty="0">
                <a:solidFill>
                  <a:srgbClr val="5B6472"/>
                </a:solidFill>
                <a:latin typeface="GT America" pitchFamily="34" charset="0"/>
                <a:ea typeface="GT America" pitchFamily="34" charset="-122"/>
                <a:cs typeface="GT America" pitchFamily="34" charset="-120"/>
              </a:rPr>
              <a:t>BEFORE — PRODUCT-CENTRIC (CREDITLENS)</a:t>
            </a:r>
            <a:endParaRPr lang="en-US" sz="1100" dirty="0"/>
          </a:p>
        </p:txBody>
      </p:sp>
      <p:sp>
        <p:nvSpPr>
          <p:cNvPr id="7" name="Text 5"/>
          <p:cNvSpPr/>
          <p:nvPr/>
        </p:nvSpPr>
        <p:spPr>
          <a:xfrm>
            <a:off x="777240" y="2788920"/>
            <a:ext cx="4709160" cy="1188720"/>
          </a:xfrm>
          <a:prstGeom prst="rect">
            <a:avLst/>
          </a:prstGeom>
          <a:noFill/>
          <a:ln/>
        </p:spPr>
        <p:txBody>
          <a:bodyPr wrap="square" rtlCol="0" anchor="ctr"/>
          <a:lstStyle/>
          <a:p>
            <a:pPr indent="0" marL="0">
              <a:lnSpc>
                <a:spcPct val="125000"/>
              </a:lnSpc>
              <a:buNone/>
            </a:pPr>
            <a:r>
              <a:rPr lang="en-US" sz="1600" i="1" dirty="0">
                <a:solidFill>
                  <a:srgbClr val="10142B"/>
                </a:solidFill>
                <a:latin typeface="GT America" pitchFamily="34" charset="0"/>
                <a:ea typeface="GT America" pitchFamily="34" charset="-122"/>
                <a:cs typeface="GT America" pitchFamily="34" charset="-120"/>
              </a:rPr>
              <a:t>“OCR for PDF statements, Orbis database integration, and automated tax return reading.”</a:t>
            </a:r>
            <a:endParaRPr lang="en-US" sz="1600" dirty="0"/>
          </a:p>
        </p:txBody>
      </p:sp>
      <p:sp>
        <p:nvSpPr>
          <p:cNvPr id="8" name="Shape 6"/>
          <p:cNvSpPr/>
          <p:nvPr/>
        </p:nvSpPr>
        <p:spPr>
          <a:xfrm>
            <a:off x="777240" y="4288536"/>
            <a:ext cx="64008" cy="64008"/>
          </a:xfrm>
          <a:prstGeom prst="ellipse">
            <a:avLst/>
          </a:prstGeom>
          <a:solidFill>
            <a:srgbClr val="0057E7"/>
          </a:solidFill>
          <a:ln/>
        </p:spPr>
      </p:sp>
      <p:sp>
        <p:nvSpPr>
          <p:cNvPr id="9" name="Text 7"/>
          <p:cNvSpPr/>
          <p:nvPr/>
        </p:nvSpPr>
        <p:spPr>
          <a:xfrm>
            <a:off x="978408" y="4160520"/>
            <a:ext cx="4142232" cy="384048"/>
          </a:xfrm>
          <a:prstGeom prst="rect">
            <a:avLst/>
          </a:prstGeom>
          <a:noFill/>
          <a:ln/>
        </p:spPr>
        <p:txBody>
          <a:bodyPr wrap="square" rtlCol="0" anchor="t"/>
          <a:lstStyle/>
          <a:p>
            <a:pPr indent="0" marL="0">
              <a:lnSpc>
                <a:spcPct val="105000"/>
              </a:lnSpc>
              <a:buNone/>
            </a:pPr>
            <a:r>
              <a:rPr lang="en-US" sz="1100" dirty="0">
                <a:solidFill>
                  <a:srgbClr val="5B6472"/>
                </a:solidFill>
                <a:latin typeface="GT America" pitchFamily="34" charset="0"/>
                <a:ea typeface="GT America" pitchFamily="34" charset="-122"/>
                <a:cs typeface="GT America" pitchFamily="34" charset="-120"/>
              </a:rPr>
              <a:t>Describes what the product does</a:t>
            </a:r>
            <a:endParaRPr lang="en-US" sz="1100" dirty="0"/>
          </a:p>
        </p:txBody>
      </p:sp>
      <p:sp>
        <p:nvSpPr>
          <p:cNvPr id="10" name="Shape 8"/>
          <p:cNvSpPr/>
          <p:nvPr/>
        </p:nvSpPr>
        <p:spPr>
          <a:xfrm>
            <a:off x="777240" y="4654296"/>
            <a:ext cx="64008" cy="64008"/>
          </a:xfrm>
          <a:prstGeom prst="ellipse">
            <a:avLst/>
          </a:prstGeom>
          <a:solidFill>
            <a:srgbClr val="0057E7"/>
          </a:solidFill>
          <a:ln/>
        </p:spPr>
      </p:sp>
      <p:sp>
        <p:nvSpPr>
          <p:cNvPr id="11" name="Text 9"/>
          <p:cNvSpPr/>
          <p:nvPr/>
        </p:nvSpPr>
        <p:spPr>
          <a:xfrm>
            <a:off x="978408" y="4526280"/>
            <a:ext cx="4142232" cy="384048"/>
          </a:xfrm>
          <a:prstGeom prst="rect">
            <a:avLst/>
          </a:prstGeom>
          <a:noFill/>
          <a:ln/>
        </p:spPr>
        <p:txBody>
          <a:bodyPr wrap="square" rtlCol="0" anchor="t"/>
          <a:lstStyle/>
          <a:p>
            <a:pPr indent="0" marL="0">
              <a:lnSpc>
                <a:spcPct val="105000"/>
              </a:lnSpc>
              <a:buNone/>
            </a:pPr>
            <a:r>
              <a:rPr lang="en-US" sz="1100" dirty="0">
                <a:solidFill>
                  <a:srgbClr val="5B6472"/>
                </a:solidFill>
                <a:latin typeface="GT America" pitchFamily="34" charset="0"/>
                <a:ea typeface="GT America" pitchFamily="34" charset="-122"/>
                <a:cs typeface="GT America" pitchFamily="34" charset="-120"/>
              </a:rPr>
              <a:t>Centers on a single named product</a:t>
            </a:r>
            <a:endParaRPr lang="en-US" sz="1100" dirty="0"/>
          </a:p>
        </p:txBody>
      </p:sp>
      <p:sp>
        <p:nvSpPr>
          <p:cNvPr id="12" name="Shape 10"/>
          <p:cNvSpPr/>
          <p:nvPr/>
        </p:nvSpPr>
        <p:spPr>
          <a:xfrm>
            <a:off x="777240" y="5020056"/>
            <a:ext cx="64008" cy="64008"/>
          </a:xfrm>
          <a:prstGeom prst="ellipse">
            <a:avLst/>
          </a:prstGeom>
          <a:solidFill>
            <a:srgbClr val="0057E7"/>
          </a:solidFill>
          <a:ln/>
        </p:spPr>
      </p:sp>
      <p:sp>
        <p:nvSpPr>
          <p:cNvPr id="13" name="Text 11"/>
          <p:cNvSpPr/>
          <p:nvPr/>
        </p:nvSpPr>
        <p:spPr>
          <a:xfrm>
            <a:off x="978408" y="4892040"/>
            <a:ext cx="4142232" cy="384048"/>
          </a:xfrm>
          <a:prstGeom prst="rect">
            <a:avLst/>
          </a:prstGeom>
          <a:noFill/>
          <a:ln/>
        </p:spPr>
        <p:txBody>
          <a:bodyPr wrap="square" rtlCol="0" anchor="t"/>
          <a:lstStyle/>
          <a:p>
            <a:pPr indent="0" marL="0">
              <a:lnSpc>
                <a:spcPct val="105000"/>
              </a:lnSpc>
              <a:buNone/>
            </a:pPr>
            <a:r>
              <a:rPr lang="en-US" sz="1100" dirty="0">
                <a:solidFill>
                  <a:srgbClr val="5B6472"/>
                </a:solidFill>
                <a:latin typeface="GT America" pitchFamily="34" charset="0"/>
                <a:ea typeface="GT America" pitchFamily="34" charset="-122"/>
                <a:cs typeface="GT America" pitchFamily="34" charset="-120"/>
              </a:rPr>
              <a:t>Requires prior product knowledge to see value</a:t>
            </a:r>
            <a:endParaRPr lang="en-US" sz="1100" dirty="0"/>
          </a:p>
        </p:txBody>
      </p:sp>
      <p:sp>
        <p:nvSpPr>
          <p:cNvPr id="14" name="Shape 12"/>
          <p:cNvSpPr/>
          <p:nvPr/>
        </p:nvSpPr>
        <p:spPr>
          <a:xfrm>
            <a:off x="6108192" y="1874520"/>
            <a:ext cx="5349240" cy="3794760"/>
          </a:xfrm>
          <a:prstGeom prst="roundRect">
            <a:avLst>
              <a:gd name="adj" fmla="val 1928"/>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5" name="Shape 13"/>
          <p:cNvSpPr/>
          <p:nvPr/>
        </p:nvSpPr>
        <p:spPr>
          <a:xfrm>
            <a:off x="6428232" y="2148840"/>
            <a:ext cx="3977640" cy="365760"/>
          </a:xfrm>
          <a:prstGeom prst="roundRect">
            <a:avLst>
              <a:gd name="adj" fmla="val 15000"/>
            </a:avLst>
          </a:prstGeom>
          <a:solidFill>
            <a:srgbClr val="0057E7"/>
          </a:solidFill>
          <a:ln/>
        </p:spPr>
      </p:sp>
      <p:sp>
        <p:nvSpPr>
          <p:cNvPr id="16" name="Text 14"/>
          <p:cNvSpPr/>
          <p:nvPr/>
        </p:nvSpPr>
        <p:spPr>
          <a:xfrm>
            <a:off x="6428232" y="2148840"/>
            <a:ext cx="3977640"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AFTER — VALUE-LED (LENDING SUITE)</a:t>
            </a:r>
            <a:endParaRPr lang="en-US" sz="1100" dirty="0"/>
          </a:p>
        </p:txBody>
      </p:sp>
      <p:sp>
        <p:nvSpPr>
          <p:cNvPr id="17" name="Text 15"/>
          <p:cNvSpPr/>
          <p:nvPr/>
        </p:nvSpPr>
        <p:spPr>
          <a:xfrm>
            <a:off x="6428232" y="2788920"/>
            <a:ext cx="4709160" cy="1280160"/>
          </a:xfrm>
          <a:prstGeom prst="rect">
            <a:avLst/>
          </a:prstGeom>
          <a:noFill/>
          <a:ln/>
        </p:spPr>
        <p:txBody>
          <a:bodyPr wrap="square" rtlCol="0" anchor="ctr"/>
          <a:lstStyle/>
          <a:p>
            <a:pPr indent="0" marL="0">
              <a:lnSpc>
                <a:spcPct val="125000"/>
              </a:lnSpc>
              <a:buNone/>
            </a:pPr>
            <a:r>
              <a:rPr lang="en-US" sz="1900" i="1" dirty="0">
                <a:solidFill>
                  <a:srgbClr val="FFFFFF"/>
                </a:solidFill>
                <a:latin typeface="GT America" pitchFamily="34" charset="0"/>
                <a:ea typeface="GT America" pitchFamily="34" charset="-122"/>
                <a:cs typeface="GT America" pitchFamily="34" charset="-120"/>
              </a:rPr>
              <a:t>“Reduce origination time and eliminate manual errors.”</a:t>
            </a:r>
            <a:endParaRPr lang="en-US" sz="1900" dirty="0"/>
          </a:p>
        </p:txBody>
      </p:sp>
      <p:sp>
        <p:nvSpPr>
          <p:cNvPr id="18" name="Shape 16"/>
          <p:cNvSpPr/>
          <p:nvPr/>
        </p:nvSpPr>
        <p:spPr>
          <a:xfrm>
            <a:off x="6428232" y="4379976"/>
            <a:ext cx="64008" cy="64008"/>
          </a:xfrm>
          <a:prstGeom prst="ellipse">
            <a:avLst/>
          </a:prstGeom>
          <a:solidFill>
            <a:srgbClr val="4D8DFF"/>
          </a:solidFill>
          <a:ln/>
        </p:spPr>
      </p:sp>
      <p:sp>
        <p:nvSpPr>
          <p:cNvPr id="19" name="Text 17"/>
          <p:cNvSpPr/>
          <p:nvPr/>
        </p:nvSpPr>
        <p:spPr>
          <a:xfrm>
            <a:off x="6629400" y="4251960"/>
            <a:ext cx="4142232" cy="384048"/>
          </a:xfrm>
          <a:prstGeom prst="rect">
            <a:avLst/>
          </a:prstGeom>
          <a:noFill/>
          <a:ln/>
        </p:spPr>
        <p:txBody>
          <a:bodyPr wrap="square" rtlCol="0" anchor="t"/>
          <a:lstStyle/>
          <a:p>
            <a:pPr indent="0" marL="0">
              <a:lnSpc>
                <a:spcPct val="105000"/>
              </a:lnSpc>
              <a:buNone/>
            </a:pPr>
            <a:r>
              <a:rPr lang="en-US" sz="1100" dirty="0">
                <a:solidFill>
                  <a:srgbClr val="9FB0CC"/>
                </a:solidFill>
                <a:latin typeface="GT America" pitchFamily="34" charset="0"/>
                <a:ea typeface="GT America" pitchFamily="34" charset="-122"/>
                <a:cs typeface="GT America" pitchFamily="34" charset="-120"/>
              </a:rPr>
              <a:t>Leads with the customer and their outcome</a:t>
            </a:r>
            <a:endParaRPr lang="en-US" sz="1100" dirty="0"/>
          </a:p>
        </p:txBody>
      </p:sp>
      <p:sp>
        <p:nvSpPr>
          <p:cNvPr id="20" name="Shape 18"/>
          <p:cNvSpPr/>
          <p:nvPr/>
        </p:nvSpPr>
        <p:spPr>
          <a:xfrm>
            <a:off x="6428232" y="4745736"/>
            <a:ext cx="64008" cy="64008"/>
          </a:xfrm>
          <a:prstGeom prst="ellipse">
            <a:avLst/>
          </a:prstGeom>
          <a:solidFill>
            <a:srgbClr val="4D8DFF"/>
          </a:solidFill>
          <a:ln/>
        </p:spPr>
      </p:sp>
      <p:sp>
        <p:nvSpPr>
          <p:cNvPr id="21" name="Text 19"/>
          <p:cNvSpPr/>
          <p:nvPr/>
        </p:nvSpPr>
        <p:spPr>
          <a:xfrm>
            <a:off x="6629400" y="4617720"/>
            <a:ext cx="4142232" cy="384048"/>
          </a:xfrm>
          <a:prstGeom prst="rect">
            <a:avLst/>
          </a:prstGeom>
          <a:noFill/>
          <a:ln/>
        </p:spPr>
        <p:txBody>
          <a:bodyPr wrap="square" rtlCol="0" anchor="t"/>
          <a:lstStyle/>
          <a:p>
            <a:pPr indent="0" marL="0">
              <a:lnSpc>
                <a:spcPct val="105000"/>
              </a:lnSpc>
              <a:buNone/>
            </a:pPr>
            <a:r>
              <a:rPr lang="en-US" sz="1100" dirty="0">
                <a:solidFill>
                  <a:srgbClr val="9FB0CC"/>
                </a:solidFill>
                <a:latin typeface="GT America" pitchFamily="34" charset="0"/>
                <a:ea typeface="GT America" pitchFamily="34" charset="-122"/>
                <a:cs typeface="GT America" pitchFamily="34" charset="-120"/>
              </a:rPr>
              <a:t>Portfolio-level framing, not a single product</a:t>
            </a:r>
            <a:endParaRPr lang="en-US" sz="1100" dirty="0"/>
          </a:p>
        </p:txBody>
      </p:sp>
      <p:sp>
        <p:nvSpPr>
          <p:cNvPr id="22" name="Shape 20"/>
          <p:cNvSpPr/>
          <p:nvPr/>
        </p:nvSpPr>
        <p:spPr>
          <a:xfrm>
            <a:off x="6428232" y="5111496"/>
            <a:ext cx="64008" cy="64008"/>
          </a:xfrm>
          <a:prstGeom prst="ellipse">
            <a:avLst/>
          </a:prstGeom>
          <a:solidFill>
            <a:srgbClr val="4D8DFF"/>
          </a:solidFill>
          <a:ln/>
        </p:spPr>
      </p:sp>
      <p:sp>
        <p:nvSpPr>
          <p:cNvPr id="23" name="Text 21"/>
          <p:cNvSpPr/>
          <p:nvPr/>
        </p:nvSpPr>
        <p:spPr>
          <a:xfrm>
            <a:off x="6629400" y="4983480"/>
            <a:ext cx="4142232" cy="384048"/>
          </a:xfrm>
          <a:prstGeom prst="rect">
            <a:avLst/>
          </a:prstGeom>
          <a:noFill/>
          <a:ln/>
        </p:spPr>
        <p:txBody>
          <a:bodyPr wrap="square" rtlCol="0" anchor="t"/>
          <a:lstStyle/>
          <a:p>
            <a:pPr indent="0" marL="0">
              <a:lnSpc>
                <a:spcPct val="105000"/>
              </a:lnSpc>
              <a:buNone/>
            </a:pPr>
            <a:r>
              <a:rPr lang="en-US" sz="1100" dirty="0">
                <a:solidFill>
                  <a:srgbClr val="9FB0CC"/>
                </a:solidFill>
                <a:latin typeface="GT America" pitchFamily="34" charset="0"/>
                <a:ea typeface="GT America" pitchFamily="34" charset="-122"/>
                <a:cs typeface="GT America" pitchFamily="34" charset="-120"/>
              </a:rPr>
              <a:t>Understandable without prior product knowledge</a:t>
            </a:r>
            <a:endParaRPr lang="en-US" sz="1100" dirty="0"/>
          </a:p>
        </p:txBody>
      </p:sp>
      <p:sp>
        <p:nvSpPr>
          <p:cNvPr id="24" name="Text 22"/>
          <p:cNvSpPr/>
          <p:nvPr/>
        </p:nvSpPr>
        <p:spPr>
          <a:xfrm>
            <a:off x="457200" y="5806440"/>
            <a:ext cx="91440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Real example drawn from CreditLens and Lending Suite marketing materials.</a:t>
            </a:r>
            <a:endParaRPr lang="en-US" sz="1000" dirty="0"/>
          </a:p>
        </p:txBody>
      </p:sp>
      <p:sp>
        <p:nvSpPr>
          <p:cNvPr id="25" name="Text 2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MESSAGING TRANSFORMATION</a:t>
            </a:r>
            <a:endParaRPr lang="en-US" sz="900" dirty="0"/>
          </a:p>
        </p:txBody>
      </p:sp>
      <p:sp>
        <p:nvSpPr>
          <p:cNvPr id="26" name="Text 2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8 / 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MESSAGING TRANSFORMATION</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Messaging in Practice — Original Materials</a:t>
            </a:r>
            <a:endParaRPr lang="en-US" sz="2800" dirty="0"/>
          </a:p>
        </p:txBody>
      </p:sp>
      <p:sp>
        <p:nvSpPr>
          <p:cNvPr id="4" name="Text 2"/>
          <p:cNvSpPr/>
          <p:nvPr/>
        </p:nvSpPr>
        <p:spPr>
          <a:xfrm>
            <a:off x="457200" y="1444752"/>
            <a:ext cx="109728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Original diagrams from CreditLens and Lending Suite marketing materials, used with permission.</a:t>
            </a:r>
            <a:endParaRPr lang="en-US" sz="1000" dirty="0"/>
          </a:p>
        </p:txBody>
      </p:sp>
      <p:sp>
        <p:nvSpPr>
          <p:cNvPr id="5" name="Shape 3"/>
          <p:cNvSpPr/>
          <p:nvPr/>
        </p:nvSpPr>
        <p:spPr>
          <a:xfrm>
            <a:off x="804877" y="1691640"/>
            <a:ext cx="5356497" cy="365760"/>
          </a:xfrm>
          <a:prstGeom prst="roundRect">
            <a:avLst>
              <a:gd name="adj" fmla="val 15000"/>
            </a:avLst>
          </a:prstGeom>
          <a:solidFill>
            <a:srgbClr val="EAEEF7"/>
          </a:solidFill>
          <a:ln/>
        </p:spPr>
      </p:sp>
      <p:sp>
        <p:nvSpPr>
          <p:cNvPr id="6" name="Text 4"/>
          <p:cNvSpPr/>
          <p:nvPr/>
        </p:nvSpPr>
        <p:spPr>
          <a:xfrm>
            <a:off x="804877" y="1691640"/>
            <a:ext cx="5356497" cy="365760"/>
          </a:xfrm>
          <a:prstGeom prst="rect">
            <a:avLst/>
          </a:prstGeom>
          <a:noFill/>
          <a:ln/>
        </p:spPr>
        <p:txBody>
          <a:bodyPr wrap="square" rtlCol="0" anchor="ctr"/>
          <a:lstStyle/>
          <a:p>
            <a:pPr algn="ctr" indent="0" marL="0">
              <a:buNone/>
            </a:pPr>
            <a:r>
              <a:rPr lang="en-US" sz="1100" b="1" dirty="0">
                <a:solidFill>
                  <a:srgbClr val="5B6472"/>
                </a:solidFill>
                <a:latin typeface="GT America" pitchFamily="34" charset="0"/>
                <a:ea typeface="GT America" pitchFamily="34" charset="-122"/>
                <a:cs typeface="GT America" pitchFamily="34" charset="-120"/>
              </a:rPr>
              <a:t>OLD — CREDITLENS (PRODUCT-CENTRIC)</a:t>
            </a:r>
            <a:endParaRPr lang="en-US" sz="1100" dirty="0"/>
          </a:p>
        </p:txBody>
      </p:sp>
      <p:pic>
        <p:nvPicPr>
          <p:cNvPr id="7" name="Image 0" descr="/home/claude/deck/assets/messaging_old_creditlens.png">    </p:cNvPr>
          <p:cNvPicPr>
            <a:picLocks noChangeAspect="1"/>
          </p:cNvPicPr>
          <p:nvPr/>
        </p:nvPicPr>
        <p:blipFill>
          <a:blip r:embed="rId1"/>
          <a:stretch>
            <a:fillRect/>
          </a:stretch>
        </p:blipFill>
        <p:spPr>
          <a:xfrm>
            <a:off x="804877" y="2148840"/>
            <a:ext cx="5356497" cy="2788920"/>
          </a:xfrm>
          <a:prstGeom prst="rect">
            <a:avLst/>
          </a:prstGeom>
        </p:spPr>
      </p:pic>
      <p:sp>
        <p:nvSpPr>
          <p:cNvPr id="8" name="Text 5"/>
          <p:cNvSpPr/>
          <p:nvPr/>
        </p:nvSpPr>
        <p:spPr>
          <a:xfrm>
            <a:off x="804877" y="5047488"/>
            <a:ext cx="5356497"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Feature-led: OCR, Orbis integration, tax return reading.</a:t>
            </a:r>
            <a:endParaRPr lang="en-US" sz="1000" dirty="0"/>
          </a:p>
        </p:txBody>
      </p:sp>
      <p:sp>
        <p:nvSpPr>
          <p:cNvPr id="9" name="Shape 6"/>
          <p:cNvSpPr/>
          <p:nvPr/>
        </p:nvSpPr>
        <p:spPr>
          <a:xfrm>
            <a:off x="6435694" y="1691640"/>
            <a:ext cx="4948380" cy="365760"/>
          </a:xfrm>
          <a:prstGeom prst="roundRect">
            <a:avLst>
              <a:gd name="adj" fmla="val 15000"/>
            </a:avLst>
          </a:prstGeom>
          <a:solidFill>
            <a:srgbClr val="0057E7"/>
          </a:solidFill>
          <a:ln/>
        </p:spPr>
      </p:sp>
      <p:sp>
        <p:nvSpPr>
          <p:cNvPr id="10" name="Text 7"/>
          <p:cNvSpPr/>
          <p:nvPr/>
        </p:nvSpPr>
        <p:spPr>
          <a:xfrm>
            <a:off x="6435694" y="1691640"/>
            <a:ext cx="4948380"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NEW — LENDING SUITE (VALUE-LED)</a:t>
            </a:r>
            <a:endParaRPr lang="en-US" sz="1100" dirty="0"/>
          </a:p>
        </p:txBody>
      </p:sp>
      <p:pic>
        <p:nvPicPr>
          <p:cNvPr id="11" name="Image 1" descr="/home/claude/deck/assets/messaging_new_lendingsuite.png">    </p:cNvPr>
          <p:cNvPicPr>
            <a:picLocks noChangeAspect="1"/>
          </p:cNvPicPr>
          <p:nvPr/>
        </p:nvPicPr>
        <p:blipFill>
          <a:blip r:embed="rId2"/>
          <a:stretch>
            <a:fillRect/>
          </a:stretch>
        </p:blipFill>
        <p:spPr>
          <a:xfrm>
            <a:off x="6435694" y="2148840"/>
            <a:ext cx="4948380" cy="2788920"/>
          </a:xfrm>
          <a:prstGeom prst="rect">
            <a:avLst/>
          </a:prstGeom>
        </p:spPr>
      </p:pic>
      <p:sp>
        <p:nvSpPr>
          <p:cNvPr id="12" name="Text 8"/>
          <p:cNvSpPr/>
          <p:nvPr/>
        </p:nvSpPr>
        <p:spPr>
          <a:xfrm>
            <a:off x="6435694" y="5047488"/>
            <a:ext cx="494838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Workflow-led: Borrower Engagement → Origination → Monitoring, Moody’s data throughout.</a:t>
            </a:r>
            <a:endParaRPr lang="en-US" sz="1000" dirty="0"/>
          </a:p>
        </p:txBody>
      </p:sp>
      <p:sp>
        <p:nvSpPr>
          <p:cNvPr id="13" name="Text 9"/>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MESSAGING IN PRACTICE</a:t>
            </a:r>
            <a:endParaRPr lang="en-US" sz="900" dirty="0"/>
          </a:p>
        </p:txBody>
      </p:sp>
      <p:sp>
        <p:nvSpPr>
          <p:cNvPr id="14" name="Text 10"/>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9 / 23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SUPPORTING EVIDENCE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Solution Webpages, Brochures &amp; Video</a:t>
            </a:r>
            <a:endParaRPr lang="en-US" sz="2800" dirty="0"/>
          </a:p>
        </p:txBody>
      </p:sp>
      <p:sp>
        <p:nvSpPr>
          <p:cNvPr id="4" name="Text 2"/>
          <p:cNvSpPr/>
          <p:nvPr/>
        </p:nvSpPr>
        <p:spPr>
          <a:xfrm>
            <a:off x="457200" y="1444752"/>
            <a:ext cx="1124712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Brochures are downloadable from each product’s landing page — shown here as one linked destination per product.</a:t>
            </a:r>
            <a:endParaRPr lang="en-US" sz="1000" dirty="0"/>
          </a:p>
        </p:txBody>
      </p:sp>
      <p:sp>
        <p:nvSpPr>
          <p:cNvPr id="5" name="Shape 3"/>
          <p:cNvSpPr/>
          <p:nvPr/>
        </p:nvSpPr>
        <p:spPr>
          <a:xfrm>
            <a:off x="457200" y="1874520"/>
            <a:ext cx="2825496" cy="384048"/>
          </a:xfrm>
          <a:prstGeom prst="roundRect">
            <a:avLst>
              <a:gd name="adj" fmla="val 19048"/>
            </a:avLst>
          </a:prstGeom>
          <a:solidFill>
            <a:srgbClr val="0A1264"/>
          </a:solidFill>
          <a:ln w="12700">
            <a:solidFill>
              <a:srgbClr val="DCE1EC"/>
            </a:solidFill>
            <a:prstDash val="solid"/>
          </a:ln>
        </p:spPr>
      </p:sp>
      <p:sp>
        <p:nvSpPr>
          <p:cNvPr id="6" name="Text 4"/>
          <p:cNvSpPr/>
          <p:nvPr/>
        </p:nvSpPr>
        <p:spPr>
          <a:xfrm>
            <a:off x="566928" y="1874520"/>
            <a:ext cx="2606040" cy="384048"/>
          </a:xfrm>
          <a:prstGeom prst="rect">
            <a:avLst/>
          </a:prstGeom>
          <a:noFill/>
          <a:ln/>
        </p:spPr>
        <p:txBody>
          <a:bodyPr wrap="square" rtlCol="0" anchor="ctr"/>
          <a:lstStyle/>
          <a:p>
            <a:pPr indent="0" marL="0">
              <a:buNone/>
            </a:pPr>
            <a:r>
              <a:rPr lang="en-US" sz="1050" b="1" dirty="0">
                <a:solidFill>
                  <a:srgbClr val="FFFFFF"/>
                </a:solidFill>
                <a:latin typeface="GT America" pitchFamily="34" charset="0"/>
                <a:ea typeface="GT America" pitchFamily="34" charset="-122"/>
                <a:cs typeface="GT America" pitchFamily="34" charset="-120"/>
              </a:rPr>
              <a:t>Product</a:t>
            </a:r>
            <a:endParaRPr lang="en-US" sz="1050" dirty="0"/>
          </a:p>
        </p:txBody>
      </p:sp>
      <p:sp>
        <p:nvSpPr>
          <p:cNvPr id="7" name="Shape 5"/>
          <p:cNvSpPr/>
          <p:nvPr/>
        </p:nvSpPr>
        <p:spPr>
          <a:xfrm>
            <a:off x="3337560" y="1874520"/>
            <a:ext cx="5705856" cy="384048"/>
          </a:xfrm>
          <a:prstGeom prst="roundRect">
            <a:avLst>
              <a:gd name="adj" fmla="val 19048"/>
            </a:avLst>
          </a:prstGeom>
          <a:solidFill>
            <a:srgbClr val="0A1264"/>
          </a:solidFill>
          <a:ln w="12700">
            <a:solidFill>
              <a:srgbClr val="DCE1EC"/>
            </a:solidFill>
            <a:prstDash val="solid"/>
          </a:ln>
        </p:spPr>
      </p:sp>
      <p:sp>
        <p:nvSpPr>
          <p:cNvPr id="8" name="Text 6"/>
          <p:cNvSpPr/>
          <p:nvPr/>
        </p:nvSpPr>
        <p:spPr>
          <a:xfrm>
            <a:off x="3447288" y="1874520"/>
            <a:ext cx="5486400" cy="384048"/>
          </a:xfrm>
          <a:prstGeom prst="rect">
            <a:avLst/>
          </a:prstGeom>
          <a:noFill/>
          <a:ln/>
        </p:spPr>
        <p:txBody>
          <a:bodyPr wrap="square" rtlCol="0" anchor="ctr"/>
          <a:lstStyle/>
          <a:p>
            <a:pPr indent="0" marL="0">
              <a:buNone/>
            </a:pPr>
            <a:r>
              <a:rPr lang="en-US" sz="1050" b="1" dirty="0">
                <a:solidFill>
                  <a:srgbClr val="FFFFFF"/>
                </a:solidFill>
                <a:latin typeface="GT America" pitchFamily="34" charset="0"/>
                <a:ea typeface="GT America" pitchFamily="34" charset="-122"/>
                <a:cs typeface="GT America" pitchFamily="34" charset="-120"/>
              </a:rPr>
              <a:t>Landing Page + Brochure</a:t>
            </a:r>
            <a:endParaRPr lang="en-US" sz="1050" dirty="0"/>
          </a:p>
        </p:txBody>
      </p:sp>
      <p:sp>
        <p:nvSpPr>
          <p:cNvPr id="9" name="Shape 7"/>
          <p:cNvSpPr/>
          <p:nvPr/>
        </p:nvSpPr>
        <p:spPr>
          <a:xfrm>
            <a:off x="9098280" y="1874520"/>
            <a:ext cx="2578608" cy="384048"/>
          </a:xfrm>
          <a:prstGeom prst="roundRect">
            <a:avLst>
              <a:gd name="adj" fmla="val 19048"/>
            </a:avLst>
          </a:prstGeom>
          <a:solidFill>
            <a:srgbClr val="0A1264"/>
          </a:solidFill>
          <a:ln w="12700">
            <a:solidFill>
              <a:srgbClr val="DCE1EC"/>
            </a:solidFill>
            <a:prstDash val="solid"/>
          </a:ln>
        </p:spPr>
      </p:sp>
      <p:sp>
        <p:nvSpPr>
          <p:cNvPr id="10" name="Text 8"/>
          <p:cNvSpPr/>
          <p:nvPr/>
        </p:nvSpPr>
        <p:spPr>
          <a:xfrm>
            <a:off x="9208008" y="1874520"/>
            <a:ext cx="2359152" cy="384048"/>
          </a:xfrm>
          <a:prstGeom prst="rect">
            <a:avLst/>
          </a:prstGeom>
          <a:noFill/>
          <a:ln/>
        </p:spPr>
        <p:txBody>
          <a:bodyPr wrap="square" rtlCol="0" anchor="ctr"/>
          <a:lstStyle/>
          <a:p>
            <a:pPr indent="0" marL="0">
              <a:buNone/>
            </a:pPr>
            <a:r>
              <a:rPr lang="en-US" sz="1050" b="1" dirty="0">
                <a:solidFill>
                  <a:srgbClr val="FFFFFF"/>
                </a:solidFill>
                <a:latin typeface="GT America" pitchFamily="34" charset="0"/>
                <a:ea typeface="GT America" pitchFamily="34" charset="-122"/>
                <a:cs typeface="GT America" pitchFamily="34" charset="-120"/>
              </a:rPr>
              <a:t>Video / Additional Evidence</a:t>
            </a:r>
            <a:endParaRPr lang="en-US" sz="1050" dirty="0"/>
          </a:p>
        </p:txBody>
      </p:sp>
      <p:sp>
        <p:nvSpPr>
          <p:cNvPr id="11" name="Shape 9"/>
          <p:cNvSpPr/>
          <p:nvPr/>
        </p:nvSpPr>
        <p:spPr>
          <a:xfrm>
            <a:off x="457200" y="2258568"/>
            <a:ext cx="2825496" cy="342900"/>
          </a:xfrm>
          <a:prstGeom prst="roundRect">
            <a:avLst>
              <a:gd name="adj" fmla="val 21333"/>
            </a:avLst>
          </a:prstGeom>
          <a:solidFill>
            <a:srgbClr val="FFFFFF"/>
          </a:solidFill>
          <a:ln w="12700">
            <a:solidFill>
              <a:srgbClr val="DCE1EC"/>
            </a:solidFill>
            <a:prstDash val="solid"/>
          </a:ln>
        </p:spPr>
      </p:sp>
      <p:sp>
        <p:nvSpPr>
          <p:cNvPr id="12" name="Text 10"/>
          <p:cNvSpPr/>
          <p:nvPr/>
        </p:nvSpPr>
        <p:spPr>
          <a:xfrm>
            <a:off x="566928" y="22585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Loan Origination (Overview)</a:t>
            </a:r>
            <a:endParaRPr lang="en-US" sz="950" dirty="0"/>
          </a:p>
        </p:txBody>
      </p:sp>
      <p:sp>
        <p:nvSpPr>
          <p:cNvPr id="13" name="Shape 11"/>
          <p:cNvSpPr/>
          <p:nvPr/>
        </p:nvSpPr>
        <p:spPr>
          <a:xfrm>
            <a:off x="3337560" y="2258568"/>
            <a:ext cx="5705856" cy="342900"/>
          </a:xfrm>
          <a:prstGeom prst="roundRect">
            <a:avLst>
              <a:gd name="adj" fmla="val 21333"/>
            </a:avLst>
          </a:prstGeom>
          <a:solidFill>
            <a:srgbClr val="FFFFFF"/>
          </a:solidFill>
          <a:ln w="12700">
            <a:solidFill>
              <a:srgbClr val="DCE1EC"/>
            </a:solidFill>
            <a:prstDash val="solid"/>
          </a:ln>
        </p:spPr>
      </p:sp>
      <p:sp>
        <p:nvSpPr>
          <p:cNvPr id="14" name="Text 12">
            <a:hlinkClick r:id="rId1" tooltip="Open landing page"/>
          </p:cNvPr>
          <p:cNvSpPr/>
          <p:nvPr/>
        </p:nvSpPr>
        <p:spPr>
          <a:xfrm>
            <a:off x="3447288" y="22585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 invalidUrl="" action="" tgtFrame="" tooltip="Open landing page" history="1" highlightClick="0" endSnd="0">
                  <a:extLst>
                    <a:ext uri="{A12FA001-AC4F-418D-AE19-62706E023703}">
                      <ahyp:hlinkClr xmlns:ahyp="http://schemas.microsoft.com/office/drawing/2018/hyperlinkcolor" val="tx"/>
                    </a:ext>
                  </a:extLst>
                </a:hlinkClick>
              </a:rPr>
              <a:t>moodys.com/solutions/lending/loan-origination</a:t>
            </a:r>
            <a:endParaRPr lang="en-US" sz="950" dirty="0"/>
          </a:p>
        </p:txBody>
      </p:sp>
      <p:sp>
        <p:nvSpPr>
          <p:cNvPr id="15" name="Shape 13"/>
          <p:cNvSpPr/>
          <p:nvPr/>
        </p:nvSpPr>
        <p:spPr>
          <a:xfrm>
            <a:off x="9098280" y="2258568"/>
            <a:ext cx="2578608" cy="342900"/>
          </a:xfrm>
          <a:prstGeom prst="roundRect">
            <a:avLst>
              <a:gd name="adj" fmla="val 21333"/>
            </a:avLst>
          </a:prstGeom>
          <a:solidFill>
            <a:srgbClr val="FFFFFF"/>
          </a:solidFill>
          <a:ln w="12700">
            <a:solidFill>
              <a:srgbClr val="DCE1EC"/>
            </a:solidFill>
            <a:prstDash val="solid"/>
          </a:ln>
        </p:spPr>
      </p:sp>
      <p:sp>
        <p:nvSpPr>
          <p:cNvPr id="16" name="Text 14">
            <a:hlinkClick r:id="rId2" tooltip="Video"/>
          </p:cNvPr>
          <p:cNvSpPr/>
          <p:nvPr/>
        </p:nvSpPr>
        <p:spPr>
          <a:xfrm>
            <a:off x="9208008" y="2258568"/>
            <a:ext cx="2414016"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2" invalidUrl="" action="" tgtFrame="" tooltip="Video" history="1" highlightClick="0" endSnd="0">
                  <a:extLst>
                    <a:ext uri="{A12FA001-AC4F-418D-AE19-62706E023703}">
                      <ahyp:hlinkClr xmlns:ahyp="http://schemas.microsoft.com/office/drawing/2018/hyperlinkcolor" val="tx"/>
                    </a:ext>
                  </a:extLst>
                </a:hlinkClick>
              </a:rPr>
              <a:t>Video</a:t>
            </a:r>
            <a:endParaRPr lang="en-US" sz="950" dirty="0"/>
          </a:p>
        </p:txBody>
      </p:sp>
      <p:sp>
        <p:nvSpPr>
          <p:cNvPr id="17" name="Shape 15"/>
          <p:cNvSpPr/>
          <p:nvPr/>
        </p:nvSpPr>
        <p:spPr>
          <a:xfrm>
            <a:off x="457200" y="2601468"/>
            <a:ext cx="2825496" cy="342900"/>
          </a:xfrm>
          <a:prstGeom prst="roundRect">
            <a:avLst>
              <a:gd name="adj" fmla="val 21333"/>
            </a:avLst>
          </a:prstGeom>
          <a:solidFill>
            <a:srgbClr val="EAEEF7"/>
          </a:solidFill>
          <a:ln w="12700">
            <a:solidFill>
              <a:srgbClr val="DCE1EC"/>
            </a:solidFill>
            <a:prstDash val="solid"/>
          </a:ln>
        </p:spPr>
      </p:sp>
      <p:sp>
        <p:nvSpPr>
          <p:cNvPr id="18" name="Text 16"/>
          <p:cNvSpPr/>
          <p:nvPr/>
        </p:nvSpPr>
        <p:spPr>
          <a:xfrm>
            <a:off x="566928" y="26014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Borrower Engagement</a:t>
            </a:r>
            <a:endParaRPr lang="en-US" sz="950" dirty="0"/>
          </a:p>
        </p:txBody>
      </p:sp>
      <p:sp>
        <p:nvSpPr>
          <p:cNvPr id="19" name="Shape 17"/>
          <p:cNvSpPr/>
          <p:nvPr/>
        </p:nvSpPr>
        <p:spPr>
          <a:xfrm>
            <a:off x="3337560" y="2601468"/>
            <a:ext cx="5705856" cy="342900"/>
          </a:xfrm>
          <a:prstGeom prst="roundRect">
            <a:avLst>
              <a:gd name="adj" fmla="val 21333"/>
            </a:avLst>
          </a:prstGeom>
          <a:solidFill>
            <a:srgbClr val="EAEEF7"/>
          </a:solidFill>
          <a:ln w="12700">
            <a:solidFill>
              <a:srgbClr val="DCE1EC"/>
            </a:solidFill>
            <a:prstDash val="solid"/>
          </a:ln>
        </p:spPr>
      </p:sp>
      <p:sp>
        <p:nvSpPr>
          <p:cNvPr id="20" name="Text 18">
            <a:hlinkClick r:id="rId3" tooltip="Open landing page"/>
          </p:cNvPr>
          <p:cNvSpPr/>
          <p:nvPr/>
        </p:nvSpPr>
        <p:spPr>
          <a:xfrm>
            <a:off x="3447288" y="26014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3" invalidUrl="" action="" tgtFrame="" tooltip="Open landing page" history="1" highlightClick="0" endSnd="0">
                  <a:extLst>
                    <a:ext uri="{A12FA001-AC4F-418D-AE19-62706E023703}">
                      <ahyp:hlinkClr xmlns:ahyp="http://schemas.microsoft.com/office/drawing/2018/hyperlinkcolor" val="tx"/>
                    </a:ext>
                  </a:extLst>
                </a:hlinkClick>
              </a:rPr>
              <a:t>moodys.com/.../borrower-engagement</a:t>
            </a:r>
            <a:endParaRPr lang="en-US" sz="950" dirty="0"/>
          </a:p>
        </p:txBody>
      </p:sp>
      <p:sp>
        <p:nvSpPr>
          <p:cNvPr id="21" name="Shape 19"/>
          <p:cNvSpPr/>
          <p:nvPr/>
        </p:nvSpPr>
        <p:spPr>
          <a:xfrm>
            <a:off x="9098280" y="2601468"/>
            <a:ext cx="2578608" cy="342900"/>
          </a:xfrm>
          <a:prstGeom prst="roundRect">
            <a:avLst>
              <a:gd name="adj" fmla="val 21333"/>
            </a:avLst>
          </a:prstGeom>
          <a:solidFill>
            <a:srgbClr val="EAEEF7"/>
          </a:solidFill>
          <a:ln w="12700">
            <a:solidFill>
              <a:srgbClr val="DCE1EC"/>
            </a:solidFill>
            <a:prstDash val="solid"/>
          </a:ln>
        </p:spPr>
      </p:sp>
      <p:sp>
        <p:nvSpPr>
          <p:cNvPr id="22" name="Text 20"/>
          <p:cNvSpPr/>
          <p:nvPr/>
        </p:nvSpPr>
        <p:spPr>
          <a:xfrm>
            <a:off x="9208008" y="26014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23" name="Shape 21"/>
          <p:cNvSpPr/>
          <p:nvPr/>
        </p:nvSpPr>
        <p:spPr>
          <a:xfrm>
            <a:off x="457200" y="2944368"/>
            <a:ext cx="2825496" cy="342900"/>
          </a:xfrm>
          <a:prstGeom prst="roundRect">
            <a:avLst>
              <a:gd name="adj" fmla="val 21333"/>
            </a:avLst>
          </a:prstGeom>
          <a:solidFill>
            <a:srgbClr val="FFFFFF"/>
          </a:solidFill>
          <a:ln w="12700">
            <a:solidFill>
              <a:srgbClr val="DCE1EC"/>
            </a:solidFill>
            <a:prstDash val="solid"/>
          </a:ln>
        </p:spPr>
      </p:sp>
      <p:sp>
        <p:nvSpPr>
          <p:cNvPr id="24" name="Text 22"/>
          <p:cNvSpPr/>
          <p:nvPr/>
        </p:nvSpPr>
        <p:spPr>
          <a:xfrm>
            <a:off x="566928" y="29443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Spreading &amp; Scoring</a:t>
            </a:r>
            <a:endParaRPr lang="en-US" sz="950" dirty="0"/>
          </a:p>
        </p:txBody>
      </p:sp>
      <p:sp>
        <p:nvSpPr>
          <p:cNvPr id="25" name="Shape 23"/>
          <p:cNvSpPr/>
          <p:nvPr/>
        </p:nvSpPr>
        <p:spPr>
          <a:xfrm>
            <a:off x="3337560" y="2944368"/>
            <a:ext cx="5705856" cy="342900"/>
          </a:xfrm>
          <a:prstGeom prst="roundRect">
            <a:avLst>
              <a:gd name="adj" fmla="val 21333"/>
            </a:avLst>
          </a:prstGeom>
          <a:solidFill>
            <a:srgbClr val="FFFFFF"/>
          </a:solidFill>
          <a:ln w="12700">
            <a:solidFill>
              <a:srgbClr val="DCE1EC"/>
            </a:solidFill>
            <a:prstDash val="solid"/>
          </a:ln>
        </p:spPr>
      </p:sp>
      <p:sp>
        <p:nvSpPr>
          <p:cNvPr id="26" name="Text 24">
            <a:hlinkClick r:id="rId4" tooltip="Open landing page"/>
          </p:cNvPr>
          <p:cNvSpPr/>
          <p:nvPr/>
        </p:nvSpPr>
        <p:spPr>
          <a:xfrm>
            <a:off x="3447288" y="29443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4" invalidUrl="" action="" tgtFrame="" tooltip="Open landing page" history="1" highlightClick="0" endSnd="0">
                  <a:extLst>
                    <a:ext uri="{A12FA001-AC4F-418D-AE19-62706E023703}">
                      <ahyp:hlinkClr xmlns:ahyp="http://schemas.microsoft.com/office/drawing/2018/hyperlinkcolor" val="tx"/>
                    </a:ext>
                  </a:extLst>
                </a:hlinkClick>
              </a:rPr>
              <a:t>moodys.com/.../spreading-scoring</a:t>
            </a:r>
            <a:endParaRPr lang="en-US" sz="950" dirty="0"/>
          </a:p>
        </p:txBody>
      </p:sp>
      <p:sp>
        <p:nvSpPr>
          <p:cNvPr id="27" name="Shape 25"/>
          <p:cNvSpPr/>
          <p:nvPr/>
        </p:nvSpPr>
        <p:spPr>
          <a:xfrm>
            <a:off x="9098280" y="2944368"/>
            <a:ext cx="2578608" cy="342900"/>
          </a:xfrm>
          <a:prstGeom prst="roundRect">
            <a:avLst>
              <a:gd name="adj" fmla="val 21333"/>
            </a:avLst>
          </a:prstGeom>
          <a:solidFill>
            <a:srgbClr val="FFFFFF"/>
          </a:solidFill>
          <a:ln w="12700">
            <a:solidFill>
              <a:srgbClr val="DCE1EC"/>
            </a:solidFill>
            <a:prstDash val="solid"/>
          </a:ln>
        </p:spPr>
      </p:sp>
      <p:sp>
        <p:nvSpPr>
          <p:cNvPr id="28" name="Text 26"/>
          <p:cNvSpPr/>
          <p:nvPr/>
        </p:nvSpPr>
        <p:spPr>
          <a:xfrm>
            <a:off x="9208008" y="29443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29" name="Shape 27"/>
          <p:cNvSpPr/>
          <p:nvPr/>
        </p:nvSpPr>
        <p:spPr>
          <a:xfrm>
            <a:off x="457200" y="3287268"/>
            <a:ext cx="2825496" cy="342900"/>
          </a:xfrm>
          <a:prstGeom prst="roundRect">
            <a:avLst>
              <a:gd name="adj" fmla="val 21333"/>
            </a:avLst>
          </a:prstGeom>
          <a:solidFill>
            <a:srgbClr val="EAEEF7"/>
          </a:solidFill>
          <a:ln w="12700">
            <a:solidFill>
              <a:srgbClr val="DCE1EC"/>
            </a:solidFill>
            <a:prstDash val="solid"/>
          </a:ln>
        </p:spPr>
      </p:sp>
      <p:sp>
        <p:nvSpPr>
          <p:cNvPr id="30" name="Text 28"/>
          <p:cNvSpPr/>
          <p:nvPr/>
        </p:nvSpPr>
        <p:spPr>
          <a:xfrm>
            <a:off x="566928" y="32872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Automated Spreading</a:t>
            </a:r>
            <a:endParaRPr lang="en-US" sz="950" dirty="0"/>
          </a:p>
        </p:txBody>
      </p:sp>
      <p:sp>
        <p:nvSpPr>
          <p:cNvPr id="31" name="Shape 29"/>
          <p:cNvSpPr/>
          <p:nvPr/>
        </p:nvSpPr>
        <p:spPr>
          <a:xfrm>
            <a:off x="3337560" y="3287268"/>
            <a:ext cx="5705856" cy="342900"/>
          </a:xfrm>
          <a:prstGeom prst="roundRect">
            <a:avLst>
              <a:gd name="adj" fmla="val 21333"/>
            </a:avLst>
          </a:prstGeom>
          <a:solidFill>
            <a:srgbClr val="EAEEF7"/>
          </a:solidFill>
          <a:ln w="12700">
            <a:solidFill>
              <a:srgbClr val="DCE1EC"/>
            </a:solidFill>
            <a:prstDash val="solid"/>
          </a:ln>
        </p:spPr>
      </p:sp>
      <p:sp>
        <p:nvSpPr>
          <p:cNvPr id="32" name="Text 30">
            <a:hlinkClick r:id="rId5" tooltip="Open landing page"/>
          </p:cNvPr>
          <p:cNvSpPr/>
          <p:nvPr/>
        </p:nvSpPr>
        <p:spPr>
          <a:xfrm>
            <a:off x="3447288" y="32872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5" invalidUrl="" action="" tgtFrame="" tooltip="Open landing page" history="1" highlightClick="0" endSnd="0">
                  <a:extLst>
                    <a:ext uri="{A12FA001-AC4F-418D-AE19-62706E023703}">
                      <ahyp:hlinkClr xmlns:ahyp="http://schemas.microsoft.com/office/drawing/2018/hyperlinkcolor" val="tx"/>
                    </a:ext>
                  </a:extLst>
                </a:hlinkClick>
              </a:rPr>
              <a:t>moodys.com/.../spreading-scoring (Automated Spreading)</a:t>
            </a:r>
            <a:endParaRPr lang="en-US" sz="950" dirty="0"/>
          </a:p>
        </p:txBody>
      </p:sp>
      <p:sp>
        <p:nvSpPr>
          <p:cNvPr id="33" name="Shape 31"/>
          <p:cNvSpPr/>
          <p:nvPr/>
        </p:nvSpPr>
        <p:spPr>
          <a:xfrm>
            <a:off x="9098280" y="3287268"/>
            <a:ext cx="2578608" cy="342900"/>
          </a:xfrm>
          <a:prstGeom prst="roundRect">
            <a:avLst>
              <a:gd name="adj" fmla="val 21333"/>
            </a:avLst>
          </a:prstGeom>
          <a:solidFill>
            <a:srgbClr val="EAEEF7"/>
          </a:solidFill>
          <a:ln w="12700">
            <a:solidFill>
              <a:srgbClr val="DCE1EC"/>
            </a:solidFill>
            <a:prstDash val="solid"/>
          </a:ln>
        </p:spPr>
      </p:sp>
      <p:sp>
        <p:nvSpPr>
          <p:cNvPr id="34" name="Text 32"/>
          <p:cNvSpPr/>
          <p:nvPr/>
        </p:nvSpPr>
        <p:spPr>
          <a:xfrm>
            <a:off x="9208008" y="3287268"/>
            <a:ext cx="2414016" cy="342900"/>
          </a:xfrm>
          <a:prstGeom prst="rect">
            <a:avLst/>
          </a:prstGeom>
          <a:noFill/>
          <a:ln/>
        </p:spPr>
        <p:txBody>
          <a:bodyPr wrap="square" rtlCol="0" anchor="ctr"/>
          <a:lstStyle/>
          <a:p>
            <a:pPr indent="0" marL="0">
              <a:buNone/>
            </a:pPr>
            <a:r>
              <a:rPr lang="en-US" sz="900" i="1" dirty="0">
                <a:solidFill>
                  <a:srgbClr val="5B6472"/>
                </a:solidFill>
                <a:latin typeface="GT America" pitchFamily="34" charset="0"/>
                <a:ea typeface="GT America" pitchFamily="34" charset="-122"/>
                <a:cs typeface="GT America" pitchFamily="34" charset="-120"/>
              </a:rPr>
              <a:t>Demo video (internal asset)</a:t>
            </a:r>
            <a:endParaRPr lang="en-US" sz="900" dirty="0"/>
          </a:p>
        </p:txBody>
      </p:sp>
      <p:sp>
        <p:nvSpPr>
          <p:cNvPr id="35" name="Shape 33"/>
          <p:cNvSpPr/>
          <p:nvPr/>
        </p:nvSpPr>
        <p:spPr>
          <a:xfrm>
            <a:off x="457200" y="3630168"/>
            <a:ext cx="2825496" cy="342900"/>
          </a:xfrm>
          <a:prstGeom prst="roundRect">
            <a:avLst>
              <a:gd name="adj" fmla="val 21333"/>
            </a:avLst>
          </a:prstGeom>
          <a:solidFill>
            <a:srgbClr val="FFFFFF"/>
          </a:solidFill>
          <a:ln w="12700">
            <a:solidFill>
              <a:srgbClr val="DCE1EC"/>
            </a:solidFill>
            <a:prstDash val="solid"/>
          </a:ln>
        </p:spPr>
      </p:sp>
      <p:sp>
        <p:nvSpPr>
          <p:cNvPr id="36" name="Text 34"/>
          <p:cNvSpPr/>
          <p:nvPr/>
        </p:nvSpPr>
        <p:spPr>
          <a:xfrm>
            <a:off x="566928" y="36301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Underwriting &amp; Decisioning</a:t>
            </a:r>
            <a:endParaRPr lang="en-US" sz="950" dirty="0"/>
          </a:p>
        </p:txBody>
      </p:sp>
      <p:sp>
        <p:nvSpPr>
          <p:cNvPr id="37" name="Shape 35"/>
          <p:cNvSpPr/>
          <p:nvPr/>
        </p:nvSpPr>
        <p:spPr>
          <a:xfrm>
            <a:off x="3337560" y="3630168"/>
            <a:ext cx="5705856" cy="342900"/>
          </a:xfrm>
          <a:prstGeom prst="roundRect">
            <a:avLst>
              <a:gd name="adj" fmla="val 21333"/>
            </a:avLst>
          </a:prstGeom>
          <a:solidFill>
            <a:srgbClr val="FFFFFF"/>
          </a:solidFill>
          <a:ln w="12700">
            <a:solidFill>
              <a:srgbClr val="DCE1EC"/>
            </a:solidFill>
            <a:prstDash val="solid"/>
          </a:ln>
        </p:spPr>
      </p:sp>
      <p:sp>
        <p:nvSpPr>
          <p:cNvPr id="38" name="Text 36">
            <a:hlinkClick r:id="rId6" tooltip="Open landing page"/>
          </p:cNvPr>
          <p:cNvSpPr/>
          <p:nvPr/>
        </p:nvSpPr>
        <p:spPr>
          <a:xfrm>
            <a:off x="3447288" y="36301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6" invalidUrl="" action="" tgtFrame="" tooltip="Open landing page" history="1" highlightClick="0" endSnd="0">
                  <a:extLst>
                    <a:ext uri="{A12FA001-AC4F-418D-AE19-62706E023703}">
                      <ahyp:hlinkClr xmlns:ahyp="http://schemas.microsoft.com/office/drawing/2018/hyperlinkcolor" val="tx"/>
                    </a:ext>
                  </a:extLst>
                </a:hlinkClick>
              </a:rPr>
              <a:t>moodys.com/.../underwriting-decisioning</a:t>
            </a:r>
            <a:endParaRPr lang="en-US" sz="950" dirty="0"/>
          </a:p>
        </p:txBody>
      </p:sp>
      <p:sp>
        <p:nvSpPr>
          <p:cNvPr id="39" name="Shape 37"/>
          <p:cNvSpPr/>
          <p:nvPr/>
        </p:nvSpPr>
        <p:spPr>
          <a:xfrm>
            <a:off x="9098280" y="3630168"/>
            <a:ext cx="2578608" cy="342900"/>
          </a:xfrm>
          <a:prstGeom prst="roundRect">
            <a:avLst>
              <a:gd name="adj" fmla="val 21333"/>
            </a:avLst>
          </a:prstGeom>
          <a:solidFill>
            <a:srgbClr val="FFFFFF"/>
          </a:solidFill>
          <a:ln w="12700">
            <a:solidFill>
              <a:srgbClr val="DCE1EC"/>
            </a:solidFill>
            <a:prstDash val="solid"/>
          </a:ln>
        </p:spPr>
      </p:sp>
      <p:sp>
        <p:nvSpPr>
          <p:cNvPr id="40" name="Text 38"/>
          <p:cNvSpPr/>
          <p:nvPr/>
        </p:nvSpPr>
        <p:spPr>
          <a:xfrm>
            <a:off x="9208008" y="36301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41" name="Shape 39"/>
          <p:cNvSpPr/>
          <p:nvPr/>
        </p:nvSpPr>
        <p:spPr>
          <a:xfrm>
            <a:off x="457200" y="3973068"/>
            <a:ext cx="2825496" cy="342900"/>
          </a:xfrm>
          <a:prstGeom prst="roundRect">
            <a:avLst>
              <a:gd name="adj" fmla="val 21333"/>
            </a:avLst>
          </a:prstGeom>
          <a:solidFill>
            <a:srgbClr val="EAEEF7"/>
          </a:solidFill>
          <a:ln w="12700">
            <a:solidFill>
              <a:srgbClr val="DCE1EC"/>
            </a:solidFill>
            <a:prstDash val="solid"/>
          </a:ln>
        </p:spPr>
      </p:sp>
      <p:sp>
        <p:nvSpPr>
          <p:cNvPr id="42" name="Text 40"/>
          <p:cNvSpPr/>
          <p:nvPr/>
        </p:nvSpPr>
        <p:spPr>
          <a:xfrm>
            <a:off x="566928" y="39730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Automated Credit Memo</a:t>
            </a:r>
            <a:endParaRPr lang="en-US" sz="950" dirty="0"/>
          </a:p>
        </p:txBody>
      </p:sp>
      <p:sp>
        <p:nvSpPr>
          <p:cNvPr id="43" name="Shape 41"/>
          <p:cNvSpPr/>
          <p:nvPr/>
        </p:nvSpPr>
        <p:spPr>
          <a:xfrm>
            <a:off x="3337560" y="3973068"/>
            <a:ext cx="5705856" cy="342900"/>
          </a:xfrm>
          <a:prstGeom prst="roundRect">
            <a:avLst>
              <a:gd name="adj" fmla="val 21333"/>
            </a:avLst>
          </a:prstGeom>
          <a:solidFill>
            <a:srgbClr val="EAEEF7"/>
          </a:solidFill>
          <a:ln w="12700">
            <a:solidFill>
              <a:srgbClr val="DCE1EC"/>
            </a:solidFill>
            <a:prstDash val="solid"/>
          </a:ln>
        </p:spPr>
      </p:sp>
      <p:sp>
        <p:nvSpPr>
          <p:cNvPr id="44" name="Text 42">
            <a:hlinkClick r:id="rId7" tooltip="Open landing page"/>
          </p:cNvPr>
          <p:cNvSpPr/>
          <p:nvPr/>
        </p:nvSpPr>
        <p:spPr>
          <a:xfrm>
            <a:off x="3447288" y="39730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7" invalidUrl="" action="" tgtFrame="" tooltip="Open landing page" history="1" highlightClick="0" endSnd="0">
                  <a:extLst>
                    <a:ext uri="{A12FA001-AC4F-418D-AE19-62706E023703}">
                      <ahyp:hlinkClr xmlns:ahyp="http://schemas.microsoft.com/office/drawing/2018/hyperlinkcolor" val="tx"/>
                    </a:ext>
                  </a:extLst>
                </a:hlinkClick>
              </a:rPr>
              <a:t>moodys.com/.../underwriting-decisioning (Credit Memo)</a:t>
            </a:r>
            <a:endParaRPr lang="en-US" sz="950" dirty="0"/>
          </a:p>
        </p:txBody>
      </p:sp>
      <p:sp>
        <p:nvSpPr>
          <p:cNvPr id="45" name="Shape 43"/>
          <p:cNvSpPr/>
          <p:nvPr/>
        </p:nvSpPr>
        <p:spPr>
          <a:xfrm>
            <a:off x="9098280" y="3973068"/>
            <a:ext cx="2578608" cy="342900"/>
          </a:xfrm>
          <a:prstGeom prst="roundRect">
            <a:avLst>
              <a:gd name="adj" fmla="val 21333"/>
            </a:avLst>
          </a:prstGeom>
          <a:solidFill>
            <a:srgbClr val="EAEEF7"/>
          </a:solidFill>
          <a:ln w="12700">
            <a:solidFill>
              <a:srgbClr val="DCE1EC"/>
            </a:solidFill>
            <a:prstDash val="solid"/>
          </a:ln>
        </p:spPr>
      </p:sp>
      <p:sp>
        <p:nvSpPr>
          <p:cNvPr id="46" name="Text 44">
            <a:hlinkClick r:id="rId8" tooltip="Video"/>
          </p:cNvPr>
          <p:cNvSpPr/>
          <p:nvPr/>
        </p:nvSpPr>
        <p:spPr>
          <a:xfrm>
            <a:off x="9208008" y="3973068"/>
            <a:ext cx="2414016"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8" invalidUrl="" action="" tgtFrame="" tooltip="Video" history="1" highlightClick="0" endSnd="0">
                  <a:extLst>
                    <a:ext uri="{A12FA001-AC4F-418D-AE19-62706E023703}">
                      <ahyp:hlinkClr xmlns:ahyp="http://schemas.microsoft.com/office/drawing/2018/hyperlinkcolor" val="tx"/>
                    </a:ext>
                  </a:extLst>
                </a:hlinkClick>
              </a:rPr>
              <a:t>Video</a:t>
            </a:r>
            <a:endParaRPr lang="en-US" sz="950" dirty="0"/>
          </a:p>
        </p:txBody>
      </p:sp>
      <p:sp>
        <p:nvSpPr>
          <p:cNvPr id="47" name="Shape 45"/>
          <p:cNvSpPr/>
          <p:nvPr/>
        </p:nvSpPr>
        <p:spPr>
          <a:xfrm>
            <a:off x="457200" y="4315968"/>
            <a:ext cx="2825496" cy="342900"/>
          </a:xfrm>
          <a:prstGeom prst="roundRect">
            <a:avLst>
              <a:gd name="adj" fmla="val 21333"/>
            </a:avLst>
          </a:prstGeom>
          <a:solidFill>
            <a:srgbClr val="FFFFFF"/>
          </a:solidFill>
          <a:ln w="12700">
            <a:solidFill>
              <a:srgbClr val="DCE1EC"/>
            </a:solidFill>
            <a:prstDash val="solid"/>
          </a:ln>
        </p:spPr>
      </p:sp>
      <p:sp>
        <p:nvSpPr>
          <p:cNvPr id="48" name="Text 46"/>
          <p:cNvSpPr/>
          <p:nvPr/>
        </p:nvSpPr>
        <p:spPr>
          <a:xfrm>
            <a:off x="566928" y="43159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Loan Operations</a:t>
            </a:r>
            <a:endParaRPr lang="en-US" sz="950" dirty="0"/>
          </a:p>
        </p:txBody>
      </p:sp>
      <p:sp>
        <p:nvSpPr>
          <p:cNvPr id="49" name="Shape 47"/>
          <p:cNvSpPr/>
          <p:nvPr/>
        </p:nvSpPr>
        <p:spPr>
          <a:xfrm>
            <a:off x="3337560" y="4315968"/>
            <a:ext cx="5705856" cy="342900"/>
          </a:xfrm>
          <a:prstGeom prst="roundRect">
            <a:avLst>
              <a:gd name="adj" fmla="val 21333"/>
            </a:avLst>
          </a:prstGeom>
          <a:solidFill>
            <a:srgbClr val="FFFFFF"/>
          </a:solidFill>
          <a:ln w="12700">
            <a:solidFill>
              <a:srgbClr val="DCE1EC"/>
            </a:solidFill>
            <a:prstDash val="solid"/>
          </a:ln>
        </p:spPr>
      </p:sp>
      <p:sp>
        <p:nvSpPr>
          <p:cNvPr id="50" name="Text 48">
            <a:hlinkClick r:id="rId9" tooltip="Open landing page"/>
          </p:cNvPr>
          <p:cNvSpPr/>
          <p:nvPr/>
        </p:nvSpPr>
        <p:spPr>
          <a:xfrm>
            <a:off x="3447288" y="43159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9" invalidUrl="" action="" tgtFrame="" tooltip="Open landing page" history="1" highlightClick="0" endSnd="0">
                  <a:extLst>
                    <a:ext uri="{A12FA001-AC4F-418D-AE19-62706E023703}">
                      <ahyp:hlinkClr xmlns:ahyp="http://schemas.microsoft.com/office/drawing/2018/hyperlinkcolor" val="tx"/>
                    </a:ext>
                  </a:extLst>
                </a:hlinkClick>
              </a:rPr>
              <a:t>moodys.com/.../loan-operations</a:t>
            </a:r>
            <a:endParaRPr lang="en-US" sz="950" dirty="0"/>
          </a:p>
        </p:txBody>
      </p:sp>
      <p:sp>
        <p:nvSpPr>
          <p:cNvPr id="51" name="Shape 49"/>
          <p:cNvSpPr/>
          <p:nvPr/>
        </p:nvSpPr>
        <p:spPr>
          <a:xfrm>
            <a:off x="9098280" y="4315968"/>
            <a:ext cx="2578608" cy="342900"/>
          </a:xfrm>
          <a:prstGeom prst="roundRect">
            <a:avLst>
              <a:gd name="adj" fmla="val 21333"/>
            </a:avLst>
          </a:prstGeom>
          <a:solidFill>
            <a:srgbClr val="FFFFFF"/>
          </a:solidFill>
          <a:ln w="12700">
            <a:solidFill>
              <a:srgbClr val="DCE1EC"/>
            </a:solidFill>
            <a:prstDash val="solid"/>
          </a:ln>
        </p:spPr>
      </p:sp>
      <p:sp>
        <p:nvSpPr>
          <p:cNvPr id="52" name="Text 50"/>
          <p:cNvSpPr/>
          <p:nvPr/>
        </p:nvSpPr>
        <p:spPr>
          <a:xfrm>
            <a:off x="9208008" y="43159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53" name="Shape 51"/>
          <p:cNvSpPr/>
          <p:nvPr/>
        </p:nvSpPr>
        <p:spPr>
          <a:xfrm>
            <a:off x="457200" y="4658868"/>
            <a:ext cx="2825496" cy="342900"/>
          </a:xfrm>
          <a:prstGeom prst="roundRect">
            <a:avLst>
              <a:gd name="adj" fmla="val 21333"/>
            </a:avLst>
          </a:prstGeom>
          <a:solidFill>
            <a:srgbClr val="EAEEF7"/>
          </a:solidFill>
          <a:ln w="12700">
            <a:solidFill>
              <a:srgbClr val="DCE1EC"/>
            </a:solidFill>
            <a:prstDash val="solid"/>
          </a:ln>
        </p:spPr>
      </p:sp>
      <p:sp>
        <p:nvSpPr>
          <p:cNvPr id="54" name="Text 52"/>
          <p:cNvSpPr/>
          <p:nvPr/>
        </p:nvSpPr>
        <p:spPr>
          <a:xfrm>
            <a:off x="566928" y="46588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Loan Monitoring (Overview)</a:t>
            </a:r>
            <a:endParaRPr lang="en-US" sz="950" dirty="0"/>
          </a:p>
        </p:txBody>
      </p:sp>
      <p:sp>
        <p:nvSpPr>
          <p:cNvPr id="55" name="Shape 53"/>
          <p:cNvSpPr/>
          <p:nvPr/>
        </p:nvSpPr>
        <p:spPr>
          <a:xfrm>
            <a:off x="3337560" y="4658868"/>
            <a:ext cx="5705856" cy="342900"/>
          </a:xfrm>
          <a:prstGeom prst="roundRect">
            <a:avLst>
              <a:gd name="adj" fmla="val 21333"/>
            </a:avLst>
          </a:prstGeom>
          <a:solidFill>
            <a:srgbClr val="EAEEF7"/>
          </a:solidFill>
          <a:ln w="12700">
            <a:solidFill>
              <a:srgbClr val="DCE1EC"/>
            </a:solidFill>
            <a:prstDash val="solid"/>
          </a:ln>
        </p:spPr>
      </p:sp>
      <p:sp>
        <p:nvSpPr>
          <p:cNvPr id="56" name="Text 54">
            <a:hlinkClick r:id="rId10" tooltip="Open landing page"/>
          </p:cNvPr>
          <p:cNvSpPr/>
          <p:nvPr/>
        </p:nvSpPr>
        <p:spPr>
          <a:xfrm>
            <a:off x="3447288" y="46588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0" invalidUrl="" action="" tgtFrame="" tooltip="Open landing page" history="1" highlightClick="0" endSnd="0">
                  <a:extLst>
                    <a:ext uri="{A12FA001-AC4F-418D-AE19-62706E023703}">
                      <ahyp:hlinkClr xmlns:ahyp="http://schemas.microsoft.com/office/drawing/2018/hyperlinkcolor" val="tx"/>
                    </a:ext>
                  </a:extLst>
                </a:hlinkClick>
              </a:rPr>
              <a:t>moodys.com/solutions/lending/loan-monitoring</a:t>
            </a:r>
            <a:endParaRPr lang="en-US" sz="950" dirty="0"/>
          </a:p>
        </p:txBody>
      </p:sp>
      <p:sp>
        <p:nvSpPr>
          <p:cNvPr id="57" name="Shape 55"/>
          <p:cNvSpPr/>
          <p:nvPr/>
        </p:nvSpPr>
        <p:spPr>
          <a:xfrm>
            <a:off x="9098280" y="4658868"/>
            <a:ext cx="2578608" cy="342900"/>
          </a:xfrm>
          <a:prstGeom prst="roundRect">
            <a:avLst>
              <a:gd name="adj" fmla="val 21333"/>
            </a:avLst>
          </a:prstGeom>
          <a:solidFill>
            <a:srgbClr val="EAEEF7"/>
          </a:solidFill>
          <a:ln w="12700">
            <a:solidFill>
              <a:srgbClr val="DCE1EC"/>
            </a:solidFill>
            <a:prstDash val="solid"/>
          </a:ln>
        </p:spPr>
      </p:sp>
      <p:sp>
        <p:nvSpPr>
          <p:cNvPr id="58" name="Text 56"/>
          <p:cNvSpPr/>
          <p:nvPr/>
        </p:nvSpPr>
        <p:spPr>
          <a:xfrm>
            <a:off x="9208008" y="46588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59" name="Shape 57"/>
          <p:cNvSpPr/>
          <p:nvPr/>
        </p:nvSpPr>
        <p:spPr>
          <a:xfrm>
            <a:off x="457200" y="5001768"/>
            <a:ext cx="2825496" cy="342900"/>
          </a:xfrm>
          <a:prstGeom prst="roundRect">
            <a:avLst>
              <a:gd name="adj" fmla="val 21333"/>
            </a:avLst>
          </a:prstGeom>
          <a:solidFill>
            <a:srgbClr val="FFFFFF"/>
          </a:solidFill>
          <a:ln w="12700">
            <a:solidFill>
              <a:srgbClr val="DCE1EC"/>
            </a:solidFill>
            <a:prstDash val="solid"/>
          </a:ln>
        </p:spPr>
      </p:sp>
      <p:sp>
        <p:nvSpPr>
          <p:cNvPr id="60" name="Text 58"/>
          <p:cNvSpPr/>
          <p:nvPr/>
        </p:nvSpPr>
        <p:spPr>
          <a:xfrm>
            <a:off x="566928" y="50017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Automated Covenants</a:t>
            </a:r>
            <a:endParaRPr lang="en-US" sz="950" dirty="0"/>
          </a:p>
        </p:txBody>
      </p:sp>
      <p:sp>
        <p:nvSpPr>
          <p:cNvPr id="61" name="Shape 59"/>
          <p:cNvSpPr/>
          <p:nvPr/>
        </p:nvSpPr>
        <p:spPr>
          <a:xfrm>
            <a:off x="3337560" y="5001768"/>
            <a:ext cx="5705856" cy="342900"/>
          </a:xfrm>
          <a:prstGeom prst="roundRect">
            <a:avLst>
              <a:gd name="adj" fmla="val 21333"/>
            </a:avLst>
          </a:prstGeom>
          <a:solidFill>
            <a:srgbClr val="FFFFFF"/>
          </a:solidFill>
          <a:ln w="12700">
            <a:solidFill>
              <a:srgbClr val="DCE1EC"/>
            </a:solidFill>
            <a:prstDash val="solid"/>
          </a:ln>
        </p:spPr>
      </p:sp>
      <p:sp>
        <p:nvSpPr>
          <p:cNvPr id="62" name="Text 60">
            <a:hlinkClick r:id="rId11" tooltip="Open landing page"/>
          </p:cNvPr>
          <p:cNvSpPr/>
          <p:nvPr/>
        </p:nvSpPr>
        <p:spPr>
          <a:xfrm>
            <a:off x="3447288" y="50017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1" invalidUrl="" action="" tgtFrame="" tooltip="Open landing page" history="1" highlightClick="0" endSnd="0">
                  <a:extLst>
                    <a:ext uri="{A12FA001-AC4F-418D-AE19-62706E023703}">
                      <ahyp:hlinkClr xmlns:ahyp="http://schemas.microsoft.com/office/drawing/2018/hyperlinkcolor" val="tx"/>
                    </a:ext>
                  </a:extLst>
                </a:hlinkClick>
              </a:rPr>
              <a:t>moodys.com/.../loan-monitoring (Automated Covenants)</a:t>
            </a:r>
            <a:endParaRPr lang="en-US" sz="950" dirty="0"/>
          </a:p>
        </p:txBody>
      </p:sp>
      <p:sp>
        <p:nvSpPr>
          <p:cNvPr id="63" name="Shape 61"/>
          <p:cNvSpPr/>
          <p:nvPr/>
        </p:nvSpPr>
        <p:spPr>
          <a:xfrm>
            <a:off x="9098280" y="5001768"/>
            <a:ext cx="2578608" cy="342900"/>
          </a:xfrm>
          <a:prstGeom prst="roundRect">
            <a:avLst>
              <a:gd name="adj" fmla="val 21333"/>
            </a:avLst>
          </a:prstGeom>
          <a:solidFill>
            <a:srgbClr val="FFFFFF"/>
          </a:solidFill>
          <a:ln w="12700">
            <a:solidFill>
              <a:srgbClr val="DCE1EC"/>
            </a:solidFill>
            <a:prstDash val="solid"/>
          </a:ln>
        </p:spPr>
      </p:sp>
      <p:sp>
        <p:nvSpPr>
          <p:cNvPr id="64" name="Text 62">
            <a:hlinkClick r:id="rId12" tooltip="Case study"/>
          </p:cNvPr>
          <p:cNvSpPr/>
          <p:nvPr/>
        </p:nvSpPr>
        <p:spPr>
          <a:xfrm>
            <a:off x="9208008" y="5001768"/>
            <a:ext cx="2414016"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2" invalidUrl="" action="" tgtFrame="" tooltip="Case study" history="1" highlightClick="0" endSnd="0">
                  <a:extLst>
                    <a:ext uri="{A12FA001-AC4F-418D-AE19-62706E023703}">
                      <ahyp:hlinkClr xmlns:ahyp="http://schemas.microsoft.com/office/drawing/2018/hyperlinkcolor" val="tx"/>
                    </a:ext>
                  </a:extLst>
                </a:hlinkClick>
              </a:rPr>
              <a:t>Case study</a:t>
            </a:r>
            <a:endParaRPr lang="en-US" sz="950" dirty="0"/>
          </a:p>
        </p:txBody>
      </p:sp>
      <p:sp>
        <p:nvSpPr>
          <p:cNvPr id="65" name="Shape 63"/>
          <p:cNvSpPr/>
          <p:nvPr/>
        </p:nvSpPr>
        <p:spPr>
          <a:xfrm>
            <a:off x="457200" y="5344668"/>
            <a:ext cx="2825496" cy="342900"/>
          </a:xfrm>
          <a:prstGeom prst="roundRect">
            <a:avLst>
              <a:gd name="adj" fmla="val 21333"/>
            </a:avLst>
          </a:prstGeom>
          <a:solidFill>
            <a:srgbClr val="EAEEF7"/>
          </a:solidFill>
          <a:ln w="12700">
            <a:solidFill>
              <a:srgbClr val="DCE1EC"/>
            </a:solidFill>
            <a:prstDash val="solid"/>
          </a:ln>
        </p:spPr>
      </p:sp>
      <p:sp>
        <p:nvSpPr>
          <p:cNvPr id="66" name="Text 64"/>
          <p:cNvSpPr/>
          <p:nvPr/>
        </p:nvSpPr>
        <p:spPr>
          <a:xfrm>
            <a:off x="566928" y="53446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Commercial Real Estate (CRE)</a:t>
            </a:r>
            <a:endParaRPr lang="en-US" sz="950" dirty="0"/>
          </a:p>
        </p:txBody>
      </p:sp>
      <p:sp>
        <p:nvSpPr>
          <p:cNvPr id="67" name="Shape 65"/>
          <p:cNvSpPr/>
          <p:nvPr/>
        </p:nvSpPr>
        <p:spPr>
          <a:xfrm>
            <a:off x="3337560" y="5344668"/>
            <a:ext cx="5705856" cy="342900"/>
          </a:xfrm>
          <a:prstGeom prst="roundRect">
            <a:avLst>
              <a:gd name="adj" fmla="val 21333"/>
            </a:avLst>
          </a:prstGeom>
          <a:solidFill>
            <a:srgbClr val="EAEEF7"/>
          </a:solidFill>
          <a:ln w="12700">
            <a:solidFill>
              <a:srgbClr val="DCE1EC"/>
            </a:solidFill>
            <a:prstDash val="solid"/>
          </a:ln>
        </p:spPr>
      </p:sp>
      <p:sp>
        <p:nvSpPr>
          <p:cNvPr id="68" name="Text 66">
            <a:hlinkClick r:id="rId13" tooltip="Open landing page"/>
          </p:cNvPr>
          <p:cNvSpPr/>
          <p:nvPr/>
        </p:nvSpPr>
        <p:spPr>
          <a:xfrm>
            <a:off x="3447288" y="53446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3" invalidUrl="" action="" tgtFrame="" tooltip="Open landing page" history="1" highlightClick="0" endSnd="0">
                  <a:extLst>
                    <a:ext uri="{A12FA001-AC4F-418D-AE19-62706E023703}">
                      <ahyp:hlinkClr xmlns:ahyp="http://schemas.microsoft.com/office/drawing/2018/hyperlinkcolor" val="tx"/>
                    </a:ext>
                  </a:extLst>
                </a:hlinkClick>
              </a:rPr>
              <a:t>moodys.com/.../commercial-real-estate</a:t>
            </a:r>
            <a:endParaRPr lang="en-US" sz="950" dirty="0"/>
          </a:p>
        </p:txBody>
      </p:sp>
      <p:sp>
        <p:nvSpPr>
          <p:cNvPr id="69" name="Shape 67"/>
          <p:cNvSpPr/>
          <p:nvPr/>
        </p:nvSpPr>
        <p:spPr>
          <a:xfrm>
            <a:off x="9098280" y="5344668"/>
            <a:ext cx="2578608" cy="342900"/>
          </a:xfrm>
          <a:prstGeom prst="roundRect">
            <a:avLst>
              <a:gd name="adj" fmla="val 21333"/>
            </a:avLst>
          </a:prstGeom>
          <a:solidFill>
            <a:srgbClr val="EAEEF7"/>
          </a:solidFill>
          <a:ln w="12700">
            <a:solidFill>
              <a:srgbClr val="DCE1EC"/>
            </a:solidFill>
            <a:prstDash val="solid"/>
          </a:ln>
        </p:spPr>
      </p:sp>
      <p:sp>
        <p:nvSpPr>
          <p:cNvPr id="70" name="Text 68"/>
          <p:cNvSpPr/>
          <p:nvPr/>
        </p:nvSpPr>
        <p:spPr>
          <a:xfrm>
            <a:off x="9208008" y="53446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71" name="Shape 69"/>
          <p:cNvSpPr/>
          <p:nvPr/>
        </p:nvSpPr>
        <p:spPr>
          <a:xfrm>
            <a:off x="457200" y="5687568"/>
            <a:ext cx="2825496" cy="342900"/>
          </a:xfrm>
          <a:prstGeom prst="roundRect">
            <a:avLst>
              <a:gd name="adj" fmla="val 21333"/>
            </a:avLst>
          </a:prstGeom>
          <a:solidFill>
            <a:srgbClr val="FFFFFF"/>
          </a:solidFill>
          <a:ln w="12700">
            <a:solidFill>
              <a:srgbClr val="DCE1EC"/>
            </a:solidFill>
            <a:prstDash val="solid"/>
          </a:ln>
        </p:spPr>
      </p:sp>
      <p:sp>
        <p:nvSpPr>
          <p:cNvPr id="72" name="Text 70"/>
          <p:cNvSpPr/>
          <p:nvPr/>
        </p:nvSpPr>
        <p:spPr>
          <a:xfrm>
            <a:off x="566928" y="56875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Small Business</a:t>
            </a:r>
            <a:endParaRPr lang="en-US" sz="950" dirty="0"/>
          </a:p>
        </p:txBody>
      </p:sp>
      <p:sp>
        <p:nvSpPr>
          <p:cNvPr id="73" name="Shape 71"/>
          <p:cNvSpPr/>
          <p:nvPr/>
        </p:nvSpPr>
        <p:spPr>
          <a:xfrm>
            <a:off x="3337560" y="5687568"/>
            <a:ext cx="5705856" cy="342900"/>
          </a:xfrm>
          <a:prstGeom prst="roundRect">
            <a:avLst>
              <a:gd name="adj" fmla="val 21333"/>
            </a:avLst>
          </a:prstGeom>
          <a:solidFill>
            <a:srgbClr val="FFFFFF"/>
          </a:solidFill>
          <a:ln w="12700">
            <a:solidFill>
              <a:srgbClr val="DCE1EC"/>
            </a:solidFill>
            <a:prstDash val="solid"/>
          </a:ln>
        </p:spPr>
      </p:sp>
      <p:sp>
        <p:nvSpPr>
          <p:cNvPr id="74" name="Text 72">
            <a:hlinkClick r:id="rId14" tooltip="Open landing page"/>
          </p:cNvPr>
          <p:cNvSpPr/>
          <p:nvPr/>
        </p:nvSpPr>
        <p:spPr>
          <a:xfrm>
            <a:off x="3447288" y="56875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4" invalidUrl="" action="" tgtFrame="" tooltip="Open landing page" history="1" highlightClick="0" endSnd="0">
                  <a:extLst>
                    <a:ext uri="{A12FA001-AC4F-418D-AE19-62706E023703}">
                      <ahyp:hlinkClr xmlns:ahyp="http://schemas.microsoft.com/office/drawing/2018/hyperlinkcolor" val="tx"/>
                    </a:ext>
                  </a:extLst>
                </a:hlinkClick>
              </a:rPr>
              <a:t>moodys.com/.../small-business</a:t>
            </a:r>
            <a:endParaRPr lang="en-US" sz="950" dirty="0"/>
          </a:p>
        </p:txBody>
      </p:sp>
      <p:sp>
        <p:nvSpPr>
          <p:cNvPr id="75" name="Shape 73"/>
          <p:cNvSpPr/>
          <p:nvPr/>
        </p:nvSpPr>
        <p:spPr>
          <a:xfrm>
            <a:off x="9098280" y="5687568"/>
            <a:ext cx="2578608" cy="342900"/>
          </a:xfrm>
          <a:prstGeom prst="roundRect">
            <a:avLst>
              <a:gd name="adj" fmla="val 21333"/>
            </a:avLst>
          </a:prstGeom>
          <a:solidFill>
            <a:srgbClr val="FFFFFF"/>
          </a:solidFill>
          <a:ln w="12700">
            <a:solidFill>
              <a:srgbClr val="DCE1EC"/>
            </a:solidFill>
            <a:prstDash val="solid"/>
          </a:ln>
        </p:spPr>
      </p:sp>
      <p:sp>
        <p:nvSpPr>
          <p:cNvPr id="76" name="Text 74"/>
          <p:cNvSpPr/>
          <p:nvPr/>
        </p:nvSpPr>
        <p:spPr>
          <a:xfrm>
            <a:off x="9208008" y="5687568"/>
            <a:ext cx="2414016" cy="342900"/>
          </a:xfrm>
          <a:prstGeom prst="rect">
            <a:avLst/>
          </a:prstGeom>
          <a:noFill/>
          <a:ln/>
        </p:spPr>
        <p:txBody>
          <a:bodyPr wrap="square" rtlCol="0" anchor="ctr"/>
          <a:lstStyle/>
          <a:p>
            <a:pPr indent="0" marL="0">
              <a:buNone/>
            </a:pPr>
            <a:r>
              <a:rPr lang="en-US" sz="900" i="1" dirty="0">
                <a:solidFill>
                  <a:srgbClr val="5B6472"/>
                </a:solidFill>
                <a:latin typeface="GT America" pitchFamily="34" charset="0"/>
                <a:ea typeface="GT America" pitchFamily="34" charset="-122"/>
                <a:cs typeface="GT America" pitchFamily="34" charset="-120"/>
              </a:rPr>
              <a:t>Demo video (internal asset)</a:t>
            </a:r>
            <a:endParaRPr lang="en-US" sz="900" dirty="0"/>
          </a:p>
        </p:txBody>
      </p:sp>
      <p:sp>
        <p:nvSpPr>
          <p:cNvPr id="77" name="Shape 75"/>
          <p:cNvSpPr/>
          <p:nvPr/>
        </p:nvSpPr>
        <p:spPr>
          <a:xfrm>
            <a:off x="457200" y="6030468"/>
            <a:ext cx="2825496" cy="342900"/>
          </a:xfrm>
          <a:prstGeom prst="roundRect">
            <a:avLst>
              <a:gd name="adj" fmla="val 21333"/>
            </a:avLst>
          </a:prstGeom>
          <a:solidFill>
            <a:srgbClr val="EAEEF7"/>
          </a:solidFill>
          <a:ln w="12700">
            <a:solidFill>
              <a:srgbClr val="DCE1EC"/>
            </a:solidFill>
            <a:prstDash val="solid"/>
          </a:ln>
        </p:spPr>
      </p:sp>
      <p:sp>
        <p:nvSpPr>
          <p:cNvPr id="78" name="Text 76"/>
          <p:cNvSpPr/>
          <p:nvPr/>
        </p:nvSpPr>
        <p:spPr>
          <a:xfrm>
            <a:off x="566928" y="6030468"/>
            <a:ext cx="2660904" cy="34290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Agriculture</a:t>
            </a:r>
            <a:endParaRPr lang="en-US" sz="950" dirty="0"/>
          </a:p>
        </p:txBody>
      </p:sp>
      <p:sp>
        <p:nvSpPr>
          <p:cNvPr id="79" name="Shape 77"/>
          <p:cNvSpPr/>
          <p:nvPr/>
        </p:nvSpPr>
        <p:spPr>
          <a:xfrm>
            <a:off x="3337560" y="6030468"/>
            <a:ext cx="5705856" cy="342900"/>
          </a:xfrm>
          <a:prstGeom prst="roundRect">
            <a:avLst>
              <a:gd name="adj" fmla="val 21333"/>
            </a:avLst>
          </a:prstGeom>
          <a:solidFill>
            <a:srgbClr val="EAEEF7"/>
          </a:solidFill>
          <a:ln w="12700">
            <a:solidFill>
              <a:srgbClr val="DCE1EC"/>
            </a:solidFill>
            <a:prstDash val="solid"/>
          </a:ln>
        </p:spPr>
      </p:sp>
      <p:sp>
        <p:nvSpPr>
          <p:cNvPr id="80" name="Text 78">
            <a:hlinkClick r:id="rId15" tooltip="Open landing page"/>
          </p:cNvPr>
          <p:cNvSpPr/>
          <p:nvPr/>
        </p:nvSpPr>
        <p:spPr>
          <a:xfrm>
            <a:off x="3447288" y="6030468"/>
            <a:ext cx="5541264" cy="342900"/>
          </a:xfrm>
          <a:prstGeom prst="rect">
            <a:avLst/>
          </a:prstGeom>
          <a:noFill/>
          <a:ln/>
        </p:spPr>
        <p:txBody>
          <a:bodyPr wrap="square" rtlCol="0" anchor="ctr"/>
          <a:lstStyle/>
          <a:p>
            <a:pPr indent="0" marL="0">
              <a:buNone/>
            </a:pPr>
            <a:r>
              <a:rPr lang="en-US" sz="950" u="sng" dirty="0">
                <a:solidFill>
                  <a:srgbClr val="0057E7"/>
                </a:solidFill>
                <a:latin typeface="GT America" pitchFamily="34" charset="0"/>
                <a:ea typeface="GT America" pitchFamily="34" charset="-122"/>
                <a:cs typeface="GT America" pitchFamily="34" charset="-120"/>
                <a:hlinkClick r:id="rId15" invalidUrl="" action="" tgtFrame="" tooltip="Open landing page" history="1" highlightClick="0" endSnd="0">
                  <a:extLst>
                    <a:ext uri="{A12FA001-AC4F-418D-AE19-62706E023703}">
                      <ahyp:hlinkClr xmlns:ahyp="http://schemas.microsoft.com/office/drawing/2018/hyperlinkcolor" val="tx"/>
                    </a:ext>
                  </a:extLst>
                </a:hlinkClick>
              </a:rPr>
              <a:t>moodys.com/.../agriculture</a:t>
            </a:r>
            <a:endParaRPr lang="en-US" sz="950" dirty="0"/>
          </a:p>
        </p:txBody>
      </p:sp>
      <p:sp>
        <p:nvSpPr>
          <p:cNvPr id="81" name="Shape 79"/>
          <p:cNvSpPr/>
          <p:nvPr/>
        </p:nvSpPr>
        <p:spPr>
          <a:xfrm>
            <a:off x="9098280" y="6030468"/>
            <a:ext cx="2578608" cy="342900"/>
          </a:xfrm>
          <a:prstGeom prst="roundRect">
            <a:avLst>
              <a:gd name="adj" fmla="val 21333"/>
            </a:avLst>
          </a:prstGeom>
          <a:solidFill>
            <a:srgbClr val="EAEEF7"/>
          </a:solidFill>
          <a:ln w="12700">
            <a:solidFill>
              <a:srgbClr val="DCE1EC"/>
            </a:solidFill>
            <a:prstDash val="solid"/>
          </a:ln>
        </p:spPr>
      </p:sp>
      <p:sp>
        <p:nvSpPr>
          <p:cNvPr id="82" name="Text 80"/>
          <p:cNvSpPr/>
          <p:nvPr/>
        </p:nvSpPr>
        <p:spPr>
          <a:xfrm>
            <a:off x="9208008" y="6030468"/>
            <a:ext cx="2414016" cy="342900"/>
          </a:xfrm>
          <a:prstGeom prst="rect">
            <a:avLst/>
          </a:prstGeom>
          <a:noFill/>
          <a:ln/>
        </p:spPr>
        <p:txBody>
          <a:bodyPr wrap="square" rtlCol="0" anchor="ctr"/>
          <a:lstStyle/>
          <a:p>
            <a:pPr indent="0" marL="0">
              <a:buNone/>
            </a:pPr>
            <a:r>
              <a:rPr lang="en-US" sz="950" dirty="0">
                <a:solidFill>
                  <a:srgbClr val="5B6472"/>
                </a:solidFill>
                <a:latin typeface="GT America" pitchFamily="34" charset="0"/>
                <a:ea typeface="GT America" pitchFamily="34" charset="-122"/>
                <a:cs typeface="GT America" pitchFamily="34" charset="-120"/>
              </a:rPr>
              <a:t>—</a:t>
            </a:r>
            <a:endParaRPr lang="en-US" sz="950" dirty="0"/>
          </a:p>
        </p:txBody>
      </p:sp>
      <p:sp>
        <p:nvSpPr>
          <p:cNvPr id="83" name="Text 81"/>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SUPPORTING EVIDENCE</a:t>
            </a:r>
            <a:endParaRPr lang="en-US" sz="900" dirty="0"/>
          </a:p>
        </p:txBody>
      </p:sp>
      <p:sp>
        <p:nvSpPr>
          <p:cNvPr id="84" name="Text 82"/>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10 / 23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SUPPORTING EVIDENCE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“How It Works” — Original Infographics</a:t>
            </a:r>
            <a:endParaRPr lang="en-US" sz="2800" dirty="0"/>
          </a:p>
        </p:txBody>
      </p:sp>
      <p:sp>
        <p:nvSpPr>
          <p:cNvPr id="4" name="Text 2"/>
          <p:cNvSpPr/>
          <p:nvPr/>
        </p:nvSpPr>
        <p:spPr>
          <a:xfrm>
            <a:off x="457200" y="1444752"/>
            <a:ext cx="73152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Original product infographics, used with permission.</a:t>
            </a:r>
            <a:endParaRPr lang="en-US" sz="1000" dirty="0"/>
          </a:p>
        </p:txBody>
      </p:sp>
      <p:sp>
        <p:nvSpPr>
          <p:cNvPr id="5" name="Shape 3"/>
          <p:cNvSpPr/>
          <p:nvPr/>
        </p:nvSpPr>
        <p:spPr>
          <a:xfrm>
            <a:off x="457200" y="1874520"/>
            <a:ext cx="3587496" cy="365760"/>
          </a:xfrm>
          <a:prstGeom prst="roundRect">
            <a:avLst>
              <a:gd name="adj" fmla="val 15000"/>
            </a:avLst>
          </a:prstGeom>
          <a:solidFill>
            <a:srgbClr val="0A1264"/>
          </a:solidFill>
          <a:ln/>
        </p:spPr>
      </p:sp>
      <p:sp>
        <p:nvSpPr>
          <p:cNvPr id="6" name="Text 4"/>
          <p:cNvSpPr/>
          <p:nvPr/>
        </p:nvSpPr>
        <p:spPr>
          <a:xfrm>
            <a:off x="457200" y="1874520"/>
            <a:ext cx="3587496"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AUTOMATED SPREADING</a:t>
            </a:r>
            <a:endParaRPr lang="en-US" sz="1100" dirty="0"/>
          </a:p>
        </p:txBody>
      </p:sp>
      <p:sp>
        <p:nvSpPr>
          <p:cNvPr id="7" name="Shape 5"/>
          <p:cNvSpPr/>
          <p:nvPr/>
        </p:nvSpPr>
        <p:spPr>
          <a:xfrm>
            <a:off x="457200" y="2350008"/>
            <a:ext cx="3587496" cy="2139357"/>
          </a:xfrm>
          <a:prstGeom prst="roundRect">
            <a:avLst>
              <a:gd name="adj" fmla="val 34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pic>
        <p:nvPicPr>
          <p:cNvPr id="8" name="Image 0" descr="/home/claude/deck/assets/howitworks_automated_spreading.png">    </p:cNvPr>
          <p:cNvPicPr>
            <a:picLocks noChangeAspect="1"/>
          </p:cNvPicPr>
          <p:nvPr/>
        </p:nvPicPr>
        <p:blipFill>
          <a:blip r:embed="rId1"/>
          <a:stretch>
            <a:fillRect/>
          </a:stretch>
        </p:blipFill>
        <p:spPr>
          <a:xfrm>
            <a:off x="530352" y="2423160"/>
            <a:ext cx="3441192" cy="1993053"/>
          </a:xfrm>
          <a:prstGeom prst="rect">
            <a:avLst/>
          </a:prstGeom>
        </p:spPr>
      </p:pic>
      <p:sp>
        <p:nvSpPr>
          <p:cNvPr id="9" name="Text 6"/>
          <p:cNvSpPr/>
          <p:nvPr/>
        </p:nvSpPr>
        <p:spPr>
          <a:xfrm>
            <a:off x="457200" y="4653957"/>
            <a:ext cx="3587496" cy="1280160"/>
          </a:xfrm>
          <a:prstGeom prst="rect">
            <a:avLst/>
          </a:prstGeom>
          <a:noFill/>
          <a:ln/>
        </p:spPr>
        <p:txBody>
          <a:bodyPr wrap="square" rtlCol="0" anchor="ctr"/>
          <a:lstStyle/>
          <a:p>
            <a:pPr indent="0" marL="0">
              <a:lnSpc>
                <a:spcPct val="120000"/>
              </a:lnSpc>
              <a:buNone/>
            </a:pPr>
            <a:r>
              <a:rPr lang="en-US" sz="1000" i="1" dirty="0">
                <a:solidFill>
                  <a:srgbClr val="5B6472"/>
                </a:solidFill>
                <a:latin typeface="GT America" pitchFamily="34" charset="0"/>
                <a:ea typeface="GT America" pitchFamily="34" charset="-122"/>
                <a:cs typeface="GT America" pitchFamily="34" charset="-120"/>
              </a:rPr>
              <a:t>5-step walkthrough: document upload → ML processing → spread review team → validation &amp; adjustments → ready to import.</a:t>
            </a:r>
            <a:endParaRPr lang="en-US" sz="1000" dirty="0"/>
          </a:p>
        </p:txBody>
      </p:sp>
      <p:sp>
        <p:nvSpPr>
          <p:cNvPr id="10" name="Shape 7"/>
          <p:cNvSpPr/>
          <p:nvPr/>
        </p:nvSpPr>
        <p:spPr>
          <a:xfrm>
            <a:off x="4300728" y="1874520"/>
            <a:ext cx="3587496" cy="365760"/>
          </a:xfrm>
          <a:prstGeom prst="roundRect">
            <a:avLst>
              <a:gd name="adj" fmla="val 15000"/>
            </a:avLst>
          </a:prstGeom>
          <a:solidFill>
            <a:srgbClr val="0A1264"/>
          </a:solidFill>
          <a:ln/>
        </p:spPr>
      </p:sp>
      <p:sp>
        <p:nvSpPr>
          <p:cNvPr id="11" name="Text 8"/>
          <p:cNvSpPr/>
          <p:nvPr/>
        </p:nvSpPr>
        <p:spPr>
          <a:xfrm>
            <a:off x="4300728" y="1874520"/>
            <a:ext cx="3587496"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AUTOMATED CREDIT MEMO</a:t>
            </a:r>
            <a:endParaRPr lang="en-US" sz="1100" dirty="0"/>
          </a:p>
        </p:txBody>
      </p:sp>
      <p:sp>
        <p:nvSpPr>
          <p:cNvPr id="12" name="Shape 9"/>
          <p:cNvSpPr/>
          <p:nvPr/>
        </p:nvSpPr>
        <p:spPr>
          <a:xfrm>
            <a:off x="4300728" y="2350008"/>
            <a:ext cx="3587496" cy="2142879"/>
          </a:xfrm>
          <a:prstGeom prst="roundRect">
            <a:avLst>
              <a:gd name="adj" fmla="val 341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pic>
        <p:nvPicPr>
          <p:cNvPr id="13" name="Image 1" descr="/home/claude/deck/assets/howitworks_automated_creditmemo.png">    </p:cNvPr>
          <p:cNvPicPr>
            <a:picLocks noChangeAspect="1"/>
          </p:cNvPicPr>
          <p:nvPr/>
        </p:nvPicPr>
        <p:blipFill>
          <a:blip r:embed="rId2"/>
          <a:stretch>
            <a:fillRect/>
          </a:stretch>
        </p:blipFill>
        <p:spPr>
          <a:xfrm>
            <a:off x="4373880" y="2423160"/>
            <a:ext cx="3441192" cy="1996575"/>
          </a:xfrm>
          <a:prstGeom prst="rect">
            <a:avLst/>
          </a:prstGeom>
        </p:spPr>
      </p:pic>
      <p:sp>
        <p:nvSpPr>
          <p:cNvPr id="14" name="Text 10"/>
          <p:cNvSpPr/>
          <p:nvPr/>
        </p:nvSpPr>
        <p:spPr>
          <a:xfrm>
            <a:off x="4300728" y="4657479"/>
            <a:ext cx="3587496" cy="1280160"/>
          </a:xfrm>
          <a:prstGeom prst="rect">
            <a:avLst/>
          </a:prstGeom>
          <a:noFill/>
          <a:ln/>
        </p:spPr>
        <p:txBody>
          <a:bodyPr wrap="square" rtlCol="0" anchor="ctr"/>
          <a:lstStyle/>
          <a:p>
            <a:pPr indent="0" marL="0">
              <a:lnSpc>
                <a:spcPct val="120000"/>
              </a:lnSpc>
              <a:buNone/>
            </a:pPr>
            <a:r>
              <a:rPr lang="en-US" sz="1000" i="1" dirty="0">
                <a:solidFill>
                  <a:srgbClr val="5B6472"/>
                </a:solidFill>
                <a:latin typeface="GT America" pitchFamily="34" charset="0"/>
                <a:ea typeface="GT America" pitchFamily="34" charset="-122"/>
                <a:cs typeface="GT America" pitchFamily="34" charset="-120"/>
              </a:rPr>
              <a:t>5-step walkthrough: select company → upload supporting documents → choose memo sections → enrich with Moody’s data → cited, reviewable memo.</a:t>
            </a:r>
            <a:endParaRPr lang="en-US" sz="1000" dirty="0"/>
          </a:p>
        </p:txBody>
      </p:sp>
      <p:sp>
        <p:nvSpPr>
          <p:cNvPr id="15" name="Shape 11"/>
          <p:cNvSpPr/>
          <p:nvPr/>
        </p:nvSpPr>
        <p:spPr>
          <a:xfrm>
            <a:off x="8144256" y="1874520"/>
            <a:ext cx="3587496" cy="365760"/>
          </a:xfrm>
          <a:prstGeom prst="roundRect">
            <a:avLst>
              <a:gd name="adj" fmla="val 15000"/>
            </a:avLst>
          </a:prstGeom>
          <a:solidFill>
            <a:srgbClr val="0A1264"/>
          </a:solidFill>
          <a:ln/>
        </p:spPr>
      </p:sp>
      <p:sp>
        <p:nvSpPr>
          <p:cNvPr id="16" name="Text 12"/>
          <p:cNvSpPr/>
          <p:nvPr/>
        </p:nvSpPr>
        <p:spPr>
          <a:xfrm>
            <a:off x="8144256" y="1874520"/>
            <a:ext cx="3587496"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AUTOMATED COVENANTS</a:t>
            </a:r>
            <a:endParaRPr lang="en-US" sz="1100" dirty="0"/>
          </a:p>
        </p:txBody>
      </p:sp>
      <p:sp>
        <p:nvSpPr>
          <p:cNvPr id="17" name="Shape 13"/>
          <p:cNvSpPr/>
          <p:nvPr/>
        </p:nvSpPr>
        <p:spPr>
          <a:xfrm>
            <a:off x="8144256" y="2350008"/>
            <a:ext cx="3587496" cy="2133859"/>
          </a:xfrm>
          <a:prstGeom prst="roundRect">
            <a:avLst>
              <a:gd name="adj" fmla="val 3428"/>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pic>
        <p:nvPicPr>
          <p:cNvPr id="18" name="Image 2" descr="/home/claude/deck/assets/howitworks_automated_covenants.png">    </p:cNvPr>
          <p:cNvPicPr>
            <a:picLocks noChangeAspect="1"/>
          </p:cNvPicPr>
          <p:nvPr/>
        </p:nvPicPr>
        <p:blipFill>
          <a:blip r:embed="rId3"/>
          <a:stretch>
            <a:fillRect/>
          </a:stretch>
        </p:blipFill>
        <p:spPr>
          <a:xfrm>
            <a:off x="8217408" y="2423160"/>
            <a:ext cx="3441192" cy="1987555"/>
          </a:xfrm>
          <a:prstGeom prst="rect">
            <a:avLst/>
          </a:prstGeom>
        </p:spPr>
      </p:pic>
      <p:sp>
        <p:nvSpPr>
          <p:cNvPr id="19" name="Text 14"/>
          <p:cNvSpPr/>
          <p:nvPr/>
        </p:nvSpPr>
        <p:spPr>
          <a:xfrm>
            <a:off x="8144256" y="4648459"/>
            <a:ext cx="3587496" cy="1280160"/>
          </a:xfrm>
          <a:prstGeom prst="rect">
            <a:avLst/>
          </a:prstGeom>
          <a:noFill/>
          <a:ln/>
        </p:spPr>
        <p:txBody>
          <a:bodyPr wrap="square" rtlCol="0" anchor="ctr"/>
          <a:lstStyle/>
          <a:p>
            <a:pPr indent="0" marL="0">
              <a:lnSpc>
                <a:spcPct val="120000"/>
              </a:lnSpc>
              <a:buNone/>
            </a:pPr>
            <a:r>
              <a:rPr lang="en-US" sz="1000" i="1" dirty="0">
                <a:solidFill>
                  <a:srgbClr val="5B6472"/>
                </a:solidFill>
                <a:latin typeface="GT America" pitchFamily="34" charset="0"/>
                <a:ea typeface="GT America" pitchFamily="34" charset="-122"/>
                <a:cs typeface="GT America" pitchFamily="34" charset="-120"/>
              </a:rPr>
              <a:t>6-step walkthrough: read active covenants → notify clients → secure document upload → auto-file &amp; organize → internal validation → compliance testing.</a:t>
            </a:r>
            <a:endParaRPr lang="en-US" sz="1000" dirty="0"/>
          </a:p>
        </p:txBody>
      </p:sp>
      <p:sp>
        <p:nvSpPr>
          <p:cNvPr id="20" name="Text 15"/>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“HOW IT WORKS” INFOGRAPHICS</a:t>
            </a:r>
            <a:endParaRPr lang="en-US" sz="900" dirty="0"/>
          </a:p>
        </p:txBody>
      </p:sp>
      <p:sp>
        <p:nvSpPr>
          <p:cNvPr id="21" name="Text 16"/>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11 / 23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VALUE PROPOSITION FRAMEWORK</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Four Pillars of Customer Value</a:t>
            </a:r>
            <a:endParaRPr lang="en-US" sz="2800" dirty="0"/>
          </a:p>
        </p:txBody>
      </p:sp>
      <p:sp>
        <p:nvSpPr>
          <p:cNvPr id="4" name="Shape 2"/>
          <p:cNvSpPr/>
          <p:nvPr/>
        </p:nvSpPr>
        <p:spPr>
          <a:xfrm>
            <a:off x="457200" y="1783080"/>
            <a:ext cx="5500116" cy="1632204"/>
          </a:xfrm>
          <a:prstGeom prst="roundRect">
            <a:avLst>
              <a:gd name="adj" fmla="val 4482"/>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731520" y="1965960"/>
            <a:ext cx="4951476" cy="365760"/>
          </a:xfrm>
          <a:prstGeom prst="rect">
            <a:avLst/>
          </a:prstGeom>
          <a:noFill/>
          <a:ln/>
        </p:spPr>
        <p:txBody>
          <a:bodyPr wrap="square" rtlCol="0" anchor="ctr"/>
          <a:lstStyle/>
          <a:p>
            <a:pPr indent="0" marL="0">
              <a:buNone/>
            </a:pPr>
            <a:r>
              <a:rPr lang="en-US" sz="1500" b="1" dirty="0">
                <a:solidFill>
                  <a:srgbClr val="0A1264"/>
                </a:solidFill>
                <a:latin typeface="GT America" pitchFamily="34" charset="0"/>
                <a:ea typeface="GT America" pitchFamily="34" charset="-122"/>
                <a:cs typeface="GT America" pitchFamily="34" charset="-120"/>
              </a:rPr>
              <a:t>Efficiency &amp; Speed</a:t>
            </a:r>
            <a:endParaRPr lang="en-US" sz="1500" dirty="0"/>
          </a:p>
        </p:txBody>
      </p:sp>
      <p:sp>
        <p:nvSpPr>
          <p:cNvPr id="6" name="Shape 4"/>
          <p:cNvSpPr/>
          <p:nvPr/>
        </p:nvSpPr>
        <p:spPr>
          <a:xfrm>
            <a:off x="731520" y="2578608"/>
            <a:ext cx="64008" cy="64008"/>
          </a:xfrm>
          <a:prstGeom prst="ellipse">
            <a:avLst/>
          </a:prstGeom>
          <a:solidFill>
            <a:srgbClr val="0057E7"/>
          </a:solidFill>
          <a:ln/>
        </p:spPr>
      </p:sp>
      <p:sp>
        <p:nvSpPr>
          <p:cNvPr id="7" name="Text 5"/>
          <p:cNvSpPr/>
          <p:nvPr/>
        </p:nvSpPr>
        <p:spPr>
          <a:xfrm>
            <a:off x="932688" y="2450592"/>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Automated workflows cut origination time</a:t>
            </a:r>
            <a:endParaRPr lang="en-US" sz="1150" dirty="0"/>
          </a:p>
        </p:txBody>
      </p:sp>
      <p:sp>
        <p:nvSpPr>
          <p:cNvPr id="8" name="Shape 6"/>
          <p:cNvSpPr/>
          <p:nvPr/>
        </p:nvSpPr>
        <p:spPr>
          <a:xfrm>
            <a:off x="731520" y="3081528"/>
            <a:ext cx="64008" cy="64008"/>
          </a:xfrm>
          <a:prstGeom prst="ellipse">
            <a:avLst/>
          </a:prstGeom>
          <a:solidFill>
            <a:srgbClr val="0057E7"/>
          </a:solidFill>
          <a:ln/>
        </p:spPr>
      </p:sp>
      <p:sp>
        <p:nvSpPr>
          <p:cNvPr id="9" name="Text 7"/>
          <p:cNvSpPr/>
          <p:nvPr/>
        </p:nvSpPr>
        <p:spPr>
          <a:xfrm>
            <a:off x="932688" y="2953512"/>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AI modules reduce manual spreading and memo creation</a:t>
            </a:r>
            <a:endParaRPr lang="en-US" sz="1150" dirty="0"/>
          </a:p>
        </p:txBody>
      </p:sp>
      <p:sp>
        <p:nvSpPr>
          <p:cNvPr id="10" name="Shape 8"/>
          <p:cNvSpPr/>
          <p:nvPr/>
        </p:nvSpPr>
        <p:spPr>
          <a:xfrm>
            <a:off x="6231636" y="1783080"/>
            <a:ext cx="5500116" cy="1632204"/>
          </a:xfrm>
          <a:prstGeom prst="roundRect">
            <a:avLst>
              <a:gd name="adj" fmla="val 4482"/>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1" name="Text 9"/>
          <p:cNvSpPr/>
          <p:nvPr/>
        </p:nvSpPr>
        <p:spPr>
          <a:xfrm>
            <a:off x="6505956" y="1965960"/>
            <a:ext cx="4951476" cy="365760"/>
          </a:xfrm>
          <a:prstGeom prst="rect">
            <a:avLst/>
          </a:prstGeom>
          <a:noFill/>
          <a:ln/>
        </p:spPr>
        <p:txBody>
          <a:bodyPr wrap="square" rtlCol="0" anchor="ctr"/>
          <a:lstStyle/>
          <a:p>
            <a:pPr indent="0" marL="0">
              <a:buNone/>
            </a:pPr>
            <a:r>
              <a:rPr lang="en-US" sz="1500" b="1" dirty="0">
                <a:solidFill>
                  <a:srgbClr val="2E4DA6"/>
                </a:solidFill>
                <a:latin typeface="GT America" pitchFamily="34" charset="0"/>
                <a:ea typeface="GT America" pitchFamily="34" charset="-122"/>
                <a:cs typeface="GT America" pitchFamily="34" charset="-120"/>
              </a:rPr>
              <a:t>Risk &amp; Compliance</a:t>
            </a:r>
            <a:endParaRPr lang="en-US" sz="1500" dirty="0"/>
          </a:p>
        </p:txBody>
      </p:sp>
      <p:sp>
        <p:nvSpPr>
          <p:cNvPr id="12" name="Shape 10"/>
          <p:cNvSpPr/>
          <p:nvPr/>
        </p:nvSpPr>
        <p:spPr>
          <a:xfrm>
            <a:off x="6505956" y="2578608"/>
            <a:ext cx="64008" cy="64008"/>
          </a:xfrm>
          <a:prstGeom prst="ellipse">
            <a:avLst/>
          </a:prstGeom>
          <a:solidFill>
            <a:srgbClr val="0057E7"/>
          </a:solidFill>
          <a:ln/>
        </p:spPr>
      </p:sp>
      <p:sp>
        <p:nvSpPr>
          <p:cNvPr id="13" name="Text 11"/>
          <p:cNvSpPr/>
          <p:nvPr/>
        </p:nvSpPr>
        <p:spPr>
          <a:xfrm>
            <a:off x="6707124" y="2450592"/>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Integrated Moody’s data ensures high-quality credit risk analysis</a:t>
            </a:r>
            <a:endParaRPr lang="en-US" sz="1150" dirty="0"/>
          </a:p>
        </p:txBody>
      </p:sp>
      <p:sp>
        <p:nvSpPr>
          <p:cNvPr id="14" name="Shape 12"/>
          <p:cNvSpPr/>
          <p:nvPr/>
        </p:nvSpPr>
        <p:spPr>
          <a:xfrm>
            <a:off x="6505956" y="3081528"/>
            <a:ext cx="64008" cy="64008"/>
          </a:xfrm>
          <a:prstGeom prst="ellipse">
            <a:avLst/>
          </a:prstGeom>
          <a:solidFill>
            <a:srgbClr val="0057E7"/>
          </a:solidFill>
          <a:ln/>
        </p:spPr>
      </p:sp>
      <p:sp>
        <p:nvSpPr>
          <p:cNvPr id="15" name="Text 13"/>
          <p:cNvSpPr/>
          <p:nvPr/>
        </p:nvSpPr>
        <p:spPr>
          <a:xfrm>
            <a:off x="6707124" y="2953512"/>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Automated covenants and monitoring uphold organizational policies</a:t>
            </a:r>
            <a:endParaRPr lang="en-US" sz="1150" dirty="0"/>
          </a:p>
        </p:txBody>
      </p:sp>
      <p:sp>
        <p:nvSpPr>
          <p:cNvPr id="16" name="Shape 14"/>
          <p:cNvSpPr/>
          <p:nvPr/>
        </p:nvSpPr>
        <p:spPr>
          <a:xfrm>
            <a:off x="457200" y="3671316"/>
            <a:ext cx="5500116" cy="1632204"/>
          </a:xfrm>
          <a:prstGeom prst="roundRect">
            <a:avLst>
              <a:gd name="adj" fmla="val 4482"/>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731520" y="3854196"/>
            <a:ext cx="4951476" cy="365760"/>
          </a:xfrm>
          <a:prstGeom prst="rect">
            <a:avLst/>
          </a:prstGeom>
          <a:noFill/>
          <a:ln/>
        </p:spPr>
        <p:txBody>
          <a:bodyPr wrap="square" rtlCol="0" anchor="ctr"/>
          <a:lstStyle/>
          <a:p>
            <a:pPr indent="0" marL="0">
              <a:buNone/>
            </a:pPr>
            <a:r>
              <a:rPr lang="en-US" sz="1500" b="1" dirty="0">
                <a:solidFill>
                  <a:srgbClr val="2E4DA6"/>
                </a:solidFill>
                <a:latin typeface="GT America" pitchFamily="34" charset="0"/>
                <a:ea typeface="GT America" pitchFamily="34" charset="-122"/>
                <a:cs typeface="GT America" pitchFamily="34" charset="-120"/>
              </a:rPr>
              <a:t>Flexibility &amp; Scale</a:t>
            </a:r>
            <a:endParaRPr lang="en-US" sz="1500" dirty="0"/>
          </a:p>
        </p:txBody>
      </p:sp>
      <p:sp>
        <p:nvSpPr>
          <p:cNvPr id="18" name="Shape 16"/>
          <p:cNvSpPr/>
          <p:nvPr/>
        </p:nvSpPr>
        <p:spPr>
          <a:xfrm>
            <a:off x="731520" y="4466844"/>
            <a:ext cx="64008" cy="64008"/>
          </a:xfrm>
          <a:prstGeom prst="ellipse">
            <a:avLst/>
          </a:prstGeom>
          <a:solidFill>
            <a:srgbClr val="0057E7"/>
          </a:solidFill>
          <a:ln/>
        </p:spPr>
      </p:sp>
      <p:sp>
        <p:nvSpPr>
          <p:cNvPr id="19" name="Text 17"/>
          <p:cNvSpPr/>
          <p:nvPr/>
        </p:nvSpPr>
        <p:spPr>
          <a:xfrm>
            <a:off x="932688" y="4338828"/>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Modular packages (Origination, Monitoring) allow phased adoption</a:t>
            </a:r>
            <a:endParaRPr lang="en-US" sz="1150" dirty="0"/>
          </a:p>
        </p:txBody>
      </p:sp>
      <p:sp>
        <p:nvSpPr>
          <p:cNvPr id="20" name="Shape 18"/>
          <p:cNvSpPr/>
          <p:nvPr/>
        </p:nvSpPr>
        <p:spPr>
          <a:xfrm>
            <a:off x="731520" y="4969764"/>
            <a:ext cx="64008" cy="64008"/>
          </a:xfrm>
          <a:prstGeom prst="ellipse">
            <a:avLst/>
          </a:prstGeom>
          <a:solidFill>
            <a:srgbClr val="0057E7"/>
          </a:solidFill>
          <a:ln/>
        </p:spPr>
      </p:sp>
      <p:sp>
        <p:nvSpPr>
          <p:cNvPr id="21" name="Text 19"/>
          <p:cNvSpPr/>
          <p:nvPr/>
        </p:nvSpPr>
        <p:spPr>
          <a:xfrm>
            <a:off x="932688" y="4841748"/>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Industry-specific tailoring (CRE, Agriculture, SMB) meets diverse client needs</a:t>
            </a:r>
            <a:endParaRPr lang="en-US" sz="1150" dirty="0"/>
          </a:p>
        </p:txBody>
      </p:sp>
      <p:sp>
        <p:nvSpPr>
          <p:cNvPr id="22" name="Shape 20"/>
          <p:cNvSpPr/>
          <p:nvPr/>
        </p:nvSpPr>
        <p:spPr>
          <a:xfrm>
            <a:off x="6231636" y="3671316"/>
            <a:ext cx="5500116" cy="1632204"/>
          </a:xfrm>
          <a:prstGeom prst="roundRect">
            <a:avLst>
              <a:gd name="adj" fmla="val 4482"/>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3" name="Text 21"/>
          <p:cNvSpPr/>
          <p:nvPr/>
        </p:nvSpPr>
        <p:spPr>
          <a:xfrm>
            <a:off x="6505956" y="3854196"/>
            <a:ext cx="4951476" cy="365760"/>
          </a:xfrm>
          <a:prstGeom prst="rect">
            <a:avLst/>
          </a:prstGeom>
          <a:noFill/>
          <a:ln/>
        </p:spPr>
        <p:txBody>
          <a:bodyPr wrap="square" rtlCol="0" anchor="ctr"/>
          <a:lstStyle/>
          <a:p>
            <a:pPr indent="0" marL="0">
              <a:buNone/>
            </a:pPr>
            <a:r>
              <a:rPr lang="en-US" sz="1500" b="1" dirty="0">
                <a:solidFill>
                  <a:srgbClr val="0A1264"/>
                </a:solidFill>
                <a:latin typeface="GT America" pitchFamily="34" charset="0"/>
                <a:ea typeface="GT America" pitchFamily="34" charset="-122"/>
                <a:cs typeface="GT America" pitchFamily="34" charset="-120"/>
              </a:rPr>
              <a:t>Customer Experience</a:t>
            </a:r>
            <a:endParaRPr lang="en-US" sz="1500" dirty="0"/>
          </a:p>
        </p:txBody>
      </p:sp>
      <p:sp>
        <p:nvSpPr>
          <p:cNvPr id="24" name="Shape 22"/>
          <p:cNvSpPr/>
          <p:nvPr/>
        </p:nvSpPr>
        <p:spPr>
          <a:xfrm>
            <a:off x="6505956" y="4466844"/>
            <a:ext cx="64008" cy="64008"/>
          </a:xfrm>
          <a:prstGeom prst="ellipse">
            <a:avLst/>
          </a:prstGeom>
          <a:solidFill>
            <a:srgbClr val="0057E7"/>
          </a:solidFill>
          <a:ln/>
        </p:spPr>
      </p:sp>
      <p:sp>
        <p:nvSpPr>
          <p:cNvPr id="25" name="Text 23"/>
          <p:cNvSpPr/>
          <p:nvPr/>
        </p:nvSpPr>
        <p:spPr>
          <a:xfrm>
            <a:off x="6707124" y="4338828"/>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Borrower engagement tools streamline onboarding</a:t>
            </a:r>
            <a:endParaRPr lang="en-US" sz="1150" dirty="0"/>
          </a:p>
        </p:txBody>
      </p:sp>
      <p:sp>
        <p:nvSpPr>
          <p:cNvPr id="26" name="Shape 24"/>
          <p:cNvSpPr/>
          <p:nvPr/>
        </p:nvSpPr>
        <p:spPr>
          <a:xfrm>
            <a:off x="6505956" y="4969764"/>
            <a:ext cx="64008" cy="64008"/>
          </a:xfrm>
          <a:prstGeom prst="ellipse">
            <a:avLst/>
          </a:prstGeom>
          <a:solidFill>
            <a:srgbClr val="0057E7"/>
          </a:solidFill>
          <a:ln/>
        </p:spPr>
      </p:sp>
      <p:sp>
        <p:nvSpPr>
          <p:cNvPr id="27" name="Text 25"/>
          <p:cNvSpPr/>
          <p:nvPr/>
        </p:nvSpPr>
        <p:spPr>
          <a:xfrm>
            <a:off x="6707124" y="4841748"/>
            <a:ext cx="4750308" cy="521208"/>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End-to-end visibility improves trust and transparency</a:t>
            </a:r>
            <a:endParaRPr lang="en-US" sz="1150" dirty="0"/>
          </a:p>
        </p:txBody>
      </p:sp>
      <p:sp>
        <p:nvSpPr>
          <p:cNvPr id="28" name="Shape 26"/>
          <p:cNvSpPr/>
          <p:nvPr/>
        </p:nvSpPr>
        <p:spPr>
          <a:xfrm>
            <a:off x="457200" y="5532120"/>
            <a:ext cx="11274552" cy="685800"/>
          </a:xfrm>
          <a:prstGeom prst="roundRect">
            <a:avLst>
              <a:gd name="adj" fmla="val 10667"/>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9" name="Shape 27"/>
          <p:cNvSpPr/>
          <p:nvPr/>
        </p:nvSpPr>
        <p:spPr>
          <a:xfrm>
            <a:off x="731520" y="5687568"/>
            <a:ext cx="1051560" cy="365760"/>
          </a:xfrm>
          <a:prstGeom prst="roundRect">
            <a:avLst>
              <a:gd name="adj" fmla="val 15000"/>
            </a:avLst>
          </a:prstGeom>
          <a:solidFill>
            <a:srgbClr val="0057E7"/>
          </a:solidFill>
          <a:ln/>
        </p:spPr>
      </p:sp>
      <p:sp>
        <p:nvSpPr>
          <p:cNvPr id="30" name="Text 28"/>
          <p:cNvSpPr/>
          <p:nvPr/>
        </p:nvSpPr>
        <p:spPr>
          <a:xfrm>
            <a:off x="731520" y="5687568"/>
            <a:ext cx="1051560"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APPLIED</a:t>
            </a:r>
            <a:endParaRPr lang="en-US" sz="1100" dirty="0"/>
          </a:p>
        </p:txBody>
      </p:sp>
      <p:sp>
        <p:nvSpPr>
          <p:cNvPr id="31" name="Text 29"/>
          <p:cNvSpPr/>
          <p:nvPr/>
        </p:nvSpPr>
        <p:spPr>
          <a:xfrm>
            <a:off x="1965960" y="5532120"/>
            <a:ext cx="9509760" cy="685800"/>
          </a:xfrm>
          <a:prstGeom prst="rect">
            <a:avLst/>
          </a:prstGeom>
          <a:noFill/>
          <a:ln/>
        </p:spPr>
        <p:txBody>
          <a:bodyPr wrap="square" rtlCol="0" anchor="ctr"/>
          <a:lstStyle/>
          <a:p>
            <a:pPr indent="0" marL="0">
              <a:lnSpc>
                <a:spcPct val="110000"/>
              </a:lnSpc>
              <a:buNone/>
            </a:pPr>
            <a:r>
              <a:rPr lang="en-US" sz="1150" i="1" dirty="0">
                <a:solidFill>
                  <a:srgbClr val="E7ECF6"/>
                </a:solidFill>
                <a:latin typeface="GT America" pitchFamily="34" charset="0"/>
                <a:ea typeface="GT America" pitchFamily="34" charset="-122"/>
                <a:cs typeface="GT America" pitchFamily="34" charset="-120"/>
              </a:rPr>
              <a:t>Automated Credit Memo:  manual drafting  ›  automated generation  ›  faster, more consistent memos  ›  more underwriter time for judgment</a:t>
            </a:r>
            <a:endParaRPr lang="en-US" sz="1150" dirty="0"/>
          </a:p>
        </p:txBody>
      </p:sp>
      <p:sp>
        <p:nvSpPr>
          <p:cNvPr id="32" name="Text 30"/>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VALUE PROPOSITION FRAMEWORK</a:t>
            </a:r>
            <a:endParaRPr lang="en-US" sz="900" dirty="0"/>
          </a:p>
        </p:txBody>
      </p:sp>
      <p:sp>
        <p:nvSpPr>
          <p:cNvPr id="33" name="Text 31"/>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12 / 23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SEO-LED CONTENT STRATEGY</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A Continuous Research-to-Content Loop</a:t>
            </a:r>
            <a:endParaRPr lang="en-US" sz="2800" dirty="0"/>
          </a:p>
        </p:txBody>
      </p:sp>
      <p:sp>
        <p:nvSpPr>
          <p:cNvPr id="4" name="Shape 2"/>
          <p:cNvSpPr/>
          <p:nvPr/>
        </p:nvSpPr>
        <p:spPr>
          <a:xfrm>
            <a:off x="1485900" y="2446020"/>
            <a:ext cx="2308860" cy="1485900"/>
          </a:xfrm>
          <a:prstGeom prst="line">
            <a:avLst/>
          </a:prstGeom>
          <a:noFill/>
          <a:ln w="12700">
            <a:solidFill>
              <a:srgbClr val="DCE1EC"/>
            </a:solidFill>
            <a:prstDash val="solid"/>
          </a:ln>
        </p:spPr>
      </p:sp>
      <p:sp>
        <p:nvSpPr>
          <p:cNvPr id="5" name="Shape 3"/>
          <p:cNvSpPr/>
          <p:nvPr/>
        </p:nvSpPr>
        <p:spPr>
          <a:xfrm>
            <a:off x="3794760" y="2446020"/>
            <a:ext cx="2308860" cy="1485900"/>
          </a:xfrm>
          <a:prstGeom prst="line">
            <a:avLst/>
          </a:prstGeom>
          <a:noFill/>
          <a:ln w="12700">
            <a:solidFill>
              <a:srgbClr val="DCE1EC"/>
            </a:solidFill>
            <a:prstDash val="solid"/>
          </a:ln>
        </p:spPr>
      </p:sp>
      <p:sp>
        <p:nvSpPr>
          <p:cNvPr id="6" name="Shape 4"/>
          <p:cNvSpPr/>
          <p:nvPr/>
        </p:nvSpPr>
        <p:spPr>
          <a:xfrm>
            <a:off x="3794760" y="3931920"/>
            <a:ext cx="2308860" cy="0"/>
          </a:xfrm>
          <a:prstGeom prst="line">
            <a:avLst/>
          </a:prstGeom>
          <a:noFill/>
          <a:ln w="12700">
            <a:solidFill>
              <a:srgbClr val="DCE1EC"/>
            </a:solidFill>
            <a:prstDash val="solid"/>
          </a:ln>
        </p:spPr>
      </p:sp>
      <p:sp>
        <p:nvSpPr>
          <p:cNvPr id="7" name="Shape 5"/>
          <p:cNvSpPr/>
          <p:nvPr/>
        </p:nvSpPr>
        <p:spPr>
          <a:xfrm>
            <a:off x="3794760" y="3931920"/>
            <a:ext cx="2308860" cy="1485900"/>
          </a:xfrm>
          <a:prstGeom prst="line">
            <a:avLst/>
          </a:prstGeom>
          <a:noFill/>
          <a:ln w="12700">
            <a:solidFill>
              <a:srgbClr val="DCE1EC"/>
            </a:solidFill>
            <a:prstDash val="solid"/>
          </a:ln>
        </p:spPr>
      </p:sp>
      <p:sp>
        <p:nvSpPr>
          <p:cNvPr id="8" name="Shape 6"/>
          <p:cNvSpPr/>
          <p:nvPr/>
        </p:nvSpPr>
        <p:spPr>
          <a:xfrm>
            <a:off x="1485900" y="3931920"/>
            <a:ext cx="2308860" cy="1485900"/>
          </a:xfrm>
          <a:prstGeom prst="line">
            <a:avLst/>
          </a:prstGeom>
          <a:noFill/>
          <a:ln w="12700">
            <a:solidFill>
              <a:srgbClr val="DCE1EC"/>
            </a:solidFill>
            <a:prstDash val="solid"/>
          </a:ln>
        </p:spPr>
      </p:sp>
      <p:sp>
        <p:nvSpPr>
          <p:cNvPr id="9" name="Shape 7"/>
          <p:cNvSpPr/>
          <p:nvPr/>
        </p:nvSpPr>
        <p:spPr>
          <a:xfrm>
            <a:off x="1485900" y="3931920"/>
            <a:ext cx="2308860" cy="0"/>
          </a:xfrm>
          <a:prstGeom prst="line">
            <a:avLst/>
          </a:prstGeom>
          <a:noFill/>
          <a:ln w="12700">
            <a:solidFill>
              <a:srgbClr val="DCE1EC"/>
            </a:solidFill>
            <a:prstDash val="solid"/>
          </a:ln>
        </p:spPr>
      </p:sp>
      <p:sp>
        <p:nvSpPr>
          <p:cNvPr id="10" name="Shape 8"/>
          <p:cNvSpPr/>
          <p:nvPr/>
        </p:nvSpPr>
        <p:spPr>
          <a:xfrm>
            <a:off x="3108960" y="3246120"/>
            <a:ext cx="1371600" cy="1371600"/>
          </a:xfrm>
          <a:prstGeom prst="ellipse">
            <a:avLst/>
          </a:prstGeom>
          <a:solidFill>
            <a:srgbClr val="0A1264"/>
          </a:solidFill>
          <a:ln/>
        </p:spPr>
      </p:sp>
      <p:sp>
        <p:nvSpPr>
          <p:cNvPr id="11" name="Text 9"/>
          <p:cNvSpPr/>
          <p:nvPr/>
        </p:nvSpPr>
        <p:spPr>
          <a:xfrm>
            <a:off x="3108960" y="3246120"/>
            <a:ext cx="1371600" cy="137160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GT America" pitchFamily="34" charset="0"/>
                <a:ea typeface="GT America" pitchFamily="34" charset="-122"/>
                <a:cs typeface="GT America" pitchFamily="34" charset="-120"/>
              </a:rPr>
              <a:t>SEO-INFORMED</a:t>
            </a:r>
            <a:endParaRPr lang="en-US" sz="1100" dirty="0"/>
          </a:p>
          <a:p>
            <a:pPr algn="ctr" indent="0" marL="0">
              <a:lnSpc>
                <a:spcPct val="110000"/>
              </a:lnSpc>
              <a:buNone/>
            </a:pPr>
            <a:r>
              <a:rPr lang="en-US" sz="1100" b="1" dirty="0">
                <a:solidFill>
                  <a:srgbClr val="FFFFFF"/>
                </a:solidFill>
                <a:latin typeface="GT America" pitchFamily="34" charset="0"/>
                <a:ea typeface="GT America" pitchFamily="34" charset="-122"/>
                <a:cs typeface="GT America" pitchFamily="34" charset="-120"/>
              </a:rPr>
              <a:t>CONTENT</a:t>
            </a:r>
            <a:endParaRPr lang="en-US" sz="1100" dirty="0"/>
          </a:p>
        </p:txBody>
      </p:sp>
      <p:sp>
        <p:nvSpPr>
          <p:cNvPr id="12" name="Shape 10"/>
          <p:cNvSpPr/>
          <p:nvPr/>
        </p:nvSpPr>
        <p:spPr>
          <a:xfrm>
            <a:off x="594360" y="19659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3" name="Text 11"/>
          <p:cNvSpPr/>
          <p:nvPr/>
        </p:nvSpPr>
        <p:spPr>
          <a:xfrm>
            <a:off x="722376" y="20574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1</a:t>
            </a:r>
            <a:endParaRPr lang="en-US" sz="1200" dirty="0"/>
          </a:p>
        </p:txBody>
      </p:sp>
      <p:sp>
        <p:nvSpPr>
          <p:cNvPr id="14" name="Text 12"/>
          <p:cNvSpPr/>
          <p:nvPr/>
        </p:nvSpPr>
        <p:spPr>
          <a:xfrm>
            <a:off x="722376" y="23134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Keyword &amp; Search</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Intent Research</a:t>
            </a:r>
            <a:endParaRPr lang="en-US" sz="1050" dirty="0"/>
          </a:p>
        </p:txBody>
      </p:sp>
      <p:sp>
        <p:nvSpPr>
          <p:cNvPr id="15" name="Shape 13"/>
          <p:cNvSpPr/>
          <p:nvPr/>
        </p:nvSpPr>
        <p:spPr>
          <a:xfrm>
            <a:off x="5212080" y="19659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6" name="Text 14"/>
          <p:cNvSpPr/>
          <p:nvPr/>
        </p:nvSpPr>
        <p:spPr>
          <a:xfrm>
            <a:off x="5340096" y="20574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2</a:t>
            </a:r>
            <a:endParaRPr lang="en-US" sz="1200" dirty="0"/>
          </a:p>
        </p:txBody>
      </p:sp>
      <p:sp>
        <p:nvSpPr>
          <p:cNvPr id="17" name="Text 15"/>
          <p:cNvSpPr/>
          <p:nvPr/>
        </p:nvSpPr>
        <p:spPr>
          <a:xfrm>
            <a:off x="5340096" y="23134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Audience Language</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Analysis</a:t>
            </a:r>
            <a:endParaRPr lang="en-US" sz="1050" dirty="0"/>
          </a:p>
        </p:txBody>
      </p:sp>
      <p:sp>
        <p:nvSpPr>
          <p:cNvPr id="18" name="Shape 16"/>
          <p:cNvSpPr/>
          <p:nvPr/>
        </p:nvSpPr>
        <p:spPr>
          <a:xfrm>
            <a:off x="5212080" y="34518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9" name="Text 17"/>
          <p:cNvSpPr/>
          <p:nvPr/>
        </p:nvSpPr>
        <p:spPr>
          <a:xfrm>
            <a:off x="5340096" y="35433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3</a:t>
            </a:r>
            <a:endParaRPr lang="en-US" sz="1200" dirty="0"/>
          </a:p>
        </p:txBody>
      </p:sp>
      <p:sp>
        <p:nvSpPr>
          <p:cNvPr id="20" name="Text 18"/>
          <p:cNvSpPr/>
          <p:nvPr/>
        </p:nvSpPr>
        <p:spPr>
          <a:xfrm>
            <a:off x="5340096" y="37993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Content &amp; Messaging</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Development</a:t>
            </a:r>
            <a:endParaRPr lang="en-US" sz="1050" dirty="0"/>
          </a:p>
        </p:txBody>
      </p:sp>
      <p:sp>
        <p:nvSpPr>
          <p:cNvPr id="21" name="Shape 19"/>
          <p:cNvSpPr/>
          <p:nvPr/>
        </p:nvSpPr>
        <p:spPr>
          <a:xfrm>
            <a:off x="5212080" y="49377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2" name="Text 20"/>
          <p:cNvSpPr/>
          <p:nvPr/>
        </p:nvSpPr>
        <p:spPr>
          <a:xfrm>
            <a:off x="5340096" y="50292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4</a:t>
            </a:r>
            <a:endParaRPr lang="en-US" sz="1200" dirty="0"/>
          </a:p>
        </p:txBody>
      </p:sp>
      <p:sp>
        <p:nvSpPr>
          <p:cNvPr id="23" name="Text 21"/>
          <p:cNvSpPr/>
          <p:nvPr/>
        </p:nvSpPr>
        <p:spPr>
          <a:xfrm>
            <a:off x="5340096" y="52852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Webpage &amp; Campaign</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Copy</a:t>
            </a:r>
            <a:endParaRPr lang="en-US" sz="1050" dirty="0"/>
          </a:p>
        </p:txBody>
      </p:sp>
      <p:sp>
        <p:nvSpPr>
          <p:cNvPr id="24" name="Shape 22"/>
          <p:cNvSpPr/>
          <p:nvPr/>
        </p:nvSpPr>
        <p:spPr>
          <a:xfrm>
            <a:off x="594360" y="49377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5" name="Text 23"/>
          <p:cNvSpPr/>
          <p:nvPr/>
        </p:nvSpPr>
        <p:spPr>
          <a:xfrm>
            <a:off x="722376" y="50292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5</a:t>
            </a:r>
            <a:endParaRPr lang="en-US" sz="1200" dirty="0"/>
          </a:p>
        </p:txBody>
      </p:sp>
      <p:sp>
        <p:nvSpPr>
          <p:cNvPr id="26" name="Text 24"/>
          <p:cNvSpPr/>
          <p:nvPr/>
        </p:nvSpPr>
        <p:spPr>
          <a:xfrm>
            <a:off x="722376" y="52852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Publish &amp;</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Distribute</a:t>
            </a:r>
            <a:endParaRPr lang="en-US" sz="1050" dirty="0"/>
          </a:p>
        </p:txBody>
      </p:sp>
      <p:sp>
        <p:nvSpPr>
          <p:cNvPr id="27" name="Shape 25"/>
          <p:cNvSpPr/>
          <p:nvPr/>
        </p:nvSpPr>
        <p:spPr>
          <a:xfrm>
            <a:off x="594360" y="3451860"/>
            <a:ext cx="1783080" cy="960120"/>
          </a:xfrm>
          <a:prstGeom prst="roundRect">
            <a:avLst>
              <a:gd name="adj" fmla="val 761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8" name="Text 26"/>
          <p:cNvSpPr/>
          <p:nvPr/>
        </p:nvSpPr>
        <p:spPr>
          <a:xfrm>
            <a:off x="722376" y="3543300"/>
            <a:ext cx="320040" cy="274320"/>
          </a:xfrm>
          <a:prstGeom prst="rect">
            <a:avLst/>
          </a:prstGeom>
          <a:noFill/>
          <a:ln/>
        </p:spPr>
        <p:txBody>
          <a:bodyPr wrap="square" rtlCol="0" anchor="ctr"/>
          <a:lstStyle/>
          <a:p>
            <a:pPr indent="0" marL="0">
              <a:buNone/>
            </a:pPr>
            <a:r>
              <a:rPr lang="en-US" sz="1200" b="1" dirty="0">
                <a:solidFill>
                  <a:srgbClr val="0057E7"/>
                </a:solidFill>
                <a:latin typeface="GT America" pitchFamily="34" charset="0"/>
                <a:ea typeface="GT America" pitchFamily="34" charset="-122"/>
                <a:cs typeface="GT America" pitchFamily="34" charset="-120"/>
              </a:rPr>
              <a:t>6</a:t>
            </a:r>
            <a:endParaRPr lang="en-US" sz="1200" dirty="0"/>
          </a:p>
        </p:txBody>
      </p:sp>
      <p:sp>
        <p:nvSpPr>
          <p:cNvPr id="29" name="Text 27"/>
          <p:cNvSpPr/>
          <p:nvPr/>
        </p:nvSpPr>
        <p:spPr>
          <a:xfrm>
            <a:off x="722376" y="3799332"/>
            <a:ext cx="1527048" cy="548640"/>
          </a:xfrm>
          <a:prstGeom prst="rect">
            <a:avLst/>
          </a:prstGeom>
          <a:noFill/>
          <a:ln/>
        </p:spPr>
        <p:txBody>
          <a:bodyPr wrap="square" rtlCol="0" anchor="ctr"/>
          <a:lstStyle/>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Review &amp;</a:t>
            </a:r>
            <a:endParaRPr lang="en-US" sz="1050" dirty="0"/>
          </a:p>
          <a:p>
            <a:pPr indent="0" marL="0">
              <a:lnSpc>
                <a:spcPct val="108000"/>
              </a:lnSpc>
              <a:buNone/>
            </a:pPr>
            <a:r>
              <a:rPr lang="en-US" sz="1050" b="1" dirty="0">
                <a:solidFill>
                  <a:srgbClr val="0A1264"/>
                </a:solidFill>
                <a:latin typeface="GT America" pitchFamily="34" charset="0"/>
                <a:ea typeface="GT America" pitchFamily="34" charset="-122"/>
                <a:cs typeface="GT America" pitchFamily="34" charset="-120"/>
              </a:rPr>
              <a:t>Refine</a:t>
            </a:r>
            <a:endParaRPr lang="en-US" sz="1050" dirty="0"/>
          </a:p>
        </p:txBody>
      </p:sp>
      <p:sp>
        <p:nvSpPr>
          <p:cNvPr id="30" name="Shape 28"/>
          <p:cNvSpPr/>
          <p:nvPr/>
        </p:nvSpPr>
        <p:spPr>
          <a:xfrm>
            <a:off x="7818120" y="1783080"/>
            <a:ext cx="3913632" cy="4434840"/>
          </a:xfrm>
          <a:prstGeom prst="roundRect">
            <a:avLst>
              <a:gd name="adj" fmla="val 186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1" name="Text 29"/>
          <p:cNvSpPr/>
          <p:nvPr/>
        </p:nvSpPr>
        <p:spPr>
          <a:xfrm>
            <a:off x="8092440" y="2039112"/>
            <a:ext cx="3364992" cy="274320"/>
          </a:xfrm>
          <a:prstGeom prst="rect">
            <a:avLst/>
          </a:prstGeom>
          <a:noFill/>
          <a:ln/>
        </p:spPr>
        <p:txBody>
          <a:bodyPr wrap="square" rtlCol="0" anchor="ctr"/>
          <a:lstStyle/>
          <a:p>
            <a:pPr indent="0" marL="0">
              <a:buNone/>
            </a:pPr>
            <a:r>
              <a:rPr lang="en-US" sz="1150" b="1" spc="100" kern="0" dirty="0">
                <a:solidFill>
                  <a:srgbClr val="2E4DA6"/>
                </a:solidFill>
                <a:latin typeface="GT America" pitchFamily="34" charset="0"/>
                <a:ea typeface="GT America" pitchFamily="34" charset="-122"/>
                <a:cs typeface="GT America" pitchFamily="34" charset="-120"/>
              </a:rPr>
              <a:t>SEO RESEARCH INFORMED</a:t>
            </a:r>
            <a:endParaRPr lang="en-US" sz="1150" dirty="0"/>
          </a:p>
        </p:txBody>
      </p:sp>
      <p:sp>
        <p:nvSpPr>
          <p:cNvPr id="32" name="Shape 30"/>
          <p:cNvSpPr/>
          <p:nvPr/>
        </p:nvSpPr>
        <p:spPr>
          <a:xfrm>
            <a:off x="8092440" y="2642616"/>
            <a:ext cx="64008" cy="64008"/>
          </a:xfrm>
          <a:prstGeom prst="ellipse">
            <a:avLst/>
          </a:prstGeom>
          <a:solidFill>
            <a:srgbClr val="0057E7"/>
          </a:solidFill>
          <a:ln/>
        </p:spPr>
      </p:sp>
      <p:sp>
        <p:nvSpPr>
          <p:cNvPr id="33" name="Text 31"/>
          <p:cNvSpPr/>
          <p:nvPr/>
        </p:nvSpPr>
        <p:spPr>
          <a:xfrm>
            <a:off x="8293608" y="2514600"/>
            <a:ext cx="3163824" cy="585216"/>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Audience language used in messaging</a:t>
            </a:r>
            <a:endParaRPr lang="en-US" sz="1200" dirty="0"/>
          </a:p>
        </p:txBody>
      </p:sp>
      <p:sp>
        <p:nvSpPr>
          <p:cNvPr id="34" name="Shape 32"/>
          <p:cNvSpPr/>
          <p:nvPr/>
        </p:nvSpPr>
        <p:spPr>
          <a:xfrm>
            <a:off x="8092440" y="3209544"/>
            <a:ext cx="64008" cy="64008"/>
          </a:xfrm>
          <a:prstGeom prst="ellipse">
            <a:avLst/>
          </a:prstGeom>
          <a:solidFill>
            <a:srgbClr val="0057E7"/>
          </a:solidFill>
          <a:ln/>
        </p:spPr>
      </p:sp>
      <p:sp>
        <p:nvSpPr>
          <p:cNvPr id="35" name="Text 33"/>
          <p:cNvSpPr/>
          <p:nvPr/>
        </p:nvSpPr>
        <p:spPr>
          <a:xfrm>
            <a:off x="8293608" y="3081528"/>
            <a:ext cx="3163824" cy="585216"/>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Search intent behind lending topics</a:t>
            </a:r>
            <a:endParaRPr lang="en-US" sz="1200" dirty="0"/>
          </a:p>
        </p:txBody>
      </p:sp>
      <p:sp>
        <p:nvSpPr>
          <p:cNvPr id="36" name="Shape 34"/>
          <p:cNvSpPr/>
          <p:nvPr/>
        </p:nvSpPr>
        <p:spPr>
          <a:xfrm>
            <a:off x="8092440" y="3776472"/>
            <a:ext cx="64008" cy="64008"/>
          </a:xfrm>
          <a:prstGeom prst="ellipse">
            <a:avLst/>
          </a:prstGeom>
          <a:solidFill>
            <a:srgbClr val="0057E7"/>
          </a:solidFill>
          <a:ln/>
        </p:spPr>
      </p:sp>
      <p:sp>
        <p:nvSpPr>
          <p:cNvPr id="37" name="Text 35"/>
          <p:cNvSpPr/>
          <p:nvPr/>
        </p:nvSpPr>
        <p:spPr>
          <a:xfrm>
            <a:off x="8293608" y="3648456"/>
            <a:ext cx="3163824" cy="585216"/>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Keyword-informed webpage structure</a:t>
            </a:r>
            <a:endParaRPr lang="en-US" sz="1200" dirty="0"/>
          </a:p>
        </p:txBody>
      </p:sp>
      <p:sp>
        <p:nvSpPr>
          <p:cNvPr id="38" name="Shape 36"/>
          <p:cNvSpPr/>
          <p:nvPr/>
        </p:nvSpPr>
        <p:spPr>
          <a:xfrm>
            <a:off x="8092440" y="4343400"/>
            <a:ext cx="64008" cy="64008"/>
          </a:xfrm>
          <a:prstGeom prst="ellipse">
            <a:avLst/>
          </a:prstGeom>
          <a:solidFill>
            <a:srgbClr val="0057E7"/>
          </a:solidFill>
          <a:ln/>
        </p:spPr>
      </p:sp>
      <p:sp>
        <p:nvSpPr>
          <p:cNvPr id="39" name="Text 37"/>
          <p:cNvSpPr/>
          <p:nvPr/>
        </p:nvSpPr>
        <p:spPr>
          <a:xfrm>
            <a:off x="8293608" y="4215384"/>
            <a:ext cx="3163824" cy="585216"/>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Campaign copy aligned to real search terms</a:t>
            </a:r>
            <a:endParaRPr lang="en-US" sz="1200" dirty="0"/>
          </a:p>
        </p:txBody>
      </p:sp>
      <p:sp>
        <p:nvSpPr>
          <p:cNvPr id="40" name="Shape 38"/>
          <p:cNvSpPr/>
          <p:nvPr/>
        </p:nvSpPr>
        <p:spPr>
          <a:xfrm>
            <a:off x="8092440" y="4910328"/>
            <a:ext cx="64008" cy="64008"/>
          </a:xfrm>
          <a:prstGeom prst="ellipse">
            <a:avLst/>
          </a:prstGeom>
          <a:solidFill>
            <a:srgbClr val="0057E7"/>
          </a:solidFill>
          <a:ln/>
        </p:spPr>
      </p:sp>
      <p:sp>
        <p:nvSpPr>
          <p:cNvPr id="41" name="Text 39"/>
          <p:cNvSpPr/>
          <p:nvPr/>
        </p:nvSpPr>
        <p:spPr>
          <a:xfrm>
            <a:off x="8293608" y="4782312"/>
            <a:ext cx="3163824" cy="585216"/>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Ongoing content refinement based on findings</a:t>
            </a:r>
            <a:endParaRPr lang="en-US" sz="1200" dirty="0"/>
          </a:p>
        </p:txBody>
      </p:sp>
      <p:sp>
        <p:nvSpPr>
          <p:cNvPr id="42" name="Text 40"/>
          <p:cNvSpPr/>
          <p:nvPr/>
        </p:nvSpPr>
        <p:spPr>
          <a:xfrm>
            <a:off x="8092440" y="5715000"/>
            <a:ext cx="3364992"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2025: this process contributed to a $3.1M SQL for Loan Origination, sourced directly through the website.</a:t>
            </a:r>
            <a:endParaRPr lang="en-US" sz="900" dirty="0"/>
          </a:p>
        </p:txBody>
      </p:sp>
      <p:sp>
        <p:nvSpPr>
          <p:cNvPr id="43" name="Text 41"/>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SEO-LED CONTENT STRATEGY</a:t>
            </a:r>
            <a:endParaRPr lang="en-US" sz="900" dirty="0"/>
          </a:p>
        </p:txBody>
      </p:sp>
      <p:sp>
        <p:nvSpPr>
          <p:cNvPr id="44" name="Text 42"/>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13 / 23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REGIONAL MARKETING INTELLIGENCE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Campaign Observations Across Markets</a:t>
            </a:r>
            <a:endParaRPr lang="en-US" sz="2800" dirty="0"/>
          </a:p>
        </p:txBody>
      </p:sp>
      <p:sp>
        <p:nvSpPr>
          <p:cNvPr id="4" name="Text 2"/>
          <p:cNvSpPr/>
          <p:nvPr/>
        </p:nvSpPr>
        <p:spPr>
          <a:xfrm>
            <a:off x="457200" y="1417320"/>
            <a:ext cx="91440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Shown as campaign-level observations, not universal market conclusions.</a:t>
            </a:r>
            <a:endParaRPr lang="en-US" sz="1000" dirty="0"/>
          </a:p>
        </p:txBody>
      </p:sp>
      <p:sp>
        <p:nvSpPr>
          <p:cNvPr id="5" name="Shape 3"/>
          <p:cNvSpPr/>
          <p:nvPr/>
        </p:nvSpPr>
        <p:spPr>
          <a:xfrm>
            <a:off x="457200" y="1920240"/>
            <a:ext cx="3520440" cy="3246120"/>
          </a:xfrm>
          <a:prstGeom prst="roundRect">
            <a:avLst>
              <a:gd name="adj" fmla="val 225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6" name="Shape 4"/>
          <p:cNvSpPr/>
          <p:nvPr/>
        </p:nvSpPr>
        <p:spPr>
          <a:xfrm>
            <a:off x="457200" y="1920240"/>
            <a:ext cx="3520440" cy="822960"/>
          </a:xfrm>
          <a:prstGeom prst="roundRect">
            <a:avLst>
              <a:gd name="adj" fmla="val 8889"/>
            </a:avLst>
          </a:prstGeom>
          <a:solidFill>
            <a:srgbClr val="0A1264"/>
          </a:solidFill>
          <a:ln/>
        </p:spPr>
      </p:sp>
      <p:sp>
        <p:nvSpPr>
          <p:cNvPr id="7" name="Text 5"/>
          <p:cNvSpPr/>
          <p:nvPr/>
        </p:nvSpPr>
        <p:spPr>
          <a:xfrm>
            <a:off x="731520" y="2029968"/>
            <a:ext cx="2971800" cy="365760"/>
          </a:xfrm>
          <a:prstGeom prst="rect">
            <a:avLst/>
          </a:prstGeom>
          <a:noFill/>
          <a:ln/>
        </p:spPr>
        <p:txBody>
          <a:bodyPr wrap="square" rtlCol="0" anchor="ctr"/>
          <a:lstStyle/>
          <a:p>
            <a:pPr indent="0" marL="0">
              <a:buNone/>
            </a:pPr>
            <a:r>
              <a:rPr lang="en-US" sz="2000" b="1" dirty="0">
                <a:solidFill>
                  <a:srgbClr val="FFFFFF"/>
                </a:solidFill>
                <a:latin typeface="GT America" pitchFamily="34" charset="0"/>
                <a:ea typeface="GT America" pitchFamily="34" charset="-122"/>
                <a:cs typeface="GT America" pitchFamily="34" charset="-120"/>
              </a:rPr>
              <a:t>US</a:t>
            </a:r>
            <a:endParaRPr lang="en-US" sz="2000" dirty="0"/>
          </a:p>
        </p:txBody>
      </p:sp>
      <p:sp>
        <p:nvSpPr>
          <p:cNvPr id="8" name="Text 6"/>
          <p:cNvSpPr/>
          <p:nvPr/>
        </p:nvSpPr>
        <p:spPr>
          <a:xfrm>
            <a:off x="731520" y="2404872"/>
            <a:ext cx="2971800" cy="274320"/>
          </a:xfrm>
          <a:prstGeom prst="rect">
            <a:avLst/>
          </a:prstGeom>
          <a:noFill/>
          <a:ln/>
        </p:spPr>
        <p:txBody>
          <a:bodyPr wrap="square" rtlCol="0" anchor="ctr"/>
          <a:lstStyle/>
          <a:p>
            <a:pPr indent="0" marL="0">
              <a:buNone/>
            </a:pPr>
            <a:r>
              <a:rPr lang="en-US" sz="1000" dirty="0">
                <a:solidFill>
                  <a:srgbClr val="E7ECF6"/>
                </a:solidFill>
                <a:latin typeface="GT America" pitchFamily="34" charset="0"/>
                <a:ea typeface="GT America" pitchFamily="34" charset="-122"/>
                <a:cs typeface="GT America" pitchFamily="34" charset="-120"/>
              </a:rPr>
              <a:t>United States</a:t>
            </a:r>
            <a:endParaRPr lang="en-US" sz="1000" dirty="0"/>
          </a:p>
        </p:txBody>
      </p:sp>
      <p:sp>
        <p:nvSpPr>
          <p:cNvPr id="9" name="Shape 7"/>
          <p:cNvSpPr/>
          <p:nvPr/>
        </p:nvSpPr>
        <p:spPr>
          <a:xfrm>
            <a:off x="731520" y="3054096"/>
            <a:ext cx="64008" cy="64008"/>
          </a:xfrm>
          <a:prstGeom prst="ellipse">
            <a:avLst/>
          </a:prstGeom>
          <a:solidFill>
            <a:srgbClr val="0057E7"/>
          </a:solidFill>
          <a:ln/>
        </p:spPr>
      </p:sp>
      <p:sp>
        <p:nvSpPr>
          <p:cNvPr id="10" name="Text 8"/>
          <p:cNvSpPr/>
          <p:nvPr/>
        </p:nvSpPr>
        <p:spPr>
          <a:xfrm>
            <a:off x="932688" y="2926080"/>
            <a:ext cx="2816352" cy="566928"/>
          </a:xfrm>
          <a:prstGeom prst="rect">
            <a:avLst/>
          </a:prstGeom>
          <a:noFill/>
          <a:ln/>
        </p:spPr>
        <p:txBody>
          <a:bodyPr wrap="square" rtlCol="0" anchor="t"/>
          <a:lstStyle/>
          <a:p>
            <a:pPr indent="0" marL="0">
              <a:lnSpc>
                <a:spcPct val="105000"/>
              </a:lnSpc>
              <a:buNone/>
            </a:pPr>
            <a:r>
              <a:rPr lang="en-US" sz="1100" dirty="0">
                <a:solidFill>
                  <a:srgbClr val="10142B"/>
                </a:solidFill>
                <a:latin typeface="GT America" pitchFamily="34" charset="0"/>
                <a:ea typeface="GT America" pitchFamily="34" charset="-122"/>
                <a:cs typeface="GT America" pitchFamily="34" charset="-120"/>
              </a:rPr>
              <a:t>Loan Origination campaigns showed strong relevance</a:t>
            </a:r>
            <a:endParaRPr lang="en-US" sz="1100" dirty="0"/>
          </a:p>
        </p:txBody>
      </p:sp>
      <p:sp>
        <p:nvSpPr>
          <p:cNvPr id="11" name="Shape 9"/>
          <p:cNvSpPr/>
          <p:nvPr/>
        </p:nvSpPr>
        <p:spPr>
          <a:xfrm>
            <a:off x="4297680" y="1920240"/>
            <a:ext cx="3520440" cy="3246120"/>
          </a:xfrm>
          <a:prstGeom prst="roundRect">
            <a:avLst>
              <a:gd name="adj" fmla="val 225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2" name="Shape 10"/>
          <p:cNvSpPr/>
          <p:nvPr/>
        </p:nvSpPr>
        <p:spPr>
          <a:xfrm>
            <a:off x="4297680" y="1920240"/>
            <a:ext cx="3520440" cy="822960"/>
          </a:xfrm>
          <a:prstGeom prst="roundRect">
            <a:avLst>
              <a:gd name="adj" fmla="val 8889"/>
            </a:avLst>
          </a:prstGeom>
          <a:solidFill>
            <a:srgbClr val="2E4DA6"/>
          </a:solidFill>
          <a:ln/>
        </p:spPr>
      </p:sp>
      <p:sp>
        <p:nvSpPr>
          <p:cNvPr id="13" name="Text 11"/>
          <p:cNvSpPr/>
          <p:nvPr/>
        </p:nvSpPr>
        <p:spPr>
          <a:xfrm>
            <a:off x="4572000" y="2029968"/>
            <a:ext cx="2971800" cy="365760"/>
          </a:xfrm>
          <a:prstGeom prst="rect">
            <a:avLst/>
          </a:prstGeom>
          <a:noFill/>
          <a:ln/>
        </p:spPr>
        <p:txBody>
          <a:bodyPr wrap="square" rtlCol="0" anchor="ctr"/>
          <a:lstStyle/>
          <a:p>
            <a:pPr indent="0" marL="0">
              <a:buNone/>
            </a:pPr>
            <a:r>
              <a:rPr lang="en-US" sz="2000" b="1" dirty="0">
                <a:solidFill>
                  <a:srgbClr val="FFFFFF"/>
                </a:solidFill>
                <a:latin typeface="GT America" pitchFamily="34" charset="0"/>
                <a:ea typeface="GT America" pitchFamily="34" charset="-122"/>
                <a:cs typeface="GT America" pitchFamily="34" charset="-120"/>
              </a:rPr>
              <a:t>EMEA</a:t>
            </a:r>
            <a:endParaRPr lang="en-US" sz="2000" dirty="0"/>
          </a:p>
        </p:txBody>
      </p:sp>
      <p:sp>
        <p:nvSpPr>
          <p:cNvPr id="14" name="Text 12"/>
          <p:cNvSpPr/>
          <p:nvPr/>
        </p:nvSpPr>
        <p:spPr>
          <a:xfrm>
            <a:off x="4572000" y="2404872"/>
            <a:ext cx="2971800" cy="274320"/>
          </a:xfrm>
          <a:prstGeom prst="rect">
            <a:avLst/>
          </a:prstGeom>
          <a:noFill/>
          <a:ln/>
        </p:spPr>
        <p:txBody>
          <a:bodyPr wrap="square" rtlCol="0" anchor="ctr"/>
          <a:lstStyle/>
          <a:p>
            <a:pPr indent="0" marL="0">
              <a:buNone/>
            </a:pPr>
            <a:r>
              <a:rPr lang="en-US" sz="1000" dirty="0">
                <a:solidFill>
                  <a:srgbClr val="E7ECF6"/>
                </a:solidFill>
                <a:latin typeface="GT America" pitchFamily="34" charset="0"/>
                <a:ea typeface="GT America" pitchFamily="34" charset="-122"/>
                <a:cs typeface="GT America" pitchFamily="34" charset="-120"/>
              </a:rPr>
              <a:t>Europe, Middle East &amp; Africa</a:t>
            </a:r>
            <a:endParaRPr lang="en-US" sz="1000" dirty="0"/>
          </a:p>
        </p:txBody>
      </p:sp>
      <p:sp>
        <p:nvSpPr>
          <p:cNvPr id="15" name="Shape 13"/>
          <p:cNvSpPr/>
          <p:nvPr/>
        </p:nvSpPr>
        <p:spPr>
          <a:xfrm>
            <a:off x="4572000" y="3054096"/>
            <a:ext cx="64008" cy="64008"/>
          </a:xfrm>
          <a:prstGeom prst="ellipse">
            <a:avLst/>
          </a:prstGeom>
          <a:solidFill>
            <a:srgbClr val="0057E7"/>
          </a:solidFill>
          <a:ln/>
        </p:spPr>
      </p:sp>
      <p:sp>
        <p:nvSpPr>
          <p:cNvPr id="16" name="Text 14"/>
          <p:cNvSpPr/>
          <p:nvPr/>
        </p:nvSpPr>
        <p:spPr>
          <a:xfrm>
            <a:off x="4773168" y="2926080"/>
            <a:ext cx="2816352" cy="566928"/>
          </a:xfrm>
          <a:prstGeom prst="rect">
            <a:avLst/>
          </a:prstGeom>
          <a:noFill/>
          <a:ln/>
        </p:spPr>
        <p:txBody>
          <a:bodyPr wrap="square" rtlCol="0" anchor="t"/>
          <a:lstStyle/>
          <a:p>
            <a:pPr indent="0" marL="0">
              <a:lnSpc>
                <a:spcPct val="105000"/>
              </a:lnSpc>
              <a:buNone/>
            </a:pPr>
            <a:r>
              <a:rPr lang="en-US" sz="1100" dirty="0">
                <a:solidFill>
                  <a:srgbClr val="10142B"/>
                </a:solidFill>
                <a:latin typeface="GT America" pitchFamily="34" charset="0"/>
                <a:ea typeface="GT America" pitchFamily="34" charset="-122"/>
                <a:cs typeface="GT America" pitchFamily="34" charset="-120"/>
              </a:rPr>
              <a:t>Portfolio messaging extended to EMEA audiences</a:t>
            </a:r>
            <a:endParaRPr lang="en-US" sz="1100" dirty="0"/>
          </a:p>
        </p:txBody>
      </p:sp>
      <p:sp>
        <p:nvSpPr>
          <p:cNvPr id="17" name="Shape 15"/>
          <p:cNvSpPr/>
          <p:nvPr/>
        </p:nvSpPr>
        <p:spPr>
          <a:xfrm>
            <a:off x="8138160" y="1920240"/>
            <a:ext cx="3520440" cy="3246120"/>
          </a:xfrm>
          <a:prstGeom prst="roundRect">
            <a:avLst>
              <a:gd name="adj" fmla="val 2254"/>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8" name="Shape 16"/>
          <p:cNvSpPr/>
          <p:nvPr/>
        </p:nvSpPr>
        <p:spPr>
          <a:xfrm>
            <a:off x="8138160" y="1920240"/>
            <a:ext cx="3520440" cy="822960"/>
          </a:xfrm>
          <a:prstGeom prst="roundRect">
            <a:avLst>
              <a:gd name="adj" fmla="val 8889"/>
            </a:avLst>
          </a:prstGeom>
          <a:solidFill>
            <a:srgbClr val="0057E7"/>
          </a:solidFill>
          <a:ln/>
        </p:spPr>
      </p:sp>
      <p:sp>
        <p:nvSpPr>
          <p:cNvPr id="19" name="Text 17"/>
          <p:cNvSpPr/>
          <p:nvPr/>
        </p:nvSpPr>
        <p:spPr>
          <a:xfrm>
            <a:off x="8412480" y="2029968"/>
            <a:ext cx="2971800" cy="365760"/>
          </a:xfrm>
          <a:prstGeom prst="rect">
            <a:avLst/>
          </a:prstGeom>
          <a:noFill/>
          <a:ln/>
        </p:spPr>
        <p:txBody>
          <a:bodyPr wrap="square" rtlCol="0" anchor="ctr"/>
          <a:lstStyle/>
          <a:p>
            <a:pPr indent="0" marL="0">
              <a:buNone/>
            </a:pPr>
            <a:r>
              <a:rPr lang="en-US" sz="2000" b="1" dirty="0">
                <a:solidFill>
                  <a:srgbClr val="FFFFFF"/>
                </a:solidFill>
                <a:latin typeface="GT America" pitchFamily="34" charset="0"/>
                <a:ea typeface="GT America" pitchFamily="34" charset="-122"/>
                <a:cs typeface="GT America" pitchFamily="34" charset="-120"/>
              </a:rPr>
              <a:t>APAC</a:t>
            </a:r>
            <a:endParaRPr lang="en-US" sz="2000" dirty="0"/>
          </a:p>
        </p:txBody>
      </p:sp>
      <p:sp>
        <p:nvSpPr>
          <p:cNvPr id="20" name="Text 18"/>
          <p:cNvSpPr/>
          <p:nvPr/>
        </p:nvSpPr>
        <p:spPr>
          <a:xfrm>
            <a:off x="8412480" y="2404872"/>
            <a:ext cx="2971800" cy="274320"/>
          </a:xfrm>
          <a:prstGeom prst="rect">
            <a:avLst/>
          </a:prstGeom>
          <a:noFill/>
          <a:ln/>
        </p:spPr>
        <p:txBody>
          <a:bodyPr wrap="square" rtlCol="0" anchor="ctr"/>
          <a:lstStyle/>
          <a:p>
            <a:pPr indent="0" marL="0">
              <a:buNone/>
            </a:pPr>
            <a:r>
              <a:rPr lang="en-US" sz="1000" dirty="0">
                <a:solidFill>
                  <a:srgbClr val="E7ECF6"/>
                </a:solidFill>
                <a:latin typeface="GT America" pitchFamily="34" charset="0"/>
                <a:ea typeface="GT America" pitchFamily="34" charset="-122"/>
                <a:cs typeface="GT America" pitchFamily="34" charset="-120"/>
              </a:rPr>
              <a:t>Asia-Pacific</a:t>
            </a:r>
            <a:endParaRPr lang="en-US" sz="1000" dirty="0"/>
          </a:p>
        </p:txBody>
      </p:sp>
      <p:sp>
        <p:nvSpPr>
          <p:cNvPr id="21" name="Shape 19"/>
          <p:cNvSpPr/>
          <p:nvPr/>
        </p:nvSpPr>
        <p:spPr>
          <a:xfrm>
            <a:off x="8412480" y="3054096"/>
            <a:ext cx="64008" cy="64008"/>
          </a:xfrm>
          <a:prstGeom prst="ellipse">
            <a:avLst/>
          </a:prstGeom>
          <a:solidFill>
            <a:srgbClr val="0057E7"/>
          </a:solidFill>
          <a:ln/>
        </p:spPr>
      </p:sp>
      <p:sp>
        <p:nvSpPr>
          <p:cNvPr id="22" name="Text 20"/>
          <p:cNvSpPr/>
          <p:nvPr/>
        </p:nvSpPr>
        <p:spPr>
          <a:xfrm>
            <a:off x="8613648" y="2926080"/>
            <a:ext cx="2816352" cy="886968"/>
          </a:xfrm>
          <a:prstGeom prst="rect">
            <a:avLst/>
          </a:prstGeom>
          <a:noFill/>
          <a:ln/>
        </p:spPr>
        <p:txBody>
          <a:bodyPr wrap="square" rtlCol="0" anchor="t"/>
          <a:lstStyle/>
          <a:p>
            <a:pPr indent="0" marL="0">
              <a:lnSpc>
                <a:spcPct val="105000"/>
              </a:lnSpc>
              <a:buNone/>
            </a:pPr>
            <a:r>
              <a:rPr lang="en-US" sz="1100" dirty="0">
                <a:solidFill>
                  <a:srgbClr val="10142B"/>
                </a:solidFill>
                <a:latin typeface="GT America" pitchFamily="34" charset="0"/>
                <a:ea typeface="GT America" pitchFamily="34" charset="-122"/>
                <a:cs typeface="GT America" pitchFamily="34" charset="-120"/>
              </a:rPr>
              <a:t>Automated Spreading showed relevance in APAC</a:t>
            </a:r>
            <a:endParaRPr lang="en-US" sz="1100" dirty="0"/>
          </a:p>
        </p:txBody>
      </p:sp>
      <p:sp>
        <p:nvSpPr>
          <p:cNvPr id="23" name="Shape 21"/>
          <p:cNvSpPr/>
          <p:nvPr/>
        </p:nvSpPr>
        <p:spPr>
          <a:xfrm>
            <a:off x="8412480" y="3922776"/>
            <a:ext cx="64008" cy="64008"/>
          </a:xfrm>
          <a:prstGeom prst="ellipse">
            <a:avLst/>
          </a:prstGeom>
          <a:solidFill>
            <a:srgbClr val="0057E7"/>
          </a:solidFill>
          <a:ln/>
        </p:spPr>
      </p:sp>
      <p:sp>
        <p:nvSpPr>
          <p:cNvPr id="24" name="Text 22"/>
          <p:cNvSpPr/>
          <p:nvPr/>
        </p:nvSpPr>
        <p:spPr>
          <a:xfrm>
            <a:off x="8613648" y="3794760"/>
            <a:ext cx="2816352" cy="886968"/>
          </a:xfrm>
          <a:prstGeom prst="rect">
            <a:avLst/>
          </a:prstGeom>
          <a:noFill/>
          <a:ln/>
        </p:spPr>
        <p:txBody>
          <a:bodyPr wrap="square" rtlCol="0" anchor="t"/>
          <a:lstStyle/>
          <a:p>
            <a:pPr indent="0" marL="0">
              <a:lnSpc>
                <a:spcPct val="105000"/>
              </a:lnSpc>
              <a:buNone/>
            </a:pPr>
            <a:r>
              <a:rPr lang="en-US" sz="1100" dirty="0">
                <a:solidFill>
                  <a:srgbClr val="10142B"/>
                </a:solidFill>
                <a:latin typeface="GT America" pitchFamily="34" charset="0"/>
                <a:ea typeface="GT America" pitchFamily="34" charset="-122"/>
                <a:cs typeface="GT America" pitchFamily="34" charset="-120"/>
              </a:rPr>
              <a:t>Agriculture lending engagement observed in Australia</a:t>
            </a:r>
            <a:endParaRPr lang="en-US" sz="1100" dirty="0"/>
          </a:p>
        </p:txBody>
      </p:sp>
      <p:sp>
        <p:nvSpPr>
          <p:cNvPr id="25" name="Shape 23"/>
          <p:cNvSpPr/>
          <p:nvPr/>
        </p:nvSpPr>
        <p:spPr>
          <a:xfrm>
            <a:off x="457200" y="5440680"/>
            <a:ext cx="11274552" cy="777240"/>
          </a:xfrm>
          <a:prstGeom prst="roundRect">
            <a:avLst>
              <a:gd name="adj" fmla="val 9412"/>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6" name="Text 24"/>
          <p:cNvSpPr/>
          <p:nvPr/>
        </p:nvSpPr>
        <p:spPr>
          <a:xfrm>
            <a:off x="777240" y="5440680"/>
            <a:ext cx="10607040" cy="777240"/>
          </a:xfrm>
          <a:prstGeom prst="rect">
            <a:avLst/>
          </a:prstGeom>
          <a:noFill/>
          <a:ln/>
        </p:spPr>
        <p:txBody>
          <a:bodyPr wrap="square" rtlCol="0" anchor="ctr"/>
          <a:lstStyle/>
          <a:p>
            <a:pPr indent="0" marL="0">
              <a:lnSpc>
                <a:spcPct val="115000"/>
              </a:lnSpc>
              <a:buNone/>
            </a:pPr>
            <a:r>
              <a:rPr lang="en-US" sz="1200" i="1" dirty="0">
                <a:solidFill>
                  <a:srgbClr val="1B3F91"/>
                </a:solidFill>
                <a:latin typeface="GT America" pitchFamily="34" charset="0"/>
                <a:ea typeface="GT America" pitchFamily="34" charset="-122"/>
                <a:cs typeface="GT America" pitchFamily="34" charset="-120"/>
              </a:rPr>
              <a:t>Cross-regional segment observation:  Automated Credit Memo showed relevance for small-business-related needs, independent of a single region.</a:t>
            </a:r>
            <a:endParaRPr lang="en-US" sz="1200" dirty="0"/>
          </a:p>
        </p:txBody>
      </p:sp>
      <p:sp>
        <p:nvSpPr>
          <p:cNvPr id="27" name="Text 25"/>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REGIONAL MARKETING INTELLIGENCE</a:t>
            </a:r>
            <a:endParaRPr lang="en-US" sz="900" dirty="0"/>
          </a:p>
        </p:txBody>
      </p:sp>
      <p:sp>
        <p:nvSpPr>
          <p:cNvPr id="28" name="Text 26"/>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14 / 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CAMPAIGN STRATEGY</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From Brief to Optimization</a:t>
            </a:r>
            <a:endParaRPr lang="en-US" sz="2800" dirty="0"/>
          </a:p>
        </p:txBody>
      </p:sp>
      <p:sp>
        <p:nvSpPr>
          <p:cNvPr id="4" name="Shape 2"/>
          <p:cNvSpPr/>
          <p:nvPr/>
        </p:nvSpPr>
        <p:spPr>
          <a:xfrm>
            <a:off x="457200" y="1828800"/>
            <a:ext cx="1772412" cy="914400"/>
          </a:xfrm>
          <a:prstGeom prst="roundRect">
            <a:avLst>
              <a:gd name="adj" fmla="val 8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512064"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Campaign</a:t>
            </a:r>
            <a:endParaRPr lang="en-US" sz="1100" dirty="0"/>
          </a:p>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Brief</a:t>
            </a:r>
            <a:endParaRPr lang="en-US" sz="1100" dirty="0"/>
          </a:p>
        </p:txBody>
      </p:sp>
      <p:sp>
        <p:nvSpPr>
          <p:cNvPr id="6" name="Text 4"/>
          <p:cNvSpPr/>
          <p:nvPr/>
        </p:nvSpPr>
        <p:spPr>
          <a:xfrm>
            <a:off x="2229612" y="1828800"/>
            <a:ext cx="146304" cy="914400"/>
          </a:xfrm>
          <a:prstGeom prst="rect">
            <a:avLst/>
          </a:prstGeom>
          <a:noFill/>
          <a:ln/>
        </p:spPr>
        <p:txBody>
          <a:bodyPr wrap="square" rtlCol="0" anchor="ctr"/>
          <a:lstStyle/>
          <a:p>
            <a:pPr algn="ctr" indent="0" marL="0">
              <a:buNone/>
            </a:pPr>
            <a:r>
              <a:rPr lang="en-US" sz="1600" b="1" dirty="0">
                <a:solidFill>
                  <a:srgbClr val="5B6472"/>
                </a:solidFill>
                <a:latin typeface="GT America" pitchFamily="34" charset="0"/>
                <a:ea typeface="GT America" pitchFamily="34" charset="-122"/>
                <a:cs typeface="GT America" pitchFamily="34" charset="-120"/>
              </a:rPr>
              <a:t>›</a:t>
            </a:r>
            <a:endParaRPr lang="en-US" sz="1600" dirty="0"/>
          </a:p>
        </p:txBody>
      </p:sp>
      <p:sp>
        <p:nvSpPr>
          <p:cNvPr id="7" name="Shape 5"/>
          <p:cNvSpPr/>
          <p:nvPr/>
        </p:nvSpPr>
        <p:spPr>
          <a:xfrm>
            <a:off x="2357628" y="1828800"/>
            <a:ext cx="1772412" cy="914400"/>
          </a:xfrm>
          <a:prstGeom prst="roundRect">
            <a:avLst>
              <a:gd name="adj" fmla="val 8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8" name="Text 6"/>
          <p:cNvSpPr/>
          <p:nvPr/>
        </p:nvSpPr>
        <p:spPr>
          <a:xfrm>
            <a:off x="2412492"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Audience</a:t>
            </a:r>
            <a:endParaRPr lang="en-US" sz="1100" dirty="0"/>
          </a:p>
        </p:txBody>
      </p:sp>
      <p:sp>
        <p:nvSpPr>
          <p:cNvPr id="9" name="Text 7"/>
          <p:cNvSpPr/>
          <p:nvPr/>
        </p:nvSpPr>
        <p:spPr>
          <a:xfrm>
            <a:off x="4130040" y="1828800"/>
            <a:ext cx="146304" cy="914400"/>
          </a:xfrm>
          <a:prstGeom prst="rect">
            <a:avLst/>
          </a:prstGeom>
          <a:noFill/>
          <a:ln/>
        </p:spPr>
        <p:txBody>
          <a:bodyPr wrap="square" rtlCol="0" anchor="ctr"/>
          <a:lstStyle/>
          <a:p>
            <a:pPr algn="ctr" indent="0" marL="0">
              <a:buNone/>
            </a:pPr>
            <a:r>
              <a:rPr lang="en-US" sz="1600" b="1" dirty="0">
                <a:solidFill>
                  <a:srgbClr val="5B6472"/>
                </a:solidFill>
                <a:latin typeface="GT America" pitchFamily="34" charset="0"/>
                <a:ea typeface="GT America" pitchFamily="34" charset="-122"/>
                <a:cs typeface="GT America" pitchFamily="34" charset="-120"/>
              </a:rPr>
              <a:t>›</a:t>
            </a:r>
            <a:endParaRPr lang="en-US" sz="1600" dirty="0"/>
          </a:p>
        </p:txBody>
      </p:sp>
      <p:sp>
        <p:nvSpPr>
          <p:cNvPr id="10" name="Shape 8"/>
          <p:cNvSpPr/>
          <p:nvPr/>
        </p:nvSpPr>
        <p:spPr>
          <a:xfrm>
            <a:off x="4258056" y="1828800"/>
            <a:ext cx="1772412" cy="914400"/>
          </a:xfrm>
          <a:prstGeom prst="roundRect">
            <a:avLst>
              <a:gd name="adj" fmla="val 8000"/>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1" name="Text 9"/>
          <p:cNvSpPr/>
          <p:nvPr/>
        </p:nvSpPr>
        <p:spPr>
          <a:xfrm>
            <a:off x="4312920"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Value</a:t>
            </a:r>
            <a:endParaRPr lang="en-US" sz="1100" dirty="0"/>
          </a:p>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Proposition</a:t>
            </a:r>
            <a:endParaRPr lang="en-US" sz="1100" dirty="0"/>
          </a:p>
        </p:txBody>
      </p:sp>
      <p:sp>
        <p:nvSpPr>
          <p:cNvPr id="12" name="Text 10"/>
          <p:cNvSpPr/>
          <p:nvPr/>
        </p:nvSpPr>
        <p:spPr>
          <a:xfrm>
            <a:off x="6030468" y="1828800"/>
            <a:ext cx="146304" cy="914400"/>
          </a:xfrm>
          <a:prstGeom prst="rect">
            <a:avLst/>
          </a:prstGeom>
          <a:noFill/>
          <a:ln/>
        </p:spPr>
        <p:txBody>
          <a:bodyPr wrap="square" rtlCol="0" anchor="ctr"/>
          <a:lstStyle/>
          <a:p>
            <a:pPr algn="ctr" indent="0" marL="0">
              <a:buNone/>
            </a:pPr>
            <a:r>
              <a:rPr lang="en-US" sz="1600" b="1" dirty="0">
                <a:solidFill>
                  <a:srgbClr val="5B6472"/>
                </a:solidFill>
                <a:latin typeface="GT America" pitchFamily="34" charset="0"/>
                <a:ea typeface="GT America" pitchFamily="34" charset="-122"/>
                <a:cs typeface="GT America" pitchFamily="34" charset="-120"/>
              </a:rPr>
              <a:t>›</a:t>
            </a:r>
            <a:endParaRPr lang="en-US" sz="1600" dirty="0"/>
          </a:p>
        </p:txBody>
      </p:sp>
      <p:sp>
        <p:nvSpPr>
          <p:cNvPr id="13" name="Shape 11"/>
          <p:cNvSpPr/>
          <p:nvPr/>
        </p:nvSpPr>
        <p:spPr>
          <a:xfrm>
            <a:off x="6158484" y="1828800"/>
            <a:ext cx="1772412" cy="914400"/>
          </a:xfrm>
          <a:prstGeom prst="roundRect">
            <a:avLst>
              <a:gd name="adj" fmla="val 8000"/>
            </a:avLst>
          </a:prstGeom>
          <a:solidFill>
            <a:srgbClr val="2E4DA6"/>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4" name="Text 12"/>
          <p:cNvSpPr/>
          <p:nvPr/>
        </p:nvSpPr>
        <p:spPr>
          <a:xfrm>
            <a:off x="6213348"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Ad</a:t>
            </a:r>
            <a:endParaRPr lang="en-US" sz="1100" dirty="0"/>
          </a:p>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Copy</a:t>
            </a:r>
            <a:endParaRPr lang="en-US" sz="1100" dirty="0"/>
          </a:p>
        </p:txBody>
      </p:sp>
      <p:sp>
        <p:nvSpPr>
          <p:cNvPr id="15" name="Text 13"/>
          <p:cNvSpPr/>
          <p:nvPr/>
        </p:nvSpPr>
        <p:spPr>
          <a:xfrm>
            <a:off x="7930896" y="1828800"/>
            <a:ext cx="146304" cy="914400"/>
          </a:xfrm>
          <a:prstGeom prst="rect">
            <a:avLst/>
          </a:prstGeom>
          <a:noFill/>
          <a:ln/>
        </p:spPr>
        <p:txBody>
          <a:bodyPr wrap="square" rtlCol="0" anchor="ctr"/>
          <a:lstStyle/>
          <a:p>
            <a:pPr algn="ctr" indent="0" marL="0">
              <a:buNone/>
            </a:pPr>
            <a:r>
              <a:rPr lang="en-US" sz="1600" b="1" dirty="0">
                <a:solidFill>
                  <a:srgbClr val="5B6472"/>
                </a:solidFill>
                <a:latin typeface="GT America" pitchFamily="34" charset="0"/>
                <a:ea typeface="GT America" pitchFamily="34" charset="-122"/>
                <a:cs typeface="GT America" pitchFamily="34" charset="-120"/>
              </a:rPr>
              <a:t>›</a:t>
            </a:r>
            <a:endParaRPr lang="en-US" sz="1600" dirty="0"/>
          </a:p>
        </p:txBody>
      </p:sp>
      <p:sp>
        <p:nvSpPr>
          <p:cNvPr id="16" name="Shape 14"/>
          <p:cNvSpPr/>
          <p:nvPr/>
        </p:nvSpPr>
        <p:spPr>
          <a:xfrm>
            <a:off x="8058912" y="1828800"/>
            <a:ext cx="1772412" cy="914400"/>
          </a:xfrm>
          <a:prstGeom prst="roundRect">
            <a:avLst>
              <a:gd name="adj" fmla="val 8000"/>
            </a:avLst>
          </a:prstGeom>
          <a:solidFill>
            <a:srgbClr val="2E4DA6"/>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8113776"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Performance</a:t>
            </a:r>
            <a:endParaRPr lang="en-US" sz="1100" dirty="0"/>
          </a:p>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Monitoring</a:t>
            </a:r>
            <a:endParaRPr lang="en-US" sz="1100" dirty="0"/>
          </a:p>
        </p:txBody>
      </p:sp>
      <p:sp>
        <p:nvSpPr>
          <p:cNvPr id="18" name="Text 16"/>
          <p:cNvSpPr/>
          <p:nvPr/>
        </p:nvSpPr>
        <p:spPr>
          <a:xfrm>
            <a:off x="9831324" y="1828800"/>
            <a:ext cx="146304" cy="914400"/>
          </a:xfrm>
          <a:prstGeom prst="rect">
            <a:avLst/>
          </a:prstGeom>
          <a:noFill/>
          <a:ln/>
        </p:spPr>
        <p:txBody>
          <a:bodyPr wrap="square" rtlCol="0" anchor="ctr"/>
          <a:lstStyle/>
          <a:p>
            <a:pPr algn="ctr" indent="0" marL="0">
              <a:buNone/>
            </a:pPr>
            <a:r>
              <a:rPr lang="en-US" sz="1600" b="1" dirty="0">
                <a:solidFill>
                  <a:srgbClr val="5B6472"/>
                </a:solidFill>
                <a:latin typeface="GT America" pitchFamily="34" charset="0"/>
                <a:ea typeface="GT America" pitchFamily="34" charset="-122"/>
                <a:cs typeface="GT America" pitchFamily="34" charset="-120"/>
              </a:rPr>
              <a:t>›</a:t>
            </a:r>
            <a:endParaRPr lang="en-US" sz="1600" dirty="0"/>
          </a:p>
        </p:txBody>
      </p:sp>
      <p:sp>
        <p:nvSpPr>
          <p:cNvPr id="19" name="Shape 17"/>
          <p:cNvSpPr/>
          <p:nvPr/>
        </p:nvSpPr>
        <p:spPr>
          <a:xfrm>
            <a:off x="9959340" y="1828800"/>
            <a:ext cx="1772412" cy="914400"/>
          </a:xfrm>
          <a:prstGeom prst="roundRect">
            <a:avLst>
              <a:gd name="adj" fmla="val 8000"/>
            </a:avLst>
          </a:prstGeom>
          <a:solidFill>
            <a:srgbClr val="2E4DA6"/>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0" name="Text 18"/>
          <p:cNvSpPr/>
          <p:nvPr/>
        </p:nvSpPr>
        <p:spPr>
          <a:xfrm>
            <a:off x="10014204" y="1828800"/>
            <a:ext cx="1662684" cy="914400"/>
          </a:xfrm>
          <a:prstGeom prst="rect">
            <a:avLst/>
          </a:prstGeom>
          <a:noFill/>
          <a:ln/>
        </p:spPr>
        <p:txBody>
          <a:bodyPr wrap="square" rtlCol="0" anchor="ctr"/>
          <a:lstStyle/>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Optimization</a:t>
            </a:r>
            <a:endParaRPr lang="en-US" sz="1100" dirty="0"/>
          </a:p>
          <a:p>
            <a:pPr algn="ctr" indent="0" marL="0">
              <a:lnSpc>
                <a:spcPct val="105000"/>
              </a:lnSpc>
              <a:buNone/>
            </a:pPr>
            <a:r>
              <a:rPr lang="en-US" sz="1100" b="1" dirty="0">
                <a:solidFill>
                  <a:srgbClr val="FFFFFF"/>
                </a:solidFill>
                <a:latin typeface="GT America" pitchFamily="34" charset="0"/>
                <a:ea typeface="GT America" pitchFamily="34" charset="-122"/>
                <a:cs typeface="GT America" pitchFamily="34" charset="-120"/>
              </a:rPr>
              <a:t>Decisions</a:t>
            </a:r>
            <a:endParaRPr lang="en-US" sz="1100" dirty="0"/>
          </a:p>
        </p:txBody>
      </p:sp>
      <p:sp>
        <p:nvSpPr>
          <p:cNvPr id="21" name="Shape 19"/>
          <p:cNvSpPr/>
          <p:nvPr/>
        </p:nvSpPr>
        <p:spPr>
          <a:xfrm>
            <a:off x="457200" y="3246120"/>
            <a:ext cx="5440680" cy="2834640"/>
          </a:xfrm>
          <a:prstGeom prst="roundRect">
            <a:avLst>
              <a:gd name="adj" fmla="val 258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2" name="Text 20"/>
          <p:cNvSpPr/>
          <p:nvPr/>
        </p:nvSpPr>
        <p:spPr>
          <a:xfrm>
            <a:off x="777240" y="3520440"/>
            <a:ext cx="4800600" cy="274320"/>
          </a:xfrm>
          <a:prstGeom prst="rect">
            <a:avLst/>
          </a:prstGeom>
          <a:noFill/>
          <a:ln/>
        </p:spPr>
        <p:txBody>
          <a:bodyPr wrap="square" rtlCol="0" anchor="ctr"/>
          <a:lstStyle/>
          <a:p>
            <a:pPr indent="0" marL="0">
              <a:buNone/>
            </a:pPr>
            <a:r>
              <a:rPr lang="en-US" sz="1200" b="1" spc="100" kern="0" dirty="0">
                <a:solidFill>
                  <a:srgbClr val="0A1264"/>
                </a:solidFill>
                <a:latin typeface="GT America" pitchFamily="34" charset="0"/>
                <a:ea typeface="GT America" pitchFamily="34" charset="-122"/>
                <a:cs typeface="GT America" pitchFamily="34" charset="-120"/>
              </a:rPr>
              <a:t>LED &amp; DEVELOPED</a:t>
            </a:r>
            <a:endParaRPr lang="en-US" sz="1200" dirty="0"/>
          </a:p>
        </p:txBody>
      </p:sp>
      <p:sp>
        <p:nvSpPr>
          <p:cNvPr id="23" name="Shape 21"/>
          <p:cNvSpPr/>
          <p:nvPr/>
        </p:nvSpPr>
        <p:spPr>
          <a:xfrm>
            <a:off x="777240" y="4105656"/>
            <a:ext cx="64008" cy="64008"/>
          </a:xfrm>
          <a:prstGeom prst="ellipse">
            <a:avLst/>
          </a:prstGeom>
          <a:solidFill>
            <a:srgbClr val="0057E7"/>
          </a:solidFill>
          <a:ln/>
        </p:spPr>
      </p:sp>
      <p:sp>
        <p:nvSpPr>
          <p:cNvPr id="24" name="Text 22"/>
          <p:cNvSpPr/>
          <p:nvPr/>
        </p:nvSpPr>
        <p:spPr>
          <a:xfrm>
            <a:off x="978408" y="3977640"/>
            <a:ext cx="4187952" cy="658368"/>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Campaign briefs documenting products, goals, and value propositions</a:t>
            </a:r>
            <a:endParaRPr lang="en-US" sz="1200" dirty="0"/>
          </a:p>
        </p:txBody>
      </p:sp>
      <p:sp>
        <p:nvSpPr>
          <p:cNvPr id="25" name="Shape 23"/>
          <p:cNvSpPr/>
          <p:nvPr/>
        </p:nvSpPr>
        <p:spPr>
          <a:xfrm>
            <a:off x="777240" y="4745736"/>
            <a:ext cx="64008" cy="64008"/>
          </a:xfrm>
          <a:prstGeom prst="ellipse">
            <a:avLst/>
          </a:prstGeom>
          <a:solidFill>
            <a:srgbClr val="0057E7"/>
          </a:solidFill>
          <a:ln/>
        </p:spPr>
      </p:sp>
      <p:sp>
        <p:nvSpPr>
          <p:cNvPr id="26" name="Text 24"/>
          <p:cNvSpPr/>
          <p:nvPr/>
        </p:nvSpPr>
        <p:spPr>
          <a:xfrm>
            <a:off x="978408" y="4617720"/>
            <a:ext cx="4187952" cy="658368"/>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Ad copy for Google and LinkedIn campaigns</a:t>
            </a:r>
            <a:endParaRPr lang="en-US" sz="1200" dirty="0"/>
          </a:p>
        </p:txBody>
      </p:sp>
      <p:sp>
        <p:nvSpPr>
          <p:cNvPr id="27" name="Shape 25"/>
          <p:cNvSpPr/>
          <p:nvPr/>
        </p:nvSpPr>
        <p:spPr>
          <a:xfrm>
            <a:off x="777240" y="5385816"/>
            <a:ext cx="64008" cy="64008"/>
          </a:xfrm>
          <a:prstGeom prst="ellipse">
            <a:avLst/>
          </a:prstGeom>
          <a:solidFill>
            <a:srgbClr val="0057E7"/>
          </a:solidFill>
          <a:ln/>
        </p:spPr>
      </p:sp>
      <p:sp>
        <p:nvSpPr>
          <p:cNvPr id="28" name="Text 26"/>
          <p:cNvSpPr/>
          <p:nvPr/>
        </p:nvSpPr>
        <p:spPr>
          <a:xfrm>
            <a:off x="978408" y="5257800"/>
            <a:ext cx="4187952" cy="658368"/>
          </a:xfrm>
          <a:prstGeom prst="rect">
            <a:avLst/>
          </a:prstGeom>
          <a:noFill/>
          <a:ln/>
        </p:spPr>
        <p:txBody>
          <a:bodyPr wrap="square" rtlCol="0" anchor="t"/>
          <a:lstStyle/>
          <a:p>
            <a:pPr indent="0" marL="0">
              <a:lnSpc>
                <a:spcPct val="105000"/>
              </a:lnSpc>
              <a:buNone/>
            </a:pPr>
            <a:r>
              <a:rPr lang="en-US" sz="1200" dirty="0">
                <a:solidFill>
                  <a:srgbClr val="10142B"/>
                </a:solidFill>
                <a:latin typeface="GT America" pitchFamily="34" charset="0"/>
                <a:ea typeface="GT America" pitchFamily="34" charset="-122"/>
                <a:cs typeface="GT America" pitchFamily="34" charset="-120"/>
              </a:rPr>
              <a:t>Performance monitoring and optimization recommendations</a:t>
            </a:r>
            <a:endParaRPr lang="en-US" sz="1200" dirty="0"/>
          </a:p>
        </p:txBody>
      </p:sp>
      <p:sp>
        <p:nvSpPr>
          <p:cNvPr id="29" name="Shape 27"/>
          <p:cNvSpPr/>
          <p:nvPr/>
        </p:nvSpPr>
        <p:spPr>
          <a:xfrm>
            <a:off x="6291072" y="3246120"/>
            <a:ext cx="5440680" cy="2834640"/>
          </a:xfrm>
          <a:prstGeom prst="roundRect">
            <a:avLst>
              <a:gd name="adj" fmla="val 2581"/>
            </a:avLst>
          </a:prstGeom>
          <a:solidFill>
            <a:srgbClr val="EAEEF7"/>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0" name="Text 28"/>
          <p:cNvSpPr/>
          <p:nvPr/>
        </p:nvSpPr>
        <p:spPr>
          <a:xfrm>
            <a:off x="6611112" y="3520440"/>
            <a:ext cx="4800600" cy="274320"/>
          </a:xfrm>
          <a:prstGeom prst="rect">
            <a:avLst/>
          </a:prstGeom>
          <a:noFill/>
          <a:ln/>
        </p:spPr>
        <p:txBody>
          <a:bodyPr wrap="square" rtlCol="0" anchor="ctr"/>
          <a:lstStyle/>
          <a:p>
            <a:pPr indent="0" marL="0">
              <a:buNone/>
            </a:pPr>
            <a:r>
              <a:rPr lang="en-US" sz="1200" b="1" spc="100" kern="0" dirty="0">
                <a:solidFill>
                  <a:srgbClr val="5B6472"/>
                </a:solidFill>
                <a:latin typeface="GT America" pitchFamily="34" charset="0"/>
                <a:ea typeface="GT America" pitchFamily="34" charset="-122"/>
                <a:cs typeface="GT America" pitchFamily="34" charset="-120"/>
              </a:rPr>
              <a:t>NOT DIRECTLY EXECUTED</a:t>
            </a:r>
            <a:endParaRPr lang="en-US" sz="1200" dirty="0"/>
          </a:p>
        </p:txBody>
      </p:sp>
      <p:sp>
        <p:nvSpPr>
          <p:cNvPr id="31" name="Shape 29"/>
          <p:cNvSpPr/>
          <p:nvPr/>
        </p:nvSpPr>
        <p:spPr>
          <a:xfrm>
            <a:off x="6611112" y="4105656"/>
            <a:ext cx="64008" cy="64008"/>
          </a:xfrm>
          <a:prstGeom prst="ellipse">
            <a:avLst/>
          </a:prstGeom>
          <a:solidFill>
            <a:srgbClr val="5B6472"/>
          </a:solidFill>
          <a:ln/>
        </p:spPr>
      </p:sp>
      <p:sp>
        <p:nvSpPr>
          <p:cNvPr id="32" name="Text 30"/>
          <p:cNvSpPr/>
          <p:nvPr/>
        </p:nvSpPr>
        <p:spPr>
          <a:xfrm>
            <a:off x="6812280" y="3977640"/>
            <a:ext cx="4599432" cy="658368"/>
          </a:xfrm>
          <a:prstGeom prst="rect">
            <a:avLst/>
          </a:prstGeom>
          <a:noFill/>
          <a:ln/>
        </p:spPr>
        <p:txBody>
          <a:bodyPr wrap="square" rtlCol="0" anchor="t"/>
          <a:lstStyle/>
          <a:p>
            <a:pPr indent="0" marL="0">
              <a:lnSpc>
                <a:spcPct val="105000"/>
              </a:lnSpc>
              <a:buNone/>
            </a:pPr>
            <a:r>
              <a:rPr lang="en-US" sz="1200" dirty="0">
                <a:solidFill>
                  <a:srgbClr val="5B6472"/>
                </a:solidFill>
                <a:latin typeface="GT America" pitchFamily="34" charset="0"/>
                <a:ea typeface="GT America" pitchFamily="34" charset="-122"/>
                <a:cs typeface="GT America" pitchFamily="34" charset="-120"/>
              </a:rPr>
              <a:t>Day-to-day media buying and ad platform operation</a:t>
            </a:r>
            <a:endParaRPr lang="en-US" sz="1200" dirty="0"/>
          </a:p>
        </p:txBody>
      </p:sp>
      <p:sp>
        <p:nvSpPr>
          <p:cNvPr id="33" name="Text 31"/>
          <p:cNvSpPr/>
          <p:nvPr/>
        </p:nvSpPr>
        <p:spPr>
          <a:xfrm>
            <a:off x="6611112" y="4800600"/>
            <a:ext cx="4800600" cy="1005840"/>
          </a:xfrm>
          <a:prstGeom prst="rect">
            <a:avLst/>
          </a:prstGeom>
          <a:noFill/>
          <a:ln/>
        </p:spPr>
        <p:txBody>
          <a:bodyPr wrap="square" rtlCol="0" anchor="ctr"/>
          <a:lstStyle/>
          <a:p>
            <a:pPr indent="0" marL="0">
              <a:lnSpc>
                <a:spcPct val="120000"/>
              </a:lnSpc>
              <a:buNone/>
            </a:pPr>
            <a:r>
              <a:rPr lang="en-US" sz="1050" i="1" dirty="0">
                <a:solidFill>
                  <a:srgbClr val="5B6472"/>
                </a:solidFill>
                <a:latin typeface="GT America" pitchFamily="34" charset="0"/>
                <a:ea typeface="GT America" pitchFamily="34" charset="-122"/>
                <a:cs typeface="GT America" pitchFamily="34" charset="-120"/>
              </a:rPr>
              <a:t>Role focused on strategy, briefs, copy, and analysis — supporting, not operating, platform execution.</a:t>
            </a:r>
            <a:endParaRPr lang="en-US" sz="1050" dirty="0"/>
          </a:p>
        </p:txBody>
      </p:sp>
      <p:sp>
        <p:nvSpPr>
          <p:cNvPr id="34" name="Text 32"/>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CAMPAIGN STRATEGY</a:t>
            </a:r>
            <a:endParaRPr lang="en-US" sz="900" dirty="0"/>
          </a:p>
        </p:txBody>
      </p:sp>
      <p:sp>
        <p:nvSpPr>
          <p:cNvPr id="35" name="Text 33"/>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15 / 23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CAMPAIGN STRATEGY — WORKED EXAMPLE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LinkedIn: AI-Powered Credit Memo</a:t>
            </a:r>
            <a:endParaRPr lang="en-US" sz="2800" dirty="0"/>
          </a:p>
        </p:txBody>
      </p:sp>
      <p:sp>
        <p:nvSpPr>
          <p:cNvPr id="4" name="Shape 2"/>
          <p:cNvSpPr/>
          <p:nvPr/>
        </p:nvSpPr>
        <p:spPr>
          <a:xfrm>
            <a:off x="457200" y="1783080"/>
            <a:ext cx="5394960" cy="1554480"/>
          </a:xfrm>
          <a:prstGeom prst="roundRect">
            <a:avLst>
              <a:gd name="adj" fmla="val 4706"/>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731520" y="1929384"/>
            <a:ext cx="4846320" cy="274320"/>
          </a:xfrm>
          <a:prstGeom prst="rect">
            <a:avLst/>
          </a:prstGeom>
          <a:noFill/>
          <a:ln/>
        </p:spPr>
        <p:txBody>
          <a:bodyPr wrap="square" rtlCol="0" anchor="ctr"/>
          <a:lstStyle/>
          <a:p>
            <a:pPr indent="0" marL="0">
              <a:buNone/>
            </a:pPr>
            <a:r>
              <a:rPr lang="en-US" sz="1100" b="1" spc="100" kern="0" dirty="0">
                <a:solidFill>
                  <a:srgbClr val="4D8DFF"/>
                </a:solidFill>
                <a:latin typeface="GT America" pitchFamily="34" charset="0"/>
                <a:ea typeface="GT America" pitchFamily="34" charset="-122"/>
                <a:cs typeface="GT America" pitchFamily="34" charset="-120"/>
              </a:rPr>
              <a:t>TARGET AUDIENCE</a:t>
            </a:r>
            <a:endParaRPr lang="en-US" sz="1100" dirty="0"/>
          </a:p>
        </p:txBody>
      </p:sp>
      <p:sp>
        <p:nvSpPr>
          <p:cNvPr id="6" name="Text 4"/>
          <p:cNvSpPr/>
          <p:nvPr/>
        </p:nvSpPr>
        <p:spPr>
          <a:xfrm>
            <a:off x="731520" y="2221992"/>
            <a:ext cx="1097280" cy="182880"/>
          </a:xfrm>
          <a:prstGeom prst="rect">
            <a:avLst/>
          </a:prstGeom>
          <a:noFill/>
          <a:ln/>
        </p:spPr>
        <p:txBody>
          <a:bodyPr wrap="square" rtlCol="0" anchor="ctr"/>
          <a:lstStyle/>
          <a:p>
            <a:pPr indent="0" marL="0">
              <a:buNone/>
            </a:pPr>
            <a:r>
              <a:rPr lang="en-US" sz="900" b="1" spc="100" kern="0" dirty="0">
                <a:solidFill>
                  <a:srgbClr val="6E93E0"/>
                </a:solidFill>
                <a:latin typeface="GT America" pitchFamily="34" charset="0"/>
                <a:ea typeface="GT America" pitchFamily="34" charset="-122"/>
                <a:cs typeface="GT America" pitchFamily="34" charset="-120"/>
              </a:rPr>
              <a:t>JOB</a:t>
            </a:r>
            <a:endParaRPr lang="en-US" sz="900" dirty="0"/>
          </a:p>
        </p:txBody>
      </p:sp>
      <p:sp>
        <p:nvSpPr>
          <p:cNvPr id="7" name="Text 5"/>
          <p:cNvSpPr/>
          <p:nvPr/>
        </p:nvSpPr>
        <p:spPr>
          <a:xfrm>
            <a:off x="731520" y="2404872"/>
            <a:ext cx="4846320" cy="411480"/>
          </a:xfrm>
          <a:prstGeom prst="rect">
            <a:avLst/>
          </a:prstGeom>
          <a:noFill/>
          <a:ln/>
        </p:spPr>
        <p:txBody>
          <a:bodyPr wrap="square" rtlCol="0" anchor="ctr"/>
          <a:lstStyle/>
          <a:p>
            <a:pPr indent="0" marL="0">
              <a:lnSpc>
                <a:spcPct val="115000"/>
              </a:lnSpc>
              <a:buNone/>
            </a:pPr>
            <a:r>
              <a:rPr lang="en-US" sz="1000" dirty="0">
                <a:solidFill>
                  <a:srgbClr val="E7ECF6"/>
                </a:solidFill>
                <a:latin typeface="GT America" pitchFamily="34" charset="0"/>
                <a:ea typeface="GT America" pitchFamily="34" charset="-122"/>
                <a:cs typeface="GT America" pitchFamily="34" charset="-120"/>
              </a:rPr>
              <a:t>Banking decision-makers — credit risk, underwriting &amp; lending operations leadership at financial organizations</a:t>
            </a:r>
            <a:endParaRPr lang="en-US" sz="1000" dirty="0"/>
          </a:p>
        </p:txBody>
      </p:sp>
      <p:sp>
        <p:nvSpPr>
          <p:cNvPr id="8" name="Text 6"/>
          <p:cNvSpPr/>
          <p:nvPr/>
        </p:nvSpPr>
        <p:spPr>
          <a:xfrm>
            <a:off x="731520" y="2880360"/>
            <a:ext cx="1371600" cy="182880"/>
          </a:xfrm>
          <a:prstGeom prst="rect">
            <a:avLst/>
          </a:prstGeom>
          <a:noFill/>
          <a:ln/>
        </p:spPr>
        <p:txBody>
          <a:bodyPr wrap="square" rtlCol="0" anchor="ctr"/>
          <a:lstStyle/>
          <a:p>
            <a:pPr indent="0" marL="0">
              <a:buNone/>
            </a:pPr>
            <a:r>
              <a:rPr lang="en-US" sz="900" b="1" spc="100" kern="0" dirty="0">
                <a:solidFill>
                  <a:srgbClr val="6E93E0"/>
                </a:solidFill>
                <a:latin typeface="GT America" pitchFamily="34" charset="0"/>
                <a:ea typeface="GT America" pitchFamily="34" charset="-122"/>
                <a:cs typeface="GT America" pitchFamily="34" charset="-120"/>
              </a:rPr>
              <a:t>COMPANY</a:t>
            </a:r>
            <a:endParaRPr lang="en-US" sz="900" dirty="0"/>
          </a:p>
        </p:txBody>
      </p:sp>
      <p:sp>
        <p:nvSpPr>
          <p:cNvPr id="9" name="Text 7"/>
          <p:cNvSpPr/>
          <p:nvPr/>
        </p:nvSpPr>
        <p:spPr>
          <a:xfrm>
            <a:off x="731520" y="3063240"/>
            <a:ext cx="4846320" cy="256032"/>
          </a:xfrm>
          <a:prstGeom prst="rect">
            <a:avLst/>
          </a:prstGeom>
          <a:noFill/>
          <a:ln/>
        </p:spPr>
        <p:txBody>
          <a:bodyPr wrap="square" rtlCol="0" anchor="ctr"/>
          <a:lstStyle/>
          <a:p>
            <a:pPr indent="0" marL="0">
              <a:lnSpc>
                <a:spcPct val="110000"/>
              </a:lnSpc>
              <a:buNone/>
            </a:pPr>
            <a:r>
              <a:rPr lang="en-US" sz="1000" dirty="0">
                <a:solidFill>
                  <a:srgbClr val="E7ECF6"/>
                </a:solidFill>
                <a:latin typeface="GT America" pitchFamily="34" charset="0"/>
                <a:ea typeface="GT America" pitchFamily="34" charset="-122"/>
                <a:cs typeface="GT America" pitchFamily="34" charset="-120"/>
              </a:rPr>
              <a:t>Banks — large, medium, and small financial institutions</a:t>
            </a:r>
            <a:endParaRPr lang="en-US" sz="1000" dirty="0"/>
          </a:p>
        </p:txBody>
      </p:sp>
      <p:sp>
        <p:nvSpPr>
          <p:cNvPr id="10" name="Shape 8"/>
          <p:cNvSpPr/>
          <p:nvPr/>
        </p:nvSpPr>
        <p:spPr>
          <a:xfrm>
            <a:off x="457200" y="3474720"/>
            <a:ext cx="5394960" cy="2450592"/>
          </a:xfrm>
          <a:prstGeom prst="roundRect">
            <a:avLst>
              <a:gd name="adj" fmla="val 2985"/>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1" name="Text 9"/>
          <p:cNvSpPr/>
          <p:nvPr/>
        </p:nvSpPr>
        <p:spPr>
          <a:xfrm>
            <a:off x="731520" y="3657600"/>
            <a:ext cx="4846320" cy="274320"/>
          </a:xfrm>
          <a:prstGeom prst="rect">
            <a:avLst/>
          </a:prstGeom>
          <a:noFill/>
          <a:ln/>
        </p:spPr>
        <p:txBody>
          <a:bodyPr wrap="square" rtlCol="0" anchor="ctr"/>
          <a:lstStyle/>
          <a:p>
            <a:pPr indent="0" marL="0">
              <a:buNone/>
            </a:pPr>
            <a:r>
              <a:rPr lang="en-US" sz="1100" b="1" spc="100" kern="0" dirty="0">
                <a:solidFill>
                  <a:srgbClr val="2E4DA6"/>
                </a:solidFill>
                <a:latin typeface="GT America" pitchFamily="34" charset="0"/>
                <a:ea typeface="GT America" pitchFamily="34" charset="-122"/>
                <a:cs typeface="GT America" pitchFamily="34" charset="-120"/>
              </a:rPr>
              <a:t>LOCATIONS — 18 MARKETS</a:t>
            </a:r>
            <a:endParaRPr lang="en-US" sz="1100" dirty="0"/>
          </a:p>
        </p:txBody>
      </p:sp>
      <p:sp>
        <p:nvSpPr>
          <p:cNvPr id="12" name="Shape 10"/>
          <p:cNvSpPr/>
          <p:nvPr/>
        </p:nvSpPr>
        <p:spPr>
          <a:xfrm>
            <a:off x="731520" y="4005072"/>
            <a:ext cx="1594714" cy="310896"/>
          </a:xfrm>
          <a:prstGeom prst="roundRect">
            <a:avLst>
              <a:gd name="adj" fmla="val 17647"/>
            </a:avLst>
          </a:prstGeom>
          <a:solidFill>
            <a:srgbClr val="EAEEF7"/>
          </a:solidFill>
          <a:ln/>
        </p:spPr>
      </p:sp>
      <p:sp>
        <p:nvSpPr>
          <p:cNvPr id="13" name="Text 11"/>
          <p:cNvSpPr/>
          <p:nvPr/>
        </p:nvSpPr>
        <p:spPr>
          <a:xfrm>
            <a:off x="731520" y="4005072"/>
            <a:ext cx="1594714"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United States</a:t>
            </a:r>
            <a:endParaRPr lang="en-US" sz="1100" dirty="0"/>
          </a:p>
        </p:txBody>
      </p:sp>
      <p:sp>
        <p:nvSpPr>
          <p:cNvPr id="14" name="Shape 12"/>
          <p:cNvSpPr/>
          <p:nvPr/>
        </p:nvSpPr>
        <p:spPr>
          <a:xfrm>
            <a:off x="2417674" y="4005072"/>
            <a:ext cx="1693469" cy="310896"/>
          </a:xfrm>
          <a:prstGeom prst="roundRect">
            <a:avLst>
              <a:gd name="adj" fmla="val 17647"/>
            </a:avLst>
          </a:prstGeom>
          <a:solidFill>
            <a:srgbClr val="EAEEF7"/>
          </a:solidFill>
          <a:ln/>
        </p:spPr>
      </p:sp>
      <p:sp>
        <p:nvSpPr>
          <p:cNvPr id="15" name="Text 13"/>
          <p:cNvSpPr/>
          <p:nvPr/>
        </p:nvSpPr>
        <p:spPr>
          <a:xfrm>
            <a:off x="2417674" y="4005072"/>
            <a:ext cx="1693469"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United Kingdom</a:t>
            </a:r>
            <a:endParaRPr lang="en-US" sz="1100" dirty="0"/>
          </a:p>
        </p:txBody>
      </p:sp>
      <p:sp>
        <p:nvSpPr>
          <p:cNvPr id="16" name="Shape 14"/>
          <p:cNvSpPr/>
          <p:nvPr/>
        </p:nvSpPr>
        <p:spPr>
          <a:xfrm>
            <a:off x="4202582" y="4005072"/>
            <a:ext cx="903427" cy="310896"/>
          </a:xfrm>
          <a:prstGeom prst="roundRect">
            <a:avLst>
              <a:gd name="adj" fmla="val 17647"/>
            </a:avLst>
          </a:prstGeom>
          <a:solidFill>
            <a:srgbClr val="EAEEF7"/>
          </a:solidFill>
          <a:ln/>
        </p:spPr>
      </p:sp>
      <p:sp>
        <p:nvSpPr>
          <p:cNvPr id="17" name="Text 15"/>
          <p:cNvSpPr/>
          <p:nvPr/>
        </p:nvSpPr>
        <p:spPr>
          <a:xfrm>
            <a:off x="4202582" y="4005072"/>
            <a:ext cx="903427"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Canada</a:t>
            </a:r>
            <a:endParaRPr lang="en-US" sz="1100" dirty="0"/>
          </a:p>
        </p:txBody>
      </p:sp>
      <p:sp>
        <p:nvSpPr>
          <p:cNvPr id="18" name="Shape 16"/>
          <p:cNvSpPr/>
          <p:nvPr/>
        </p:nvSpPr>
        <p:spPr>
          <a:xfrm>
            <a:off x="731520" y="4407408"/>
            <a:ext cx="1199693" cy="310896"/>
          </a:xfrm>
          <a:prstGeom prst="roundRect">
            <a:avLst>
              <a:gd name="adj" fmla="val 17647"/>
            </a:avLst>
          </a:prstGeom>
          <a:solidFill>
            <a:srgbClr val="EAEEF7"/>
          </a:solidFill>
          <a:ln/>
        </p:spPr>
      </p:sp>
      <p:sp>
        <p:nvSpPr>
          <p:cNvPr id="19" name="Text 17"/>
          <p:cNvSpPr/>
          <p:nvPr/>
        </p:nvSpPr>
        <p:spPr>
          <a:xfrm>
            <a:off x="731520" y="4407408"/>
            <a:ext cx="1199693"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Singapore</a:t>
            </a:r>
            <a:endParaRPr lang="en-US" sz="1100" dirty="0"/>
          </a:p>
        </p:txBody>
      </p:sp>
      <p:sp>
        <p:nvSpPr>
          <p:cNvPr id="20" name="Shape 18"/>
          <p:cNvSpPr/>
          <p:nvPr/>
        </p:nvSpPr>
        <p:spPr>
          <a:xfrm>
            <a:off x="2022653" y="4407408"/>
            <a:ext cx="1594714" cy="310896"/>
          </a:xfrm>
          <a:prstGeom prst="roundRect">
            <a:avLst>
              <a:gd name="adj" fmla="val 17647"/>
            </a:avLst>
          </a:prstGeom>
          <a:solidFill>
            <a:srgbClr val="EAEEF7"/>
          </a:solidFill>
          <a:ln/>
        </p:spPr>
      </p:sp>
      <p:sp>
        <p:nvSpPr>
          <p:cNvPr id="21" name="Text 19"/>
          <p:cNvSpPr/>
          <p:nvPr/>
        </p:nvSpPr>
        <p:spPr>
          <a:xfrm>
            <a:off x="2022653" y="4407408"/>
            <a:ext cx="1594714"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Hong Kong SAR</a:t>
            </a:r>
            <a:endParaRPr lang="en-US" sz="1100" dirty="0"/>
          </a:p>
        </p:txBody>
      </p:sp>
      <p:sp>
        <p:nvSpPr>
          <p:cNvPr id="22" name="Shape 20"/>
          <p:cNvSpPr/>
          <p:nvPr/>
        </p:nvSpPr>
        <p:spPr>
          <a:xfrm>
            <a:off x="3708806" y="4407408"/>
            <a:ext cx="1002182" cy="310896"/>
          </a:xfrm>
          <a:prstGeom prst="roundRect">
            <a:avLst>
              <a:gd name="adj" fmla="val 17647"/>
            </a:avLst>
          </a:prstGeom>
          <a:solidFill>
            <a:srgbClr val="EAEEF7"/>
          </a:solidFill>
          <a:ln/>
        </p:spPr>
      </p:sp>
      <p:sp>
        <p:nvSpPr>
          <p:cNvPr id="23" name="Text 21"/>
          <p:cNvSpPr/>
          <p:nvPr/>
        </p:nvSpPr>
        <p:spPr>
          <a:xfrm>
            <a:off x="3708806" y="4407408"/>
            <a:ext cx="100218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Germany</a:t>
            </a:r>
            <a:endParaRPr lang="en-US" sz="1100" dirty="0"/>
          </a:p>
        </p:txBody>
      </p:sp>
      <p:sp>
        <p:nvSpPr>
          <p:cNvPr id="24" name="Shape 22"/>
          <p:cNvSpPr/>
          <p:nvPr/>
        </p:nvSpPr>
        <p:spPr>
          <a:xfrm>
            <a:off x="731520" y="4809744"/>
            <a:ext cx="1397203" cy="310896"/>
          </a:xfrm>
          <a:prstGeom prst="roundRect">
            <a:avLst>
              <a:gd name="adj" fmla="val 17647"/>
            </a:avLst>
          </a:prstGeom>
          <a:solidFill>
            <a:srgbClr val="EAEEF7"/>
          </a:solidFill>
          <a:ln/>
        </p:spPr>
      </p:sp>
      <p:sp>
        <p:nvSpPr>
          <p:cNvPr id="25" name="Text 23"/>
          <p:cNvSpPr/>
          <p:nvPr/>
        </p:nvSpPr>
        <p:spPr>
          <a:xfrm>
            <a:off x="731520" y="4809744"/>
            <a:ext cx="1397203"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Netherlands</a:t>
            </a:r>
            <a:endParaRPr lang="en-US" sz="1100" dirty="0"/>
          </a:p>
        </p:txBody>
      </p:sp>
      <p:sp>
        <p:nvSpPr>
          <p:cNvPr id="26" name="Shape 24"/>
          <p:cNvSpPr/>
          <p:nvPr/>
        </p:nvSpPr>
        <p:spPr>
          <a:xfrm>
            <a:off x="2220163" y="4809744"/>
            <a:ext cx="903427" cy="310896"/>
          </a:xfrm>
          <a:prstGeom prst="roundRect">
            <a:avLst>
              <a:gd name="adj" fmla="val 17647"/>
            </a:avLst>
          </a:prstGeom>
          <a:solidFill>
            <a:srgbClr val="EAEEF7"/>
          </a:solidFill>
          <a:ln/>
        </p:spPr>
      </p:sp>
      <p:sp>
        <p:nvSpPr>
          <p:cNvPr id="27" name="Text 25"/>
          <p:cNvSpPr/>
          <p:nvPr/>
        </p:nvSpPr>
        <p:spPr>
          <a:xfrm>
            <a:off x="2220163" y="4809744"/>
            <a:ext cx="903427"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Sweden</a:t>
            </a:r>
            <a:endParaRPr lang="en-US" sz="1100" dirty="0"/>
          </a:p>
        </p:txBody>
      </p:sp>
      <p:sp>
        <p:nvSpPr>
          <p:cNvPr id="28" name="Shape 26"/>
          <p:cNvSpPr/>
          <p:nvPr/>
        </p:nvSpPr>
        <p:spPr>
          <a:xfrm>
            <a:off x="3215030" y="4809744"/>
            <a:ext cx="903427" cy="310896"/>
          </a:xfrm>
          <a:prstGeom prst="roundRect">
            <a:avLst>
              <a:gd name="adj" fmla="val 17647"/>
            </a:avLst>
          </a:prstGeom>
          <a:solidFill>
            <a:srgbClr val="EAEEF7"/>
          </a:solidFill>
          <a:ln/>
        </p:spPr>
      </p:sp>
      <p:sp>
        <p:nvSpPr>
          <p:cNvPr id="29" name="Text 27"/>
          <p:cNvSpPr/>
          <p:nvPr/>
        </p:nvSpPr>
        <p:spPr>
          <a:xfrm>
            <a:off x="3215030" y="4809744"/>
            <a:ext cx="903427"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Norway</a:t>
            </a:r>
            <a:endParaRPr lang="en-US" sz="1100" dirty="0"/>
          </a:p>
        </p:txBody>
      </p:sp>
      <p:sp>
        <p:nvSpPr>
          <p:cNvPr id="30" name="Shape 28"/>
          <p:cNvSpPr/>
          <p:nvPr/>
        </p:nvSpPr>
        <p:spPr>
          <a:xfrm>
            <a:off x="4209898" y="4809744"/>
            <a:ext cx="1002182" cy="310896"/>
          </a:xfrm>
          <a:prstGeom prst="roundRect">
            <a:avLst>
              <a:gd name="adj" fmla="val 17647"/>
            </a:avLst>
          </a:prstGeom>
          <a:solidFill>
            <a:srgbClr val="EAEEF7"/>
          </a:solidFill>
          <a:ln/>
        </p:spPr>
      </p:sp>
      <p:sp>
        <p:nvSpPr>
          <p:cNvPr id="31" name="Text 29"/>
          <p:cNvSpPr/>
          <p:nvPr/>
        </p:nvSpPr>
        <p:spPr>
          <a:xfrm>
            <a:off x="4209898" y="4809744"/>
            <a:ext cx="100218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Denmark</a:t>
            </a:r>
            <a:endParaRPr lang="en-US" sz="1100" dirty="0"/>
          </a:p>
        </p:txBody>
      </p:sp>
      <p:sp>
        <p:nvSpPr>
          <p:cNvPr id="32" name="Shape 30"/>
          <p:cNvSpPr/>
          <p:nvPr/>
        </p:nvSpPr>
        <p:spPr>
          <a:xfrm>
            <a:off x="731520" y="5212080"/>
            <a:ext cx="1002182" cy="310896"/>
          </a:xfrm>
          <a:prstGeom prst="roundRect">
            <a:avLst>
              <a:gd name="adj" fmla="val 17647"/>
            </a:avLst>
          </a:prstGeom>
          <a:solidFill>
            <a:srgbClr val="EAEEF7"/>
          </a:solidFill>
          <a:ln/>
        </p:spPr>
      </p:sp>
      <p:sp>
        <p:nvSpPr>
          <p:cNvPr id="33" name="Text 31"/>
          <p:cNvSpPr/>
          <p:nvPr/>
        </p:nvSpPr>
        <p:spPr>
          <a:xfrm>
            <a:off x="731520" y="5212080"/>
            <a:ext cx="100218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Finland</a:t>
            </a:r>
            <a:endParaRPr lang="en-US" sz="1100" dirty="0"/>
          </a:p>
        </p:txBody>
      </p:sp>
      <p:sp>
        <p:nvSpPr>
          <p:cNvPr id="34" name="Shape 32"/>
          <p:cNvSpPr/>
          <p:nvPr/>
        </p:nvSpPr>
        <p:spPr>
          <a:xfrm>
            <a:off x="1825142" y="5212080"/>
            <a:ext cx="903427" cy="310896"/>
          </a:xfrm>
          <a:prstGeom prst="roundRect">
            <a:avLst>
              <a:gd name="adj" fmla="val 17647"/>
            </a:avLst>
          </a:prstGeom>
          <a:solidFill>
            <a:srgbClr val="EAEEF7"/>
          </a:solidFill>
          <a:ln/>
        </p:spPr>
      </p:sp>
      <p:sp>
        <p:nvSpPr>
          <p:cNvPr id="35" name="Text 33"/>
          <p:cNvSpPr/>
          <p:nvPr/>
        </p:nvSpPr>
        <p:spPr>
          <a:xfrm>
            <a:off x="1825142" y="5212080"/>
            <a:ext cx="903427"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France</a:t>
            </a:r>
            <a:endParaRPr lang="en-US" sz="1100" dirty="0"/>
          </a:p>
        </p:txBody>
      </p:sp>
      <p:sp>
        <p:nvSpPr>
          <p:cNvPr id="36" name="Shape 34"/>
          <p:cNvSpPr/>
          <p:nvPr/>
        </p:nvSpPr>
        <p:spPr>
          <a:xfrm>
            <a:off x="2820010" y="5212080"/>
            <a:ext cx="1298448" cy="310896"/>
          </a:xfrm>
          <a:prstGeom prst="roundRect">
            <a:avLst>
              <a:gd name="adj" fmla="val 17647"/>
            </a:avLst>
          </a:prstGeom>
          <a:solidFill>
            <a:srgbClr val="EAEEF7"/>
          </a:solidFill>
          <a:ln/>
        </p:spPr>
      </p:sp>
      <p:sp>
        <p:nvSpPr>
          <p:cNvPr id="37" name="Text 35"/>
          <p:cNvSpPr/>
          <p:nvPr/>
        </p:nvSpPr>
        <p:spPr>
          <a:xfrm>
            <a:off x="2820010" y="5212080"/>
            <a:ext cx="1298448"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Luxembourg</a:t>
            </a:r>
            <a:endParaRPr lang="en-US" sz="1100" dirty="0"/>
          </a:p>
        </p:txBody>
      </p:sp>
      <p:sp>
        <p:nvSpPr>
          <p:cNvPr id="38" name="Shape 36"/>
          <p:cNvSpPr/>
          <p:nvPr/>
        </p:nvSpPr>
        <p:spPr>
          <a:xfrm>
            <a:off x="4209898" y="5212080"/>
            <a:ext cx="1002182" cy="310896"/>
          </a:xfrm>
          <a:prstGeom prst="roundRect">
            <a:avLst>
              <a:gd name="adj" fmla="val 17647"/>
            </a:avLst>
          </a:prstGeom>
          <a:solidFill>
            <a:srgbClr val="EAEEF7"/>
          </a:solidFill>
          <a:ln/>
        </p:spPr>
      </p:sp>
      <p:sp>
        <p:nvSpPr>
          <p:cNvPr id="39" name="Text 37"/>
          <p:cNvSpPr/>
          <p:nvPr/>
        </p:nvSpPr>
        <p:spPr>
          <a:xfrm>
            <a:off x="4209898" y="5212080"/>
            <a:ext cx="100218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Belgium</a:t>
            </a:r>
            <a:endParaRPr lang="en-US" sz="1100" dirty="0"/>
          </a:p>
        </p:txBody>
      </p:sp>
      <p:sp>
        <p:nvSpPr>
          <p:cNvPr id="40" name="Shape 38"/>
          <p:cNvSpPr/>
          <p:nvPr/>
        </p:nvSpPr>
        <p:spPr>
          <a:xfrm>
            <a:off x="731520" y="5614416"/>
            <a:ext cx="1002182" cy="310896"/>
          </a:xfrm>
          <a:prstGeom prst="roundRect">
            <a:avLst>
              <a:gd name="adj" fmla="val 17647"/>
            </a:avLst>
          </a:prstGeom>
          <a:solidFill>
            <a:srgbClr val="EAEEF7"/>
          </a:solidFill>
          <a:ln/>
        </p:spPr>
      </p:sp>
      <p:sp>
        <p:nvSpPr>
          <p:cNvPr id="41" name="Text 39"/>
          <p:cNvSpPr/>
          <p:nvPr/>
        </p:nvSpPr>
        <p:spPr>
          <a:xfrm>
            <a:off x="731520" y="5614416"/>
            <a:ext cx="100218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Austria</a:t>
            </a:r>
            <a:endParaRPr lang="en-US" sz="1100" dirty="0"/>
          </a:p>
        </p:txBody>
      </p:sp>
      <p:sp>
        <p:nvSpPr>
          <p:cNvPr id="42" name="Shape 40"/>
          <p:cNvSpPr/>
          <p:nvPr/>
        </p:nvSpPr>
        <p:spPr>
          <a:xfrm>
            <a:off x="1825142" y="5614416"/>
            <a:ext cx="804672" cy="310896"/>
          </a:xfrm>
          <a:prstGeom prst="roundRect">
            <a:avLst>
              <a:gd name="adj" fmla="val 17647"/>
            </a:avLst>
          </a:prstGeom>
          <a:solidFill>
            <a:srgbClr val="EAEEF7"/>
          </a:solidFill>
          <a:ln/>
        </p:spPr>
      </p:sp>
      <p:sp>
        <p:nvSpPr>
          <p:cNvPr id="43" name="Text 41"/>
          <p:cNvSpPr/>
          <p:nvPr/>
        </p:nvSpPr>
        <p:spPr>
          <a:xfrm>
            <a:off x="1825142" y="5614416"/>
            <a:ext cx="80467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Italy</a:t>
            </a:r>
            <a:endParaRPr lang="en-US" sz="1100" dirty="0"/>
          </a:p>
        </p:txBody>
      </p:sp>
      <p:sp>
        <p:nvSpPr>
          <p:cNvPr id="44" name="Shape 42"/>
          <p:cNvSpPr/>
          <p:nvPr/>
        </p:nvSpPr>
        <p:spPr>
          <a:xfrm>
            <a:off x="2721254" y="5614416"/>
            <a:ext cx="804672" cy="310896"/>
          </a:xfrm>
          <a:prstGeom prst="roundRect">
            <a:avLst>
              <a:gd name="adj" fmla="val 17647"/>
            </a:avLst>
          </a:prstGeom>
          <a:solidFill>
            <a:srgbClr val="EAEEF7"/>
          </a:solidFill>
          <a:ln/>
        </p:spPr>
      </p:sp>
      <p:sp>
        <p:nvSpPr>
          <p:cNvPr id="45" name="Text 43"/>
          <p:cNvSpPr/>
          <p:nvPr/>
        </p:nvSpPr>
        <p:spPr>
          <a:xfrm>
            <a:off x="2721254" y="5614416"/>
            <a:ext cx="80467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Spain</a:t>
            </a:r>
            <a:endParaRPr lang="en-US" sz="1100" dirty="0"/>
          </a:p>
        </p:txBody>
      </p:sp>
      <p:sp>
        <p:nvSpPr>
          <p:cNvPr id="46" name="Shape 44"/>
          <p:cNvSpPr/>
          <p:nvPr/>
        </p:nvSpPr>
        <p:spPr>
          <a:xfrm>
            <a:off x="3617366" y="5614416"/>
            <a:ext cx="804672" cy="310896"/>
          </a:xfrm>
          <a:prstGeom prst="roundRect">
            <a:avLst>
              <a:gd name="adj" fmla="val 17647"/>
            </a:avLst>
          </a:prstGeom>
          <a:solidFill>
            <a:srgbClr val="EAEEF7"/>
          </a:solidFill>
          <a:ln/>
        </p:spPr>
      </p:sp>
      <p:sp>
        <p:nvSpPr>
          <p:cNvPr id="47" name="Text 45"/>
          <p:cNvSpPr/>
          <p:nvPr/>
        </p:nvSpPr>
        <p:spPr>
          <a:xfrm>
            <a:off x="3617366" y="5614416"/>
            <a:ext cx="804672" cy="310896"/>
          </a:xfrm>
          <a:prstGeom prst="rect">
            <a:avLst/>
          </a:prstGeom>
          <a:noFill/>
          <a:ln/>
        </p:spPr>
        <p:txBody>
          <a:bodyPr wrap="square" rtlCol="0" anchor="ctr"/>
          <a:lstStyle/>
          <a:p>
            <a:pPr algn="ctr" indent="0" marL="0">
              <a:buNone/>
            </a:pPr>
            <a:r>
              <a:rPr lang="en-US" sz="1100" b="1" dirty="0">
                <a:solidFill>
                  <a:srgbClr val="0A1264"/>
                </a:solidFill>
                <a:latin typeface="GT America" pitchFamily="34" charset="0"/>
                <a:ea typeface="GT America" pitchFamily="34" charset="-122"/>
                <a:cs typeface="GT America" pitchFamily="34" charset="-120"/>
              </a:rPr>
              <a:t>Japan</a:t>
            </a:r>
            <a:endParaRPr lang="en-US" sz="1100" dirty="0"/>
          </a:p>
        </p:txBody>
      </p:sp>
      <p:sp>
        <p:nvSpPr>
          <p:cNvPr id="48" name="Shape 46"/>
          <p:cNvSpPr/>
          <p:nvPr/>
        </p:nvSpPr>
        <p:spPr>
          <a:xfrm>
            <a:off x="6336792" y="1783080"/>
            <a:ext cx="5394960" cy="1051560"/>
          </a:xfrm>
          <a:prstGeom prst="roundRect">
            <a:avLst>
              <a:gd name="adj" fmla="val 695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9" name="Text 47"/>
          <p:cNvSpPr/>
          <p:nvPr/>
        </p:nvSpPr>
        <p:spPr>
          <a:xfrm>
            <a:off x="6611112" y="1965960"/>
            <a:ext cx="4846320" cy="274320"/>
          </a:xfrm>
          <a:prstGeom prst="rect">
            <a:avLst/>
          </a:prstGeom>
          <a:noFill/>
          <a:ln/>
        </p:spPr>
        <p:txBody>
          <a:bodyPr wrap="square" rtlCol="0" anchor="ctr"/>
          <a:lstStyle/>
          <a:p>
            <a:pPr indent="0" marL="0">
              <a:buNone/>
            </a:pPr>
            <a:r>
              <a:rPr lang="en-US" sz="1100" b="1" spc="100" kern="0" dirty="0">
                <a:solidFill>
                  <a:srgbClr val="2E4DA6"/>
                </a:solidFill>
                <a:latin typeface="GT America" pitchFamily="34" charset="0"/>
                <a:ea typeface="GT America" pitchFamily="34" charset="-122"/>
                <a:cs typeface="GT America" pitchFamily="34" charset="-120"/>
              </a:rPr>
              <a:t>TOTAL IMPRESSIONS</a:t>
            </a:r>
            <a:endParaRPr lang="en-US" sz="1100" dirty="0"/>
          </a:p>
        </p:txBody>
      </p:sp>
      <p:sp>
        <p:nvSpPr>
          <p:cNvPr id="50" name="Text 48"/>
          <p:cNvSpPr/>
          <p:nvPr/>
        </p:nvSpPr>
        <p:spPr>
          <a:xfrm>
            <a:off x="6611112" y="2240280"/>
            <a:ext cx="4846320" cy="548640"/>
          </a:xfrm>
          <a:prstGeom prst="rect">
            <a:avLst/>
          </a:prstGeom>
          <a:noFill/>
          <a:ln/>
        </p:spPr>
        <p:txBody>
          <a:bodyPr wrap="square" rtlCol="0" anchor="ctr"/>
          <a:lstStyle/>
          <a:p>
            <a:pPr indent="0" marL="0">
              <a:buNone/>
            </a:pPr>
            <a:r>
              <a:rPr lang="en-US" sz="3000" b="1" dirty="0">
                <a:solidFill>
                  <a:srgbClr val="0A1264"/>
                </a:solidFill>
                <a:latin typeface="GT America" pitchFamily="34" charset="0"/>
                <a:ea typeface="GT America" pitchFamily="34" charset="-122"/>
                <a:cs typeface="GT America" pitchFamily="34" charset="-120"/>
              </a:rPr>
              <a:t>10K–20K</a:t>
            </a:r>
            <a:endParaRPr lang="en-US" sz="3000" dirty="0"/>
          </a:p>
        </p:txBody>
      </p:sp>
      <p:sp>
        <p:nvSpPr>
          <p:cNvPr id="51" name="Shape 49"/>
          <p:cNvSpPr/>
          <p:nvPr/>
        </p:nvSpPr>
        <p:spPr>
          <a:xfrm>
            <a:off x="6336792" y="3017520"/>
            <a:ext cx="5394960" cy="2651760"/>
          </a:xfrm>
          <a:prstGeom prst="roundRect">
            <a:avLst>
              <a:gd name="adj" fmla="val 275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2" name="Text 50"/>
          <p:cNvSpPr/>
          <p:nvPr/>
        </p:nvSpPr>
        <p:spPr>
          <a:xfrm>
            <a:off x="6611112" y="3182112"/>
            <a:ext cx="4846320" cy="274320"/>
          </a:xfrm>
          <a:prstGeom prst="rect">
            <a:avLst/>
          </a:prstGeom>
          <a:noFill/>
          <a:ln/>
        </p:spPr>
        <p:txBody>
          <a:bodyPr wrap="square" rtlCol="0" anchor="ctr"/>
          <a:lstStyle/>
          <a:p>
            <a:pPr indent="0" marL="0">
              <a:buNone/>
            </a:pPr>
            <a:r>
              <a:rPr lang="en-US" sz="1100" b="1" spc="100" kern="0" dirty="0">
                <a:solidFill>
                  <a:srgbClr val="2E4DA6"/>
                </a:solidFill>
                <a:latin typeface="GT America" pitchFamily="34" charset="0"/>
                <a:ea typeface="GT America" pitchFamily="34" charset="-122"/>
                <a:cs typeface="GT America" pitchFamily="34" charset="-120"/>
              </a:rPr>
              <a:t>IMPRESSIONS BY COUNTRY</a:t>
            </a:r>
            <a:endParaRPr lang="en-US" sz="1100" dirty="0"/>
          </a:p>
        </p:txBody>
      </p:sp>
      <p:sp>
        <p:nvSpPr>
          <p:cNvPr id="53" name="Text 51"/>
          <p:cNvSpPr/>
          <p:nvPr/>
        </p:nvSpPr>
        <p:spPr>
          <a:xfrm>
            <a:off x="6611112" y="3547872"/>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United States</a:t>
            </a:r>
            <a:endParaRPr lang="en-US" sz="950" dirty="0"/>
          </a:p>
        </p:txBody>
      </p:sp>
      <p:sp>
        <p:nvSpPr>
          <p:cNvPr id="54" name="Shape 52"/>
          <p:cNvSpPr/>
          <p:nvPr/>
        </p:nvSpPr>
        <p:spPr>
          <a:xfrm>
            <a:off x="7891272" y="3602736"/>
            <a:ext cx="3063240" cy="146304"/>
          </a:xfrm>
          <a:prstGeom prst="roundRect">
            <a:avLst>
              <a:gd name="adj" fmla="val 18750"/>
            </a:avLst>
          </a:prstGeom>
          <a:solidFill>
            <a:srgbClr val="0057E7"/>
          </a:solidFill>
          <a:ln/>
        </p:spPr>
      </p:sp>
      <p:sp>
        <p:nvSpPr>
          <p:cNvPr id="55" name="Text 53"/>
          <p:cNvSpPr/>
          <p:nvPr/>
        </p:nvSpPr>
        <p:spPr>
          <a:xfrm>
            <a:off x="11045952" y="3547872"/>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49%</a:t>
            </a:r>
            <a:endParaRPr lang="en-US" sz="950" dirty="0"/>
          </a:p>
        </p:txBody>
      </p:sp>
      <p:sp>
        <p:nvSpPr>
          <p:cNvPr id="56" name="Text 54"/>
          <p:cNvSpPr/>
          <p:nvPr/>
        </p:nvSpPr>
        <p:spPr>
          <a:xfrm>
            <a:off x="6611112" y="3877056"/>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United Kingdom</a:t>
            </a:r>
            <a:endParaRPr lang="en-US" sz="950" dirty="0"/>
          </a:p>
        </p:txBody>
      </p:sp>
      <p:sp>
        <p:nvSpPr>
          <p:cNvPr id="57" name="Shape 55"/>
          <p:cNvSpPr/>
          <p:nvPr/>
        </p:nvSpPr>
        <p:spPr>
          <a:xfrm>
            <a:off x="7891272" y="3931920"/>
            <a:ext cx="1312817" cy="146304"/>
          </a:xfrm>
          <a:prstGeom prst="roundRect">
            <a:avLst>
              <a:gd name="adj" fmla="val 18750"/>
            </a:avLst>
          </a:prstGeom>
          <a:solidFill>
            <a:srgbClr val="0057E7"/>
          </a:solidFill>
          <a:ln/>
        </p:spPr>
      </p:sp>
      <p:sp>
        <p:nvSpPr>
          <p:cNvPr id="58" name="Text 56"/>
          <p:cNvSpPr/>
          <p:nvPr/>
        </p:nvSpPr>
        <p:spPr>
          <a:xfrm>
            <a:off x="11045952" y="3877056"/>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21%</a:t>
            </a:r>
            <a:endParaRPr lang="en-US" sz="950" dirty="0"/>
          </a:p>
        </p:txBody>
      </p:sp>
      <p:sp>
        <p:nvSpPr>
          <p:cNvPr id="59" name="Text 57"/>
          <p:cNvSpPr/>
          <p:nvPr/>
        </p:nvSpPr>
        <p:spPr>
          <a:xfrm>
            <a:off x="6611112" y="4206240"/>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Canada</a:t>
            </a:r>
            <a:endParaRPr lang="en-US" sz="950" dirty="0"/>
          </a:p>
        </p:txBody>
      </p:sp>
      <p:sp>
        <p:nvSpPr>
          <p:cNvPr id="60" name="Shape 58"/>
          <p:cNvSpPr/>
          <p:nvPr/>
        </p:nvSpPr>
        <p:spPr>
          <a:xfrm>
            <a:off x="7891272" y="4261104"/>
            <a:ext cx="1000242" cy="146304"/>
          </a:xfrm>
          <a:prstGeom prst="roundRect">
            <a:avLst>
              <a:gd name="adj" fmla="val 18750"/>
            </a:avLst>
          </a:prstGeom>
          <a:solidFill>
            <a:srgbClr val="0057E7"/>
          </a:solidFill>
          <a:ln/>
        </p:spPr>
      </p:sp>
      <p:sp>
        <p:nvSpPr>
          <p:cNvPr id="61" name="Text 59"/>
          <p:cNvSpPr/>
          <p:nvPr/>
        </p:nvSpPr>
        <p:spPr>
          <a:xfrm>
            <a:off x="11045952" y="4206240"/>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16%</a:t>
            </a:r>
            <a:endParaRPr lang="en-US" sz="950" dirty="0"/>
          </a:p>
        </p:txBody>
      </p:sp>
      <p:sp>
        <p:nvSpPr>
          <p:cNvPr id="62" name="Text 60"/>
          <p:cNvSpPr/>
          <p:nvPr/>
        </p:nvSpPr>
        <p:spPr>
          <a:xfrm>
            <a:off x="6611112" y="4535424"/>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Singapore</a:t>
            </a:r>
            <a:endParaRPr lang="en-US" sz="950" dirty="0"/>
          </a:p>
        </p:txBody>
      </p:sp>
      <p:sp>
        <p:nvSpPr>
          <p:cNvPr id="63" name="Shape 61"/>
          <p:cNvSpPr/>
          <p:nvPr/>
        </p:nvSpPr>
        <p:spPr>
          <a:xfrm>
            <a:off x="7891272" y="4590288"/>
            <a:ext cx="250060" cy="146304"/>
          </a:xfrm>
          <a:prstGeom prst="roundRect">
            <a:avLst>
              <a:gd name="adj" fmla="val 18750"/>
            </a:avLst>
          </a:prstGeom>
          <a:solidFill>
            <a:srgbClr val="0057E7"/>
          </a:solidFill>
          <a:ln/>
        </p:spPr>
      </p:sp>
      <p:sp>
        <p:nvSpPr>
          <p:cNvPr id="64" name="Text 62"/>
          <p:cNvSpPr/>
          <p:nvPr/>
        </p:nvSpPr>
        <p:spPr>
          <a:xfrm>
            <a:off x="11045952" y="4535424"/>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4%</a:t>
            </a:r>
            <a:endParaRPr lang="en-US" sz="950" dirty="0"/>
          </a:p>
        </p:txBody>
      </p:sp>
      <p:sp>
        <p:nvSpPr>
          <p:cNvPr id="65" name="Text 63"/>
          <p:cNvSpPr/>
          <p:nvPr/>
        </p:nvSpPr>
        <p:spPr>
          <a:xfrm>
            <a:off x="6611112" y="4864608"/>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Hong Kong SAR</a:t>
            </a:r>
            <a:endParaRPr lang="en-US" sz="950" dirty="0"/>
          </a:p>
        </p:txBody>
      </p:sp>
      <p:sp>
        <p:nvSpPr>
          <p:cNvPr id="66" name="Shape 64"/>
          <p:cNvSpPr/>
          <p:nvPr/>
        </p:nvSpPr>
        <p:spPr>
          <a:xfrm>
            <a:off x="7891272" y="4919472"/>
            <a:ext cx="187545" cy="146304"/>
          </a:xfrm>
          <a:prstGeom prst="roundRect">
            <a:avLst>
              <a:gd name="adj" fmla="val 18750"/>
            </a:avLst>
          </a:prstGeom>
          <a:solidFill>
            <a:srgbClr val="0057E7"/>
          </a:solidFill>
          <a:ln/>
        </p:spPr>
      </p:sp>
      <p:sp>
        <p:nvSpPr>
          <p:cNvPr id="67" name="Text 65"/>
          <p:cNvSpPr/>
          <p:nvPr/>
        </p:nvSpPr>
        <p:spPr>
          <a:xfrm>
            <a:off x="11045952" y="4864608"/>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3%</a:t>
            </a:r>
            <a:endParaRPr lang="en-US" sz="950" dirty="0"/>
          </a:p>
        </p:txBody>
      </p:sp>
      <p:sp>
        <p:nvSpPr>
          <p:cNvPr id="68" name="Text 66"/>
          <p:cNvSpPr/>
          <p:nvPr/>
        </p:nvSpPr>
        <p:spPr>
          <a:xfrm>
            <a:off x="6611112" y="5193792"/>
            <a:ext cx="1234440" cy="274320"/>
          </a:xfrm>
          <a:prstGeom prst="rect">
            <a:avLst/>
          </a:prstGeom>
          <a:noFill/>
          <a:ln/>
        </p:spPr>
        <p:txBody>
          <a:bodyPr wrap="square" rtlCol="0" anchor="ctr"/>
          <a:lstStyle/>
          <a:p>
            <a:pPr indent="0" marL="0">
              <a:buNone/>
            </a:pPr>
            <a:r>
              <a:rPr lang="en-US" sz="950" dirty="0">
                <a:solidFill>
                  <a:srgbClr val="10142B"/>
                </a:solidFill>
                <a:latin typeface="GT America" pitchFamily="34" charset="0"/>
                <a:ea typeface="GT America" pitchFamily="34" charset="-122"/>
                <a:cs typeface="GT America" pitchFamily="34" charset="-120"/>
              </a:rPr>
              <a:t>Finland</a:t>
            </a:r>
            <a:endParaRPr lang="en-US" sz="950" dirty="0"/>
          </a:p>
        </p:txBody>
      </p:sp>
      <p:sp>
        <p:nvSpPr>
          <p:cNvPr id="69" name="Shape 67"/>
          <p:cNvSpPr/>
          <p:nvPr/>
        </p:nvSpPr>
        <p:spPr>
          <a:xfrm>
            <a:off x="7891272" y="5248656"/>
            <a:ext cx="62515" cy="146304"/>
          </a:xfrm>
          <a:prstGeom prst="roundRect">
            <a:avLst>
              <a:gd name="adj" fmla="val 43881"/>
            </a:avLst>
          </a:prstGeom>
          <a:solidFill>
            <a:srgbClr val="0057E7"/>
          </a:solidFill>
          <a:ln/>
        </p:spPr>
      </p:sp>
      <p:sp>
        <p:nvSpPr>
          <p:cNvPr id="70" name="Text 68"/>
          <p:cNvSpPr/>
          <p:nvPr/>
        </p:nvSpPr>
        <p:spPr>
          <a:xfrm>
            <a:off x="11045952" y="5193792"/>
            <a:ext cx="502920" cy="274320"/>
          </a:xfrm>
          <a:prstGeom prst="rect">
            <a:avLst/>
          </a:prstGeom>
          <a:noFill/>
          <a:ln/>
        </p:spPr>
        <p:txBody>
          <a:bodyPr wrap="square" rtlCol="0" anchor="ctr"/>
          <a:lstStyle/>
          <a:p>
            <a:pPr indent="0" marL="0">
              <a:buNone/>
            </a:pPr>
            <a:r>
              <a:rPr lang="en-US" sz="950" b="1" dirty="0">
                <a:solidFill>
                  <a:srgbClr val="0A1264"/>
                </a:solidFill>
                <a:latin typeface="GT America" pitchFamily="34" charset="0"/>
                <a:ea typeface="GT America" pitchFamily="34" charset="-122"/>
                <a:cs typeface="GT America" pitchFamily="34" charset="-120"/>
              </a:rPr>
              <a:t>1%</a:t>
            </a:r>
            <a:endParaRPr lang="en-US" sz="950" dirty="0"/>
          </a:p>
        </p:txBody>
      </p:sp>
      <p:sp>
        <p:nvSpPr>
          <p:cNvPr id="71" name="Text 69"/>
          <p:cNvSpPr/>
          <p:nvPr/>
        </p:nvSpPr>
        <p:spPr>
          <a:xfrm>
            <a:off x="6611112" y="5568696"/>
            <a:ext cx="4846320" cy="502920"/>
          </a:xfrm>
          <a:prstGeom prst="rect">
            <a:avLst/>
          </a:prstGeom>
          <a:noFill/>
          <a:ln/>
        </p:spPr>
        <p:txBody>
          <a:bodyPr wrap="square" rtlCol="0" anchor="ctr"/>
          <a:lstStyle/>
          <a:p>
            <a:pPr indent="0" marL="0">
              <a:lnSpc>
                <a:spcPct val="115000"/>
              </a:lnSpc>
              <a:buNone/>
            </a:pPr>
            <a:r>
              <a:rPr lang="en-US" sz="850" i="1" dirty="0">
                <a:solidFill>
                  <a:srgbClr val="5B6472"/>
                </a:solidFill>
                <a:latin typeface="GT America" pitchFamily="34" charset="0"/>
                <a:ea typeface="GT America" pitchFamily="34" charset="-122"/>
                <a:cs typeface="GT America" pitchFamily="34" charset="-120"/>
              </a:rPr>
              <a:t>+ 12 more markets at ≤1% each: Netherlands, Germany, Sweden, Norway, Denmark, France, Luxembourg, Belgium, Austria, Italy, Spain, Japan</a:t>
            </a:r>
            <a:endParaRPr lang="en-US" sz="850" dirty="0"/>
          </a:p>
        </p:txBody>
      </p:sp>
      <p:sp>
        <p:nvSpPr>
          <p:cNvPr id="72" name="Shape 70"/>
          <p:cNvSpPr/>
          <p:nvPr/>
        </p:nvSpPr>
        <p:spPr>
          <a:xfrm>
            <a:off x="457200" y="6035040"/>
            <a:ext cx="11274552" cy="438912"/>
          </a:xfrm>
          <a:prstGeom prst="roundRect">
            <a:avLst>
              <a:gd name="adj" fmla="val 16667"/>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73" name="Text 71"/>
          <p:cNvSpPr/>
          <p:nvPr/>
        </p:nvSpPr>
        <p:spPr>
          <a:xfrm>
            <a:off x="731520" y="6035040"/>
            <a:ext cx="2286000" cy="438912"/>
          </a:xfrm>
          <a:prstGeom prst="rect">
            <a:avLst/>
          </a:prstGeom>
          <a:noFill/>
          <a:ln/>
        </p:spPr>
        <p:txBody>
          <a:bodyPr wrap="square" rtlCol="0" anchor="ctr"/>
          <a:lstStyle/>
          <a:p>
            <a:pPr indent="0" marL="0">
              <a:buNone/>
            </a:pPr>
            <a:r>
              <a:rPr lang="en-US" sz="1000" b="1" spc="50" kern="0" dirty="0">
                <a:solidFill>
                  <a:srgbClr val="1B3F91"/>
                </a:solidFill>
                <a:latin typeface="GT America" pitchFamily="34" charset="0"/>
                <a:ea typeface="GT America" pitchFamily="34" charset="-122"/>
                <a:cs typeface="GT America" pitchFamily="34" charset="-120"/>
              </a:rPr>
              <a:t>A/B TESTED · 1 QUARTER:</a:t>
            </a:r>
            <a:endParaRPr lang="en-US" sz="1000" dirty="0"/>
          </a:p>
        </p:txBody>
      </p:sp>
      <p:sp>
        <p:nvSpPr>
          <p:cNvPr id="74" name="Text 72"/>
          <p:cNvSpPr/>
          <p:nvPr/>
        </p:nvSpPr>
        <p:spPr>
          <a:xfrm>
            <a:off x="3017520" y="6035040"/>
            <a:ext cx="8503920" cy="438912"/>
          </a:xfrm>
          <a:prstGeom prst="rect">
            <a:avLst/>
          </a:prstGeom>
          <a:noFill/>
          <a:ln/>
        </p:spPr>
        <p:txBody>
          <a:bodyPr wrap="square" rtlCol="0" anchor="ctr"/>
          <a:lstStyle/>
          <a:p>
            <a:pPr indent="0" marL="0">
              <a:buNone/>
            </a:pPr>
            <a:r>
              <a:rPr lang="en-US" sz="1050" i="1" dirty="0">
                <a:solidFill>
                  <a:srgbClr val="1B3F91"/>
                </a:solidFill>
                <a:latin typeface="GT America" pitchFamily="34" charset="0"/>
                <a:ea typeface="GT America" pitchFamily="34" charset="-122"/>
                <a:cs typeface="GT America" pitchFamily="34" charset="-120"/>
              </a:rPr>
              <a:t>Caption length · Creative style · Ad format (single image vs. message) · CTA wording</a:t>
            </a:r>
            <a:endParaRPr lang="en-US" sz="1050" dirty="0"/>
          </a:p>
        </p:txBody>
      </p:sp>
      <p:sp>
        <p:nvSpPr>
          <p:cNvPr id="75" name="Text 7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CAMPAIGN EXAMPLE — LINKEDIN</a:t>
            </a:r>
            <a:endParaRPr lang="en-US" sz="900" dirty="0"/>
          </a:p>
        </p:txBody>
      </p:sp>
      <p:sp>
        <p:nvSpPr>
          <p:cNvPr id="76" name="Text 7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16 / 23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CAMPAIGN STRATEGY — WORKED EXAMPLE</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Ad Creative — A/B Test Variants</a:t>
            </a:r>
            <a:endParaRPr lang="en-US" sz="2800" dirty="0"/>
          </a:p>
        </p:txBody>
      </p:sp>
      <p:sp>
        <p:nvSpPr>
          <p:cNvPr id="4" name="Text 2"/>
          <p:cNvSpPr/>
          <p:nvPr/>
        </p:nvSpPr>
        <p:spPr>
          <a:xfrm>
            <a:off x="457200" y="1444752"/>
            <a:ext cx="1097280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Actual LinkedIn ad creative from the Automated Credit Memo campaign, used with permission.</a:t>
            </a:r>
            <a:endParaRPr lang="en-US" sz="1000" dirty="0"/>
          </a:p>
        </p:txBody>
      </p:sp>
      <p:sp>
        <p:nvSpPr>
          <p:cNvPr id="5" name="Shape 3"/>
          <p:cNvSpPr/>
          <p:nvPr/>
        </p:nvSpPr>
        <p:spPr>
          <a:xfrm>
            <a:off x="457200" y="1874520"/>
            <a:ext cx="3605784" cy="1517904"/>
          </a:xfrm>
          <a:prstGeom prst="roundRect">
            <a:avLst>
              <a:gd name="adj" fmla="val 3614"/>
            </a:avLst>
          </a:prstGeom>
          <a:solidFill>
            <a:srgbClr val="FFFFFF"/>
          </a:solidFill>
          <a:ln w="12700">
            <a:solidFill>
              <a:srgbClr val="DCE1EC"/>
            </a:solidFill>
            <a:prstDash val="solid"/>
          </a:ln>
        </p:spPr>
      </p:sp>
      <p:pic>
        <p:nvPicPr>
          <p:cNvPr id="6" name="Image 0" descr="/home/claude/deck/assets/li_ad1_creditmemo_team_singlestory.png">    </p:cNvPr>
          <p:cNvPicPr>
            <a:picLocks noChangeAspect="1"/>
          </p:cNvPicPr>
          <p:nvPr/>
        </p:nvPicPr>
        <p:blipFill>
          <a:blip r:embed="rId1"/>
          <a:stretch>
            <a:fillRect/>
          </a:stretch>
        </p:blipFill>
        <p:spPr>
          <a:xfrm>
            <a:off x="1744388" y="1947672"/>
            <a:ext cx="1031409" cy="1371600"/>
          </a:xfrm>
          <a:prstGeom prst="rect">
            <a:avLst/>
          </a:prstGeom>
        </p:spPr>
      </p:pic>
      <p:sp>
        <p:nvSpPr>
          <p:cNvPr id="7" name="Text 4"/>
          <p:cNvSpPr/>
          <p:nvPr/>
        </p:nvSpPr>
        <p:spPr>
          <a:xfrm>
            <a:off x="457200" y="3483864"/>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Variant A — Team photo · “A single credit story…” · CTA: See it in action</a:t>
            </a:r>
            <a:endParaRPr lang="en-US" sz="900" dirty="0"/>
          </a:p>
        </p:txBody>
      </p:sp>
      <p:sp>
        <p:nvSpPr>
          <p:cNvPr id="8" name="Shape 5"/>
          <p:cNvSpPr/>
          <p:nvPr/>
        </p:nvSpPr>
        <p:spPr>
          <a:xfrm>
            <a:off x="4291584" y="1874520"/>
            <a:ext cx="3605784" cy="1517904"/>
          </a:xfrm>
          <a:prstGeom prst="roundRect">
            <a:avLst>
              <a:gd name="adj" fmla="val 3614"/>
            </a:avLst>
          </a:prstGeom>
          <a:solidFill>
            <a:srgbClr val="FFFFFF"/>
          </a:solidFill>
          <a:ln w="12700">
            <a:solidFill>
              <a:srgbClr val="DCE1EC"/>
            </a:solidFill>
            <a:prstDash val="solid"/>
          </a:ln>
        </p:spPr>
      </p:sp>
      <p:pic>
        <p:nvPicPr>
          <p:cNvPr id="9" name="Image 1" descr="/home/claude/deck/assets/li_ad2_creditmemo_abstract_policy.png">    </p:cNvPr>
          <p:cNvPicPr>
            <a:picLocks noChangeAspect="1"/>
          </p:cNvPicPr>
          <p:nvPr/>
        </p:nvPicPr>
        <p:blipFill>
          <a:blip r:embed="rId2"/>
          <a:stretch>
            <a:fillRect/>
          </a:stretch>
        </p:blipFill>
        <p:spPr>
          <a:xfrm>
            <a:off x="5579585" y="1947672"/>
            <a:ext cx="1029782" cy="1371600"/>
          </a:xfrm>
          <a:prstGeom prst="rect">
            <a:avLst/>
          </a:prstGeom>
        </p:spPr>
      </p:pic>
      <p:sp>
        <p:nvSpPr>
          <p:cNvPr id="10" name="Text 6"/>
          <p:cNvSpPr/>
          <p:nvPr/>
        </p:nvSpPr>
        <p:spPr>
          <a:xfrm>
            <a:off x="4291584" y="3483864"/>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Variant B — Abstract visual · “AI aligned with your credit policy” · CTA: See it in action</a:t>
            </a:r>
            <a:endParaRPr lang="en-US" sz="900" dirty="0"/>
          </a:p>
        </p:txBody>
      </p:sp>
      <p:sp>
        <p:nvSpPr>
          <p:cNvPr id="11" name="Shape 7"/>
          <p:cNvSpPr/>
          <p:nvPr/>
        </p:nvSpPr>
        <p:spPr>
          <a:xfrm>
            <a:off x="8125968" y="1874520"/>
            <a:ext cx="3605784" cy="1517904"/>
          </a:xfrm>
          <a:prstGeom prst="roundRect">
            <a:avLst>
              <a:gd name="adj" fmla="val 3614"/>
            </a:avLst>
          </a:prstGeom>
          <a:solidFill>
            <a:srgbClr val="FFFFFF"/>
          </a:solidFill>
          <a:ln w="12700">
            <a:solidFill>
              <a:srgbClr val="DCE1EC"/>
            </a:solidFill>
            <a:prstDash val="solid"/>
          </a:ln>
        </p:spPr>
      </p:sp>
      <p:pic>
        <p:nvPicPr>
          <p:cNvPr id="12" name="Image 2" descr="/home/claude/deck/assets/li_ad3_creditmemo_team_policy.png">    </p:cNvPr>
          <p:cNvPicPr>
            <a:picLocks noChangeAspect="1"/>
          </p:cNvPicPr>
          <p:nvPr/>
        </p:nvPicPr>
        <p:blipFill>
          <a:blip r:embed="rId3"/>
          <a:stretch>
            <a:fillRect/>
          </a:stretch>
        </p:blipFill>
        <p:spPr>
          <a:xfrm>
            <a:off x="9422058" y="1947672"/>
            <a:ext cx="1013604" cy="1371600"/>
          </a:xfrm>
          <a:prstGeom prst="rect">
            <a:avLst/>
          </a:prstGeom>
        </p:spPr>
      </p:pic>
      <p:sp>
        <p:nvSpPr>
          <p:cNvPr id="13" name="Text 8"/>
          <p:cNvSpPr/>
          <p:nvPr/>
        </p:nvSpPr>
        <p:spPr>
          <a:xfrm>
            <a:off x="8125968" y="3483864"/>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Variant C — Team photo + Variant B headline (creative swap test)</a:t>
            </a:r>
            <a:endParaRPr lang="en-US" sz="900" dirty="0"/>
          </a:p>
        </p:txBody>
      </p:sp>
      <p:sp>
        <p:nvSpPr>
          <p:cNvPr id="14" name="Shape 9"/>
          <p:cNvSpPr/>
          <p:nvPr/>
        </p:nvSpPr>
        <p:spPr>
          <a:xfrm>
            <a:off x="457200" y="4215384"/>
            <a:ext cx="3605784" cy="1517904"/>
          </a:xfrm>
          <a:prstGeom prst="roundRect">
            <a:avLst>
              <a:gd name="adj" fmla="val 3614"/>
            </a:avLst>
          </a:prstGeom>
          <a:solidFill>
            <a:srgbClr val="FFFFFF"/>
          </a:solidFill>
          <a:ln w="12700">
            <a:solidFill>
              <a:srgbClr val="DCE1EC"/>
            </a:solidFill>
            <a:prstDash val="solid"/>
          </a:ln>
        </p:spPr>
      </p:sp>
      <p:pic>
        <p:nvPicPr>
          <p:cNvPr id="15" name="Image 3" descr="/home/claude/deck/assets/li_ad4_aipowered_generateinminutes.png">    </p:cNvPr>
          <p:cNvPicPr>
            <a:picLocks noChangeAspect="1"/>
          </p:cNvPicPr>
          <p:nvPr/>
        </p:nvPicPr>
        <p:blipFill>
          <a:blip r:embed="rId4"/>
          <a:stretch>
            <a:fillRect/>
          </a:stretch>
        </p:blipFill>
        <p:spPr>
          <a:xfrm>
            <a:off x="1870854" y="4288536"/>
            <a:ext cx="778476" cy="1371600"/>
          </a:xfrm>
          <a:prstGeom prst="rect">
            <a:avLst/>
          </a:prstGeom>
        </p:spPr>
      </p:pic>
      <p:sp>
        <p:nvSpPr>
          <p:cNvPr id="16" name="Text 10"/>
          <p:cNvSpPr/>
          <p:nvPr/>
        </p:nvSpPr>
        <p:spPr>
          <a:xfrm>
            <a:off x="457200" y="5824728"/>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Variant D — “Generate Credit Memos in Minutes” · CTA: Learn more</a:t>
            </a:r>
            <a:endParaRPr lang="en-US" sz="900" dirty="0"/>
          </a:p>
        </p:txBody>
      </p:sp>
      <p:sp>
        <p:nvSpPr>
          <p:cNvPr id="17" name="Shape 11"/>
          <p:cNvSpPr/>
          <p:nvPr/>
        </p:nvSpPr>
        <p:spPr>
          <a:xfrm>
            <a:off x="4291584" y="4215384"/>
            <a:ext cx="3605784" cy="1517904"/>
          </a:xfrm>
          <a:prstGeom prst="roundRect">
            <a:avLst>
              <a:gd name="adj" fmla="val 3614"/>
            </a:avLst>
          </a:prstGeom>
          <a:solidFill>
            <a:srgbClr val="FFFFFF"/>
          </a:solidFill>
          <a:ln w="12700">
            <a:solidFill>
              <a:srgbClr val="DCE1EC"/>
            </a:solidFill>
            <a:prstDash val="solid"/>
          </a:ln>
        </p:spPr>
      </p:sp>
      <p:pic>
        <p:nvPicPr>
          <p:cNvPr id="18" name="Image 4" descr="/home/claude/deck/assets/li_ad5_message_omarkhan.png">    </p:cNvPr>
          <p:cNvPicPr>
            <a:picLocks noChangeAspect="1"/>
          </p:cNvPicPr>
          <p:nvPr/>
        </p:nvPicPr>
        <p:blipFill>
          <a:blip r:embed="rId5"/>
          <a:stretch>
            <a:fillRect/>
          </a:stretch>
        </p:blipFill>
        <p:spPr>
          <a:xfrm>
            <a:off x="5338826" y="4288536"/>
            <a:ext cx="1511300" cy="1371600"/>
          </a:xfrm>
          <a:prstGeom prst="rect">
            <a:avLst/>
          </a:prstGeom>
        </p:spPr>
      </p:pic>
      <p:sp>
        <p:nvSpPr>
          <p:cNvPr id="19" name="Text 12"/>
          <p:cNvSpPr/>
          <p:nvPr/>
        </p:nvSpPr>
        <p:spPr>
          <a:xfrm>
            <a:off x="4291584" y="5824728"/>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Message ad — Omar Khan, Sr. Director, GenAI Strategy &amp; Solutions</a:t>
            </a:r>
            <a:endParaRPr lang="en-US" sz="900" dirty="0"/>
          </a:p>
        </p:txBody>
      </p:sp>
      <p:sp>
        <p:nvSpPr>
          <p:cNvPr id="20" name="Shape 13"/>
          <p:cNvSpPr/>
          <p:nvPr/>
        </p:nvSpPr>
        <p:spPr>
          <a:xfrm>
            <a:off x="8125968" y="4215384"/>
            <a:ext cx="3605784" cy="1517904"/>
          </a:xfrm>
          <a:prstGeom prst="roundRect">
            <a:avLst>
              <a:gd name="adj" fmla="val 3614"/>
            </a:avLst>
          </a:prstGeom>
          <a:solidFill>
            <a:srgbClr val="FFFFFF"/>
          </a:solidFill>
          <a:ln w="12700">
            <a:solidFill>
              <a:srgbClr val="DCE1EC"/>
            </a:solidFill>
            <a:prstDash val="solid"/>
          </a:ln>
        </p:spPr>
      </p:sp>
      <p:pic>
        <p:nvPicPr>
          <p:cNvPr id="21" name="Image 5" descr="/home/claude/deck/assets/li_ad6_message_pavlesabic.png">    </p:cNvPr>
          <p:cNvPicPr>
            <a:picLocks noChangeAspect="1"/>
          </p:cNvPicPr>
          <p:nvPr/>
        </p:nvPicPr>
        <p:blipFill>
          <a:blip r:embed="rId6"/>
          <a:stretch>
            <a:fillRect/>
          </a:stretch>
        </p:blipFill>
        <p:spPr>
          <a:xfrm>
            <a:off x="9186304" y="4288536"/>
            <a:ext cx="1485112" cy="1371600"/>
          </a:xfrm>
          <a:prstGeom prst="rect">
            <a:avLst/>
          </a:prstGeom>
        </p:spPr>
      </p:pic>
      <p:sp>
        <p:nvSpPr>
          <p:cNvPr id="22" name="Text 14"/>
          <p:cNvSpPr/>
          <p:nvPr/>
        </p:nvSpPr>
        <p:spPr>
          <a:xfrm>
            <a:off x="8125968" y="5824728"/>
            <a:ext cx="3605784" cy="548640"/>
          </a:xfrm>
          <a:prstGeom prst="rect">
            <a:avLst/>
          </a:prstGeom>
          <a:noFill/>
          <a:ln/>
        </p:spPr>
        <p:txBody>
          <a:bodyPr wrap="square" rtlCol="0" anchor="t"/>
          <a:lstStyle/>
          <a:p>
            <a:pPr algn="ct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Message ad — Pavlé Sabic, FRM, Sr. Director, GenAI Strategy &amp; Solutions</a:t>
            </a:r>
            <a:endParaRPr lang="en-US" sz="900" dirty="0"/>
          </a:p>
        </p:txBody>
      </p:sp>
      <p:sp>
        <p:nvSpPr>
          <p:cNvPr id="23" name="Text 15"/>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CAMPAIGN EXAMPLE — CREATIVE VARIANTS</a:t>
            </a:r>
            <a:endParaRPr lang="en-US" sz="900" dirty="0"/>
          </a:p>
        </p:txBody>
      </p:sp>
      <p:sp>
        <p:nvSpPr>
          <p:cNvPr id="24" name="Text 16"/>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17 / 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WEBSITE ANALYTICS</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Behaviour-Informed Optimization</a:t>
            </a:r>
            <a:endParaRPr lang="en-US" sz="2800" dirty="0"/>
          </a:p>
        </p:txBody>
      </p:sp>
      <p:sp>
        <p:nvSpPr>
          <p:cNvPr id="4" name="Shape 2"/>
          <p:cNvSpPr/>
          <p:nvPr/>
        </p:nvSpPr>
        <p:spPr>
          <a:xfrm>
            <a:off x="457200" y="1783080"/>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Shape 3"/>
          <p:cNvSpPr/>
          <p:nvPr/>
        </p:nvSpPr>
        <p:spPr>
          <a:xfrm>
            <a:off x="658368" y="2080260"/>
            <a:ext cx="347472" cy="347472"/>
          </a:xfrm>
          <a:prstGeom prst="ellipse">
            <a:avLst/>
          </a:prstGeom>
          <a:solidFill>
            <a:srgbClr val="2E4DA6"/>
          </a:solidFill>
          <a:ln/>
        </p:spPr>
      </p:sp>
      <p:sp>
        <p:nvSpPr>
          <p:cNvPr id="6" name="Text 4"/>
          <p:cNvSpPr/>
          <p:nvPr/>
        </p:nvSpPr>
        <p:spPr>
          <a:xfrm>
            <a:off x="658368" y="2080260"/>
            <a:ext cx="347472" cy="347472"/>
          </a:xfrm>
          <a:prstGeom prst="rect">
            <a:avLst/>
          </a:prstGeom>
          <a:noFill/>
          <a:ln/>
        </p:spPr>
        <p:txBody>
          <a:bodyPr wrap="square" rtlCol="0" anchor="ctr"/>
          <a:lstStyle/>
          <a:p>
            <a:pPr algn="ctr" indent="0" marL="0">
              <a:buNone/>
            </a:pPr>
            <a:endParaRPr lang="en-US" sz="1300" dirty="0"/>
          </a:p>
        </p:txBody>
      </p:sp>
      <p:sp>
        <p:nvSpPr>
          <p:cNvPr id="7" name="Text 5"/>
          <p:cNvSpPr/>
          <p:nvPr/>
        </p:nvSpPr>
        <p:spPr>
          <a:xfrm>
            <a:off x="658368" y="2080260"/>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1</a:t>
            </a:r>
            <a:endParaRPr lang="en-US" sz="1300" dirty="0"/>
          </a:p>
        </p:txBody>
      </p:sp>
      <p:sp>
        <p:nvSpPr>
          <p:cNvPr id="8" name="Text 6"/>
          <p:cNvSpPr/>
          <p:nvPr/>
        </p:nvSpPr>
        <p:spPr>
          <a:xfrm>
            <a:off x="1143000" y="1783080"/>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Traffic &amp; Visits</a:t>
            </a:r>
            <a:endParaRPr lang="en-US" sz="1250" dirty="0"/>
          </a:p>
        </p:txBody>
      </p:sp>
      <p:sp>
        <p:nvSpPr>
          <p:cNvPr id="9" name="Shape 7"/>
          <p:cNvSpPr/>
          <p:nvPr/>
        </p:nvSpPr>
        <p:spPr>
          <a:xfrm>
            <a:off x="4046220" y="1783080"/>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0" name="Shape 8"/>
          <p:cNvSpPr/>
          <p:nvPr/>
        </p:nvSpPr>
        <p:spPr>
          <a:xfrm>
            <a:off x="4247388" y="2080260"/>
            <a:ext cx="347472" cy="347472"/>
          </a:xfrm>
          <a:prstGeom prst="ellipse">
            <a:avLst/>
          </a:prstGeom>
          <a:solidFill>
            <a:srgbClr val="2E4DA6"/>
          </a:solidFill>
          <a:ln/>
        </p:spPr>
      </p:sp>
      <p:sp>
        <p:nvSpPr>
          <p:cNvPr id="11" name="Text 9"/>
          <p:cNvSpPr/>
          <p:nvPr/>
        </p:nvSpPr>
        <p:spPr>
          <a:xfrm>
            <a:off x="4247388" y="2080260"/>
            <a:ext cx="347472" cy="347472"/>
          </a:xfrm>
          <a:prstGeom prst="rect">
            <a:avLst/>
          </a:prstGeom>
          <a:noFill/>
          <a:ln/>
        </p:spPr>
        <p:txBody>
          <a:bodyPr wrap="square" rtlCol="0" anchor="ctr"/>
          <a:lstStyle/>
          <a:p>
            <a:pPr algn="ctr" indent="0" marL="0">
              <a:buNone/>
            </a:pPr>
            <a:endParaRPr lang="en-US" sz="1300" dirty="0"/>
          </a:p>
        </p:txBody>
      </p:sp>
      <p:sp>
        <p:nvSpPr>
          <p:cNvPr id="12" name="Text 10"/>
          <p:cNvSpPr/>
          <p:nvPr/>
        </p:nvSpPr>
        <p:spPr>
          <a:xfrm>
            <a:off x="4247388" y="2080260"/>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2</a:t>
            </a:r>
            <a:endParaRPr lang="en-US" sz="1300" dirty="0"/>
          </a:p>
        </p:txBody>
      </p:sp>
      <p:sp>
        <p:nvSpPr>
          <p:cNvPr id="13" name="Text 11"/>
          <p:cNvSpPr/>
          <p:nvPr/>
        </p:nvSpPr>
        <p:spPr>
          <a:xfrm>
            <a:off x="4732020" y="1783080"/>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Clicks</a:t>
            </a:r>
            <a:endParaRPr lang="en-US" sz="1250" dirty="0"/>
          </a:p>
        </p:txBody>
      </p:sp>
      <p:sp>
        <p:nvSpPr>
          <p:cNvPr id="14" name="Shape 12"/>
          <p:cNvSpPr/>
          <p:nvPr/>
        </p:nvSpPr>
        <p:spPr>
          <a:xfrm>
            <a:off x="457200" y="2862072"/>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5" name="Shape 13"/>
          <p:cNvSpPr/>
          <p:nvPr/>
        </p:nvSpPr>
        <p:spPr>
          <a:xfrm>
            <a:off x="658368" y="3159252"/>
            <a:ext cx="347472" cy="347472"/>
          </a:xfrm>
          <a:prstGeom prst="ellipse">
            <a:avLst/>
          </a:prstGeom>
          <a:solidFill>
            <a:srgbClr val="2E4DA6"/>
          </a:solidFill>
          <a:ln/>
        </p:spPr>
      </p:sp>
      <p:sp>
        <p:nvSpPr>
          <p:cNvPr id="16" name="Text 14"/>
          <p:cNvSpPr/>
          <p:nvPr/>
        </p:nvSpPr>
        <p:spPr>
          <a:xfrm>
            <a:off x="658368" y="3159252"/>
            <a:ext cx="347472" cy="347472"/>
          </a:xfrm>
          <a:prstGeom prst="rect">
            <a:avLst/>
          </a:prstGeom>
          <a:noFill/>
          <a:ln/>
        </p:spPr>
        <p:txBody>
          <a:bodyPr wrap="square" rtlCol="0" anchor="ctr"/>
          <a:lstStyle/>
          <a:p>
            <a:pPr algn="ctr" indent="0" marL="0">
              <a:buNone/>
            </a:pPr>
            <a:endParaRPr lang="en-US" sz="1300" dirty="0"/>
          </a:p>
        </p:txBody>
      </p:sp>
      <p:sp>
        <p:nvSpPr>
          <p:cNvPr id="17" name="Text 15"/>
          <p:cNvSpPr/>
          <p:nvPr/>
        </p:nvSpPr>
        <p:spPr>
          <a:xfrm>
            <a:off x="658368" y="3159252"/>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3</a:t>
            </a:r>
            <a:endParaRPr lang="en-US" sz="1300" dirty="0"/>
          </a:p>
        </p:txBody>
      </p:sp>
      <p:sp>
        <p:nvSpPr>
          <p:cNvPr id="18" name="Text 16"/>
          <p:cNvSpPr/>
          <p:nvPr/>
        </p:nvSpPr>
        <p:spPr>
          <a:xfrm>
            <a:off x="1143000" y="2862072"/>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Form Submissions</a:t>
            </a:r>
            <a:endParaRPr lang="en-US" sz="1250" dirty="0"/>
          </a:p>
        </p:txBody>
      </p:sp>
      <p:sp>
        <p:nvSpPr>
          <p:cNvPr id="19" name="Shape 17"/>
          <p:cNvSpPr/>
          <p:nvPr/>
        </p:nvSpPr>
        <p:spPr>
          <a:xfrm>
            <a:off x="4046220" y="2862072"/>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0" name="Shape 18"/>
          <p:cNvSpPr/>
          <p:nvPr/>
        </p:nvSpPr>
        <p:spPr>
          <a:xfrm>
            <a:off x="4247388" y="3159252"/>
            <a:ext cx="347472" cy="347472"/>
          </a:xfrm>
          <a:prstGeom prst="ellipse">
            <a:avLst/>
          </a:prstGeom>
          <a:solidFill>
            <a:srgbClr val="2E4DA6"/>
          </a:solidFill>
          <a:ln/>
        </p:spPr>
      </p:sp>
      <p:sp>
        <p:nvSpPr>
          <p:cNvPr id="21" name="Text 19"/>
          <p:cNvSpPr/>
          <p:nvPr/>
        </p:nvSpPr>
        <p:spPr>
          <a:xfrm>
            <a:off x="4247388" y="3159252"/>
            <a:ext cx="347472" cy="347472"/>
          </a:xfrm>
          <a:prstGeom prst="rect">
            <a:avLst/>
          </a:prstGeom>
          <a:noFill/>
          <a:ln/>
        </p:spPr>
        <p:txBody>
          <a:bodyPr wrap="square" rtlCol="0" anchor="ctr"/>
          <a:lstStyle/>
          <a:p>
            <a:pPr algn="ctr" indent="0" marL="0">
              <a:buNone/>
            </a:pPr>
            <a:endParaRPr lang="en-US" sz="1300" dirty="0"/>
          </a:p>
        </p:txBody>
      </p:sp>
      <p:sp>
        <p:nvSpPr>
          <p:cNvPr id="22" name="Text 20"/>
          <p:cNvSpPr/>
          <p:nvPr/>
        </p:nvSpPr>
        <p:spPr>
          <a:xfrm>
            <a:off x="4247388" y="3159252"/>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4</a:t>
            </a:r>
            <a:endParaRPr lang="en-US" sz="1300" dirty="0"/>
          </a:p>
        </p:txBody>
      </p:sp>
      <p:sp>
        <p:nvSpPr>
          <p:cNvPr id="23" name="Text 21"/>
          <p:cNvSpPr/>
          <p:nvPr/>
        </p:nvSpPr>
        <p:spPr>
          <a:xfrm>
            <a:off x="4732020" y="2862072"/>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Avg. Time on Page</a:t>
            </a:r>
            <a:endParaRPr lang="en-US" sz="1250" dirty="0"/>
          </a:p>
        </p:txBody>
      </p:sp>
      <p:sp>
        <p:nvSpPr>
          <p:cNvPr id="24" name="Shape 22"/>
          <p:cNvSpPr/>
          <p:nvPr/>
        </p:nvSpPr>
        <p:spPr>
          <a:xfrm>
            <a:off x="457200" y="3941064"/>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5" name="Shape 23"/>
          <p:cNvSpPr/>
          <p:nvPr/>
        </p:nvSpPr>
        <p:spPr>
          <a:xfrm>
            <a:off x="658368" y="4238244"/>
            <a:ext cx="347472" cy="347472"/>
          </a:xfrm>
          <a:prstGeom prst="ellipse">
            <a:avLst/>
          </a:prstGeom>
          <a:solidFill>
            <a:srgbClr val="2E4DA6"/>
          </a:solidFill>
          <a:ln/>
        </p:spPr>
      </p:sp>
      <p:sp>
        <p:nvSpPr>
          <p:cNvPr id="26" name="Text 24"/>
          <p:cNvSpPr/>
          <p:nvPr/>
        </p:nvSpPr>
        <p:spPr>
          <a:xfrm>
            <a:off x="658368" y="4238244"/>
            <a:ext cx="347472" cy="347472"/>
          </a:xfrm>
          <a:prstGeom prst="rect">
            <a:avLst/>
          </a:prstGeom>
          <a:noFill/>
          <a:ln/>
        </p:spPr>
        <p:txBody>
          <a:bodyPr wrap="square" rtlCol="0" anchor="ctr"/>
          <a:lstStyle/>
          <a:p>
            <a:pPr algn="ctr" indent="0" marL="0">
              <a:buNone/>
            </a:pPr>
            <a:endParaRPr lang="en-US" sz="1300" dirty="0"/>
          </a:p>
        </p:txBody>
      </p:sp>
      <p:sp>
        <p:nvSpPr>
          <p:cNvPr id="27" name="Text 25"/>
          <p:cNvSpPr/>
          <p:nvPr/>
        </p:nvSpPr>
        <p:spPr>
          <a:xfrm>
            <a:off x="658368" y="4238244"/>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5</a:t>
            </a:r>
            <a:endParaRPr lang="en-US" sz="1300" dirty="0"/>
          </a:p>
        </p:txBody>
      </p:sp>
      <p:sp>
        <p:nvSpPr>
          <p:cNvPr id="28" name="Text 26"/>
          <p:cNvSpPr/>
          <p:nvPr/>
        </p:nvSpPr>
        <p:spPr>
          <a:xfrm>
            <a:off x="1143000" y="3941064"/>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Bounce Rate</a:t>
            </a:r>
            <a:endParaRPr lang="en-US" sz="1250" dirty="0"/>
          </a:p>
        </p:txBody>
      </p:sp>
      <p:sp>
        <p:nvSpPr>
          <p:cNvPr id="29" name="Shape 27"/>
          <p:cNvSpPr/>
          <p:nvPr/>
        </p:nvSpPr>
        <p:spPr>
          <a:xfrm>
            <a:off x="4046220" y="3941064"/>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0" name="Shape 28"/>
          <p:cNvSpPr/>
          <p:nvPr/>
        </p:nvSpPr>
        <p:spPr>
          <a:xfrm>
            <a:off x="4247388" y="4238244"/>
            <a:ext cx="347472" cy="347472"/>
          </a:xfrm>
          <a:prstGeom prst="ellipse">
            <a:avLst/>
          </a:prstGeom>
          <a:solidFill>
            <a:srgbClr val="2E4DA6"/>
          </a:solidFill>
          <a:ln/>
        </p:spPr>
      </p:sp>
      <p:sp>
        <p:nvSpPr>
          <p:cNvPr id="31" name="Text 29"/>
          <p:cNvSpPr/>
          <p:nvPr/>
        </p:nvSpPr>
        <p:spPr>
          <a:xfrm>
            <a:off x="4247388" y="4238244"/>
            <a:ext cx="347472" cy="347472"/>
          </a:xfrm>
          <a:prstGeom prst="rect">
            <a:avLst/>
          </a:prstGeom>
          <a:noFill/>
          <a:ln/>
        </p:spPr>
        <p:txBody>
          <a:bodyPr wrap="square" rtlCol="0" anchor="ctr"/>
          <a:lstStyle/>
          <a:p>
            <a:pPr algn="ctr" indent="0" marL="0">
              <a:buNone/>
            </a:pPr>
            <a:endParaRPr lang="en-US" sz="1300" dirty="0"/>
          </a:p>
        </p:txBody>
      </p:sp>
      <p:sp>
        <p:nvSpPr>
          <p:cNvPr id="32" name="Text 30"/>
          <p:cNvSpPr/>
          <p:nvPr/>
        </p:nvSpPr>
        <p:spPr>
          <a:xfrm>
            <a:off x="4247388" y="4238244"/>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6</a:t>
            </a:r>
            <a:endParaRPr lang="en-US" sz="1300" dirty="0"/>
          </a:p>
        </p:txBody>
      </p:sp>
      <p:sp>
        <p:nvSpPr>
          <p:cNvPr id="33" name="Text 31"/>
          <p:cNvSpPr/>
          <p:nvPr/>
        </p:nvSpPr>
        <p:spPr>
          <a:xfrm>
            <a:off x="4732020" y="3941064"/>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Engagement Behaviour</a:t>
            </a:r>
            <a:endParaRPr lang="en-US" sz="1250" dirty="0"/>
          </a:p>
        </p:txBody>
      </p:sp>
      <p:sp>
        <p:nvSpPr>
          <p:cNvPr id="34" name="Shape 32"/>
          <p:cNvSpPr/>
          <p:nvPr/>
        </p:nvSpPr>
        <p:spPr>
          <a:xfrm>
            <a:off x="457200" y="5020056"/>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35" name="Shape 33"/>
          <p:cNvSpPr/>
          <p:nvPr/>
        </p:nvSpPr>
        <p:spPr>
          <a:xfrm>
            <a:off x="658368" y="5317236"/>
            <a:ext cx="347472" cy="347472"/>
          </a:xfrm>
          <a:prstGeom prst="ellipse">
            <a:avLst/>
          </a:prstGeom>
          <a:solidFill>
            <a:srgbClr val="2E4DA6"/>
          </a:solidFill>
          <a:ln/>
        </p:spPr>
      </p:sp>
      <p:sp>
        <p:nvSpPr>
          <p:cNvPr id="36" name="Text 34"/>
          <p:cNvSpPr/>
          <p:nvPr/>
        </p:nvSpPr>
        <p:spPr>
          <a:xfrm>
            <a:off x="658368" y="5317236"/>
            <a:ext cx="347472" cy="347472"/>
          </a:xfrm>
          <a:prstGeom prst="rect">
            <a:avLst/>
          </a:prstGeom>
          <a:noFill/>
          <a:ln/>
        </p:spPr>
        <p:txBody>
          <a:bodyPr wrap="square" rtlCol="0" anchor="ctr"/>
          <a:lstStyle/>
          <a:p>
            <a:pPr algn="ctr" indent="0" marL="0">
              <a:buNone/>
            </a:pPr>
            <a:endParaRPr lang="en-US" sz="1300" dirty="0"/>
          </a:p>
        </p:txBody>
      </p:sp>
      <p:sp>
        <p:nvSpPr>
          <p:cNvPr id="37" name="Text 35"/>
          <p:cNvSpPr/>
          <p:nvPr/>
        </p:nvSpPr>
        <p:spPr>
          <a:xfrm>
            <a:off x="658368" y="5317236"/>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7</a:t>
            </a:r>
            <a:endParaRPr lang="en-US" sz="1300" dirty="0"/>
          </a:p>
        </p:txBody>
      </p:sp>
      <p:sp>
        <p:nvSpPr>
          <p:cNvPr id="38" name="Text 36"/>
          <p:cNvSpPr/>
          <p:nvPr/>
        </p:nvSpPr>
        <p:spPr>
          <a:xfrm>
            <a:off x="1143000" y="5020056"/>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Heatmaps</a:t>
            </a:r>
            <a:endParaRPr lang="en-US" sz="1250" dirty="0"/>
          </a:p>
        </p:txBody>
      </p:sp>
      <p:sp>
        <p:nvSpPr>
          <p:cNvPr id="39" name="Shape 37"/>
          <p:cNvSpPr/>
          <p:nvPr/>
        </p:nvSpPr>
        <p:spPr>
          <a:xfrm>
            <a:off x="4046220" y="5020056"/>
            <a:ext cx="3360420" cy="941832"/>
          </a:xfrm>
          <a:prstGeom prst="roundRect">
            <a:avLst>
              <a:gd name="adj" fmla="val 7767"/>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0" name="Shape 38"/>
          <p:cNvSpPr/>
          <p:nvPr/>
        </p:nvSpPr>
        <p:spPr>
          <a:xfrm>
            <a:off x="4247388" y="5317236"/>
            <a:ext cx="347472" cy="347472"/>
          </a:xfrm>
          <a:prstGeom prst="ellipse">
            <a:avLst/>
          </a:prstGeom>
          <a:solidFill>
            <a:srgbClr val="2E4DA6"/>
          </a:solidFill>
          <a:ln/>
        </p:spPr>
      </p:sp>
      <p:sp>
        <p:nvSpPr>
          <p:cNvPr id="41" name="Text 39"/>
          <p:cNvSpPr/>
          <p:nvPr/>
        </p:nvSpPr>
        <p:spPr>
          <a:xfrm>
            <a:off x="4247388" y="5317236"/>
            <a:ext cx="347472" cy="347472"/>
          </a:xfrm>
          <a:prstGeom prst="rect">
            <a:avLst/>
          </a:prstGeom>
          <a:noFill/>
          <a:ln/>
        </p:spPr>
        <p:txBody>
          <a:bodyPr wrap="square" rtlCol="0" anchor="ctr"/>
          <a:lstStyle/>
          <a:p>
            <a:pPr algn="ctr" indent="0" marL="0">
              <a:buNone/>
            </a:pPr>
            <a:endParaRPr lang="en-US" sz="1300" dirty="0"/>
          </a:p>
        </p:txBody>
      </p:sp>
      <p:sp>
        <p:nvSpPr>
          <p:cNvPr id="42" name="Text 40"/>
          <p:cNvSpPr/>
          <p:nvPr/>
        </p:nvSpPr>
        <p:spPr>
          <a:xfrm>
            <a:off x="4247388" y="5317236"/>
            <a:ext cx="347472" cy="347472"/>
          </a:xfrm>
          <a:prstGeom prst="rect">
            <a:avLst/>
          </a:prstGeom>
          <a:noFill/>
          <a:ln/>
        </p:spPr>
        <p:txBody>
          <a:bodyPr wrap="square" rtlCol="0" anchor="ctr"/>
          <a:lstStyle/>
          <a:p>
            <a:pPr algn="ctr" indent="0" marL="0">
              <a:buNone/>
            </a:pPr>
            <a:r>
              <a:rPr lang="en-US" sz="1300" b="1" dirty="0">
                <a:solidFill>
                  <a:srgbClr val="FFFFFF"/>
                </a:solidFill>
                <a:latin typeface="GT America" pitchFamily="34" charset="0"/>
                <a:ea typeface="GT America" pitchFamily="34" charset="-122"/>
                <a:cs typeface="GT America" pitchFamily="34" charset="-120"/>
              </a:rPr>
              <a:t>8</a:t>
            </a:r>
            <a:endParaRPr lang="en-US" sz="1300" dirty="0"/>
          </a:p>
        </p:txBody>
      </p:sp>
      <p:sp>
        <p:nvSpPr>
          <p:cNvPr id="43" name="Text 41"/>
          <p:cNvSpPr/>
          <p:nvPr/>
        </p:nvSpPr>
        <p:spPr>
          <a:xfrm>
            <a:off x="4732020" y="5020056"/>
            <a:ext cx="2491740" cy="941832"/>
          </a:xfrm>
          <a:prstGeom prst="rect">
            <a:avLst/>
          </a:prstGeom>
          <a:noFill/>
          <a:ln/>
        </p:spPr>
        <p:txBody>
          <a:bodyPr wrap="square" rtlCol="0" anchor="ctr"/>
          <a:lstStyle/>
          <a:p>
            <a:pPr indent="0" marL="0">
              <a:lnSpc>
                <a:spcPct val="105000"/>
              </a:lnSpc>
              <a:buNone/>
            </a:pPr>
            <a:r>
              <a:rPr lang="en-US" sz="1250" b="1" dirty="0">
                <a:solidFill>
                  <a:srgbClr val="0A1264"/>
                </a:solidFill>
                <a:latin typeface="GT America" pitchFamily="34" charset="0"/>
                <a:ea typeface="GT America" pitchFamily="34" charset="-122"/>
                <a:cs typeface="GT America" pitchFamily="34" charset="-120"/>
              </a:rPr>
              <a:t>Attribution Analysis</a:t>
            </a:r>
            <a:endParaRPr lang="en-US" sz="1250" dirty="0"/>
          </a:p>
        </p:txBody>
      </p:sp>
      <p:sp>
        <p:nvSpPr>
          <p:cNvPr id="44" name="Shape 42"/>
          <p:cNvSpPr/>
          <p:nvPr/>
        </p:nvSpPr>
        <p:spPr>
          <a:xfrm>
            <a:off x="7726680" y="1783080"/>
            <a:ext cx="4005072" cy="4617720"/>
          </a:xfrm>
          <a:prstGeom prst="roundRect">
            <a:avLst>
              <a:gd name="adj" fmla="val 1826"/>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45" name="Text 43"/>
          <p:cNvSpPr/>
          <p:nvPr/>
        </p:nvSpPr>
        <p:spPr>
          <a:xfrm>
            <a:off x="8001000" y="2020824"/>
            <a:ext cx="3456432" cy="274320"/>
          </a:xfrm>
          <a:prstGeom prst="rect">
            <a:avLst/>
          </a:prstGeom>
          <a:noFill/>
          <a:ln/>
        </p:spPr>
        <p:txBody>
          <a:bodyPr wrap="square" rtlCol="0" anchor="ctr"/>
          <a:lstStyle/>
          <a:p>
            <a:pPr indent="0" marL="0">
              <a:buNone/>
            </a:pPr>
            <a:r>
              <a:rPr lang="en-US" sz="1200" b="1" spc="120" kern="0" dirty="0">
                <a:solidFill>
                  <a:srgbClr val="0057E7"/>
                </a:solidFill>
                <a:latin typeface="GT America" pitchFamily="34" charset="0"/>
                <a:ea typeface="GT America" pitchFamily="34" charset="-122"/>
                <a:cs typeface="GT America" pitchFamily="34" charset="-120"/>
              </a:rPr>
              <a:t>INSIGHT → ACTION</a:t>
            </a:r>
            <a:endParaRPr lang="en-US" sz="1200" dirty="0"/>
          </a:p>
        </p:txBody>
      </p:sp>
      <p:sp>
        <p:nvSpPr>
          <p:cNvPr id="46" name="Text 44"/>
          <p:cNvSpPr/>
          <p:nvPr/>
        </p:nvSpPr>
        <p:spPr>
          <a:xfrm>
            <a:off x="8001000" y="2496312"/>
            <a:ext cx="3456432" cy="201168"/>
          </a:xfrm>
          <a:prstGeom prst="rect">
            <a:avLst/>
          </a:prstGeom>
          <a:noFill/>
          <a:ln/>
        </p:spPr>
        <p:txBody>
          <a:bodyPr wrap="square" rtlCol="0" anchor="ctr"/>
          <a:lstStyle/>
          <a:p>
            <a:pPr indent="0" marL="0">
              <a:buNone/>
            </a:pPr>
            <a:r>
              <a:rPr lang="en-US" sz="900" b="1" spc="100" kern="0" dirty="0">
                <a:solidFill>
                  <a:srgbClr val="6E93E0"/>
                </a:solidFill>
                <a:latin typeface="GT America" pitchFamily="34" charset="0"/>
                <a:ea typeface="GT America" pitchFamily="34" charset="-122"/>
                <a:cs typeface="GT America" pitchFamily="34" charset="-120"/>
              </a:rPr>
              <a:t>INSIGHT</a:t>
            </a:r>
            <a:endParaRPr lang="en-US" sz="900" dirty="0"/>
          </a:p>
        </p:txBody>
      </p:sp>
      <p:sp>
        <p:nvSpPr>
          <p:cNvPr id="47" name="Text 45"/>
          <p:cNvSpPr/>
          <p:nvPr/>
        </p:nvSpPr>
        <p:spPr>
          <a:xfrm>
            <a:off x="8001000" y="2679192"/>
            <a:ext cx="3456432" cy="502920"/>
          </a:xfrm>
          <a:prstGeom prst="rect">
            <a:avLst/>
          </a:prstGeom>
          <a:noFill/>
          <a:ln/>
        </p:spPr>
        <p:txBody>
          <a:bodyPr wrap="square" rtlCol="0" anchor="ctr"/>
          <a:lstStyle/>
          <a:p>
            <a:pPr indent="0" marL="0">
              <a:lnSpc>
                <a:spcPct val="112000"/>
              </a:lnSpc>
              <a:buNone/>
            </a:pPr>
            <a:r>
              <a:rPr lang="en-US" sz="1000" dirty="0">
                <a:solidFill>
                  <a:srgbClr val="FFFFFF"/>
                </a:solidFill>
                <a:latin typeface="GT America" pitchFamily="34" charset="0"/>
                <a:ea typeface="GT America" pitchFamily="34" charset="-122"/>
                <a:cs typeface="GT America" pitchFamily="34" charset="-120"/>
              </a:rPr>
              <a:t>Heatmap analysis identified drop-off points mid-page</a:t>
            </a:r>
            <a:endParaRPr lang="en-US" sz="1000" dirty="0"/>
          </a:p>
        </p:txBody>
      </p:sp>
      <p:sp>
        <p:nvSpPr>
          <p:cNvPr id="48" name="Text 46"/>
          <p:cNvSpPr/>
          <p:nvPr/>
        </p:nvSpPr>
        <p:spPr>
          <a:xfrm>
            <a:off x="8001000" y="3182112"/>
            <a:ext cx="3456432" cy="201168"/>
          </a:xfrm>
          <a:prstGeom prst="rect">
            <a:avLst/>
          </a:prstGeom>
          <a:noFill/>
          <a:ln/>
        </p:spPr>
        <p:txBody>
          <a:bodyPr wrap="square" rtlCol="0" anchor="ctr"/>
          <a:lstStyle/>
          <a:p>
            <a:pPr indent="0" marL="0">
              <a:buNone/>
            </a:pPr>
            <a:r>
              <a:rPr lang="en-US" sz="900" b="1" spc="100" kern="0" dirty="0">
                <a:solidFill>
                  <a:srgbClr val="0057E7"/>
                </a:solidFill>
                <a:latin typeface="GT America" pitchFamily="34" charset="0"/>
                <a:ea typeface="GT America" pitchFamily="34" charset="-122"/>
                <a:cs typeface="GT America" pitchFamily="34" charset="-120"/>
              </a:rPr>
              <a:t>ACTION</a:t>
            </a:r>
            <a:endParaRPr lang="en-US" sz="900" dirty="0"/>
          </a:p>
        </p:txBody>
      </p:sp>
      <p:sp>
        <p:nvSpPr>
          <p:cNvPr id="49" name="Text 47"/>
          <p:cNvSpPr/>
          <p:nvPr/>
        </p:nvSpPr>
        <p:spPr>
          <a:xfrm>
            <a:off x="8001000" y="3364992"/>
            <a:ext cx="3456432" cy="411480"/>
          </a:xfrm>
          <a:prstGeom prst="rect">
            <a:avLst/>
          </a:prstGeom>
          <a:noFill/>
          <a:ln/>
        </p:spPr>
        <p:txBody>
          <a:bodyPr wrap="square" rtlCol="0" anchor="ctr"/>
          <a:lstStyle/>
          <a:p>
            <a:pPr indent="0" marL="0">
              <a:lnSpc>
                <a:spcPct val="112000"/>
              </a:lnSpc>
              <a:buNone/>
            </a:pPr>
            <a:r>
              <a:rPr lang="en-US" sz="1000" i="1" dirty="0">
                <a:solidFill>
                  <a:srgbClr val="9FB0CC"/>
                </a:solidFill>
                <a:latin typeface="GT America" pitchFamily="34" charset="0"/>
                <a:ea typeface="GT America" pitchFamily="34" charset="-122"/>
                <a:cs typeface="GT America" pitchFamily="34" charset="-120"/>
              </a:rPr>
              <a:t>Informed page restructuring recommendations</a:t>
            </a:r>
            <a:endParaRPr lang="en-US" sz="1000" dirty="0"/>
          </a:p>
        </p:txBody>
      </p:sp>
      <p:sp>
        <p:nvSpPr>
          <p:cNvPr id="50" name="Text 48"/>
          <p:cNvSpPr/>
          <p:nvPr/>
        </p:nvSpPr>
        <p:spPr>
          <a:xfrm>
            <a:off x="8001000" y="3776472"/>
            <a:ext cx="3456432" cy="201168"/>
          </a:xfrm>
          <a:prstGeom prst="rect">
            <a:avLst/>
          </a:prstGeom>
          <a:noFill/>
          <a:ln/>
        </p:spPr>
        <p:txBody>
          <a:bodyPr wrap="square" rtlCol="0" anchor="ctr"/>
          <a:lstStyle/>
          <a:p>
            <a:pPr indent="0" marL="0">
              <a:buNone/>
            </a:pPr>
            <a:r>
              <a:rPr lang="en-US" sz="900" b="1" spc="100" kern="0" dirty="0">
                <a:solidFill>
                  <a:srgbClr val="6E93E0"/>
                </a:solidFill>
                <a:latin typeface="GT America" pitchFamily="34" charset="0"/>
                <a:ea typeface="GT America" pitchFamily="34" charset="-122"/>
                <a:cs typeface="GT America" pitchFamily="34" charset="-120"/>
              </a:rPr>
              <a:t>INSIGHT</a:t>
            </a:r>
            <a:endParaRPr lang="en-US" sz="900" dirty="0"/>
          </a:p>
        </p:txBody>
      </p:sp>
      <p:sp>
        <p:nvSpPr>
          <p:cNvPr id="51" name="Text 49"/>
          <p:cNvSpPr/>
          <p:nvPr/>
        </p:nvSpPr>
        <p:spPr>
          <a:xfrm>
            <a:off x="8001000" y="3959352"/>
            <a:ext cx="3456432" cy="502920"/>
          </a:xfrm>
          <a:prstGeom prst="rect">
            <a:avLst/>
          </a:prstGeom>
          <a:noFill/>
          <a:ln/>
        </p:spPr>
        <p:txBody>
          <a:bodyPr wrap="square" rtlCol="0" anchor="ctr"/>
          <a:lstStyle/>
          <a:p>
            <a:pPr indent="0" marL="0">
              <a:lnSpc>
                <a:spcPct val="112000"/>
              </a:lnSpc>
              <a:buNone/>
            </a:pPr>
            <a:r>
              <a:rPr lang="en-US" sz="1000" dirty="0">
                <a:solidFill>
                  <a:srgbClr val="FFFFFF"/>
                </a:solidFill>
                <a:latin typeface="GT America" pitchFamily="34" charset="0"/>
                <a:ea typeface="GT America" pitchFamily="34" charset="-122"/>
                <a:cs typeface="GT America" pitchFamily="34" charset="-120"/>
              </a:rPr>
              <a:t>Attribution analysis linked engagement to specific content types</a:t>
            </a:r>
            <a:endParaRPr lang="en-US" sz="1000" dirty="0"/>
          </a:p>
        </p:txBody>
      </p:sp>
      <p:sp>
        <p:nvSpPr>
          <p:cNvPr id="52" name="Text 50"/>
          <p:cNvSpPr/>
          <p:nvPr/>
        </p:nvSpPr>
        <p:spPr>
          <a:xfrm>
            <a:off x="8001000" y="4462272"/>
            <a:ext cx="3456432" cy="201168"/>
          </a:xfrm>
          <a:prstGeom prst="rect">
            <a:avLst/>
          </a:prstGeom>
          <a:noFill/>
          <a:ln/>
        </p:spPr>
        <p:txBody>
          <a:bodyPr wrap="square" rtlCol="0" anchor="ctr"/>
          <a:lstStyle/>
          <a:p>
            <a:pPr indent="0" marL="0">
              <a:buNone/>
            </a:pPr>
            <a:r>
              <a:rPr lang="en-US" sz="900" b="1" spc="100" kern="0" dirty="0">
                <a:solidFill>
                  <a:srgbClr val="0057E7"/>
                </a:solidFill>
                <a:latin typeface="GT America" pitchFamily="34" charset="0"/>
                <a:ea typeface="GT America" pitchFamily="34" charset="-122"/>
                <a:cs typeface="GT America" pitchFamily="34" charset="-120"/>
              </a:rPr>
              <a:t>ACTION</a:t>
            </a:r>
            <a:endParaRPr lang="en-US" sz="900" dirty="0"/>
          </a:p>
        </p:txBody>
      </p:sp>
      <p:sp>
        <p:nvSpPr>
          <p:cNvPr id="53" name="Text 51"/>
          <p:cNvSpPr/>
          <p:nvPr/>
        </p:nvSpPr>
        <p:spPr>
          <a:xfrm>
            <a:off x="8001000" y="4645152"/>
            <a:ext cx="3456432" cy="411480"/>
          </a:xfrm>
          <a:prstGeom prst="rect">
            <a:avLst/>
          </a:prstGeom>
          <a:noFill/>
          <a:ln/>
        </p:spPr>
        <p:txBody>
          <a:bodyPr wrap="square" rtlCol="0" anchor="ctr"/>
          <a:lstStyle/>
          <a:p>
            <a:pPr indent="0" marL="0">
              <a:lnSpc>
                <a:spcPct val="112000"/>
              </a:lnSpc>
              <a:buNone/>
            </a:pPr>
            <a:r>
              <a:rPr lang="en-US" sz="1000" i="1" dirty="0">
                <a:solidFill>
                  <a:srgbClr val="9FB0CC"/>
                </a:solidFill>
                <a:latin typeface="GT America" pitchFamily="34" charset="0"/>
                <a:ea typeface="GT America" pitchFamily="34" charset="-122"/>
                <a:cs typeface="GT America" pitchFamily="34" charset="-120"/>
              </a:rPr>
              <a:t>Prioritized higher-performing content formats</a:t>
            </a:r>
            <a:endParaRPr lang="en-US" sz="1000" dirty="0"/>
          </a:p>
        </p:txBody>
      </p:sp>
      <p:sp>
        <p:nvSpPr>
          <p:cNvPr id="54" name="Text 52"/>
          <p:cNvSpPr/>
          <p:nvPr/>
        </p:nvSpPr>
        <p:spPr>
          <a:xfrm>
            <a:off x="8001000" y="5056632"/>
            <a:ext cx="3456432" cy="201168"/>
          </a:xfrm>
          <a:prstGeom prst="rect">
            <a:avLst/>
          </a:prstGeom>
          <a:noFill/>
          <a:ln/>
        </p:spPr>
        <p:txBody>
          <a:bodyPr wrap="square" rtlCol="0" anchor="ctr"/>
          <a:lstStyle/>
          <a:p>
            <a:pPr indent="0" marL="0">
              <a:buNone/>
            </a:pPr>
            <a:r>
              <a:rPr lang="en-US" sz="900" b="1" spc="100" kern="0" dirty="0">
                <a:solidFill>
                  <a:srgbClr val="6E93E0"/>
                </a:solidFill>
                <a:latin typeface="GT America" pitchFamily="34" charset="0"/>
                <a:ea typeface="GT America" pitchFamily="34" charset="-122"/>
                <a:cs typeface="GT America" pitchFamily="34" charset="-120"/>
              </a:rPr>
              <a:t>INSIGHT</a:t>
            </a:r>
            <a:endParaRPr lang="en-US" sz="900" dirty="0"/>
          </a:p>
        </p:txBody>
      </p:sp>
      <p:sp>
        <p:nvSpPr>
          <p:cNvPr id="55" name="Text 53"/>
          <p:cNvSpPr/>
          <p:nvPr/>
        </p:nvSpPr>
        <p:spPr>
          <a:xfrm>
            <a:off x="8001000" y="5239512"/>
            <a:ext cx="3456432" cy="502920"/>
          </a:xfrm>
          <a:prstGeom prst="rect">
            <a:avLst/>
          </a:prstGeom>
          <a:noFill/>
          <a:ln/>
        </p:spPr>
        <p:txBody>
          <a:bodyPr wrap="square" rtlCol="0" anchor="ctr"/>
          <a:lstStyle/>
          <a:p>
            <a:pPr indent="0" marL="0">
              <a:lnSpc>
                <a:spcPct val="112000"/>
              </a:lnSpc>
              <a:buNone/>
            </a:pPr>
            <a:r>
              <a:rPr lang="en-US" sz="1000" dirty="0">
                <a:solidFill>
                  <a:srgbClr val="FFFFFF"/>
                </a:solidFill>
                <a:latin typeface="GT America" pitchFamily="34" charset="0"/>
                <a:ea typeface="GT America" pitchFamily="34" charset="-122"/>
                <a:cs typeface="GT America" pitchFamily="34" charset="-120"/>
              </a:rPr>
              <a:t>Bounce rate patterns flagged weaker landing experiences</a:t>
            </a:r>
            <a:endParaRPr lang="en-US" sz="1000" dirty="0"/>
          </a:p>
        </p:txBody>
      </p:sp>
      <p:sp>
        <p:nvSpPr>
          <p:cNvPr id="56" name="Text 54"/>
          <p:cNvSpPr/>
          <p:nvPr/>
        </p:nvSpPr>
        <p:spPr>
          <a:xfrm>
            <a:off x="8001000" y="5742432"/>
            <a:ext cx="3456432" cy="201168"/>
          </a:xfrm>
          <a:prstGeom prst="rect">
            <a:avLst/>
          </a:prstGeom>
          <a:noFill/>
          <a:ln/>
        </p:spPr>
        <p:txBody>
          <a:bodyPr wrap="square" rtlCol="0" anchor="ctr"/>
          <a:lstStyle/>
          <a:p>
            <a:pPr indent="0" marL="0">
              <a:buNone/>
            </a:pPr>
            <a:r>
              <a:rPr lang="en-US" sz="900" b="1" spc="100" kern="0" dirty="0">
                <a:solidFill>
                  <a:srgbClr val="0057E7"/>
                </a:solidFill>
                <a:latin typeface="GT America" pitchFamily="34" charset="0"/>
                <a:ea typeface="GT America" pitchFamily="34" charset="-122"/>
                <a:cs typeface="GT America" pitchFamily="34" charset="-120"/>
              </a:rPr>
              <a:t>ACTION</a:t>
            </a:r>
            <a:endParaRPr lang="en-US" sz="900" dirty="0"/>
          </a:p>
        </p:txBody>
      </p:sp>
      <p:sp>
        <p:nvSpPr>
          <p:cNvPr id="57" name="Text 55"/>
          <p:cNvSpPr/>
          <p:nvPr/>
        </p:nvSpPr>
        <p:spPr>
          <a:xfrm>
            <a:off x="8001000" y="5925312"/>
            <a:ext cx="3456432" cy="411480"/>
          </a:xfrm>
          <a:prstGeom prst="rect">
            <a:avLst/>
          </a:prstGeom>
          <a:noFill/>
          <a:ln/>
        </p:spPr>
        <p:txBody>
          <a:bodyPr wrap="square" rtlCol="0" anchor="ctr"/>
          <a:lstStyle/>
          <a:p>
            <a:pPr indent="0" marL="0">
              <a:lnSpc>
                <a:spcPct val="112000"/>
              </a:lnSpc>
              <a:buNone/>
            </a:pPr>
            <a:r>
              <a:rPr lang="en-US" sz="1000" i="1" dirty="0">
                <a:solidFill>
                  <a:srgbClr val="9FB0CC"/>
                </a:solidFill>
                <a:latin typeface="GT America" pitchFamily="34" charset="0"/>
                <a:ea typeface="GT America" pitchFamily="34" charset="-122"/>
                <a:cs typeface="GT America" pitchFamily="34" charset="-120"/>
              </a:rPr>
              <a:t>Supported targeted messaging and layout refinements</a:t>
            </a:r>
            <a:endParaRPr lang="en-US" sz="1000" dirty="0"/>
          </a:p>
        </p:txBody>
      </p:sp>
      <p:sp>
        <p:nvSpPr>
          <p:cNvPr id="58" name="Text 56"/>
          <p:cNvSpPr/>
          <p:nvPr/>
        </p:nvSpPr>
        <p:spPr>
          <a:xfrm>
            <a:off x="457200" y="6144768"/>
            <a:ext cx="6949440" cy="274320"/>
          </a:xfrm>
          <a:prstGeom prst="rect">
            <a:avLst/>
          </a:prstGeom>
          <a:noFill/>
          <a:ln/>
        </p:spPr>
        <p:txBody>
          <a:bodyPr wrap="square" rtlCol="0" anchor="ctr"/>
          <a:lstStyle/>
          <a:p>
            <a:pPr algn="l" indent="0" marL="0">
              <a:buNone/>
            </a:pPr>
            <a:r>
              <a:rPr lang="en-US" sz="1000" i="1" dirty="0">
                <a:solidFill>
                  <a:srgbClr val="5B6472"/>
                </a:solidFill>
                <a:latin typeface="GT America" pitchFamily="34" charset="0"/>
                <a:ea typeface="GT America" pitchFamily="34" charset="-122"/>
                <a:cs typeface="GT America" pitchFamily="34" charset="-120"/>
              </a:rPr>
              <a:t>Illustrative insight-to-action pattern — no specific metric values are shown or implied.</a:t>
            </a:r>
            <a:endParaRPr lang="en-US" sz="1000" dirty="0"/>
          </a:p>
        </p:txBody>
      </p:sp>
      <p:sp>
        <p:nvSpPr>
          <p:cNvPr id="59" name="Text 57"/>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WEBSITE ANALYTICS</a:t>
            </a:r>
            <a:endParaRPr lang="en-US" sz="900" dirty="0"/>
          </a:p>
        </p:txBody>
      </p:sp>
      <p:sp>
        <p:nvSpPr>
          <p:cNvPr id="60" name="Text 58"/>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18 / 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SALES ENABLEMENT</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Marketing ↔ Sales Alignment</a:t>
            </a:r>
            <a:endParaRPr lang="en-US" sz="2800" dirty="0"/>
          </a:p>
        </p:txBody>
      </p:sp>
      <p:sp>
        <p:nvSpPr>
          <p:cNvPr id="4" name="Shape 2"/>
          <p:cNvSpPr/>
          <p:nvPr/>
        </p:nvSpPr>
        <p:spPr>
          <a:xfrm>
            <a:off x="457200" y="1920240"/>
            <a:ext cx="4937760" cy="3977640"/>
          </a:xfrm>
          <a:prstGeom prst="roundRect">
            <a:avLst>
              <a:gd name="adj" fmla="val 1839"/>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777240" y="2194560"/>
            <a:ext cx="4297680" cy="320040"/>
          </a:xfrm>
          <a:prstGeom prst="rect">
            <a:avLst/>
          </a:prstGeom>
          <a:noFill/>
          <a:ln/>
        </p:spPr>
        <p:txBody>
          <a:bodyPr wrap="square" rtlCol="0" anchor="ctr"/>
          <a:lstStyle/>
          <a:p>
            <a:pPr indent="0" marL="0">
              <a:buNone/>
            </a:pPr>
            <a:r>
              <a:rPr lang="en-US" sz="1300" b="1" spc="100" kern="0" dirty="0">
                <a:solidFill>
                  <a:srgbClr val="0057E7"/>
                </a:solidFill>
                <a:latin typeface="GT America" pitchFamily="34" charset="0"/>
                <a:ea typeface="GT America" pitchFamily="34" charset="-122"/>
                <a:cs typeface="GT America" pitchFamily="34" charset="-120"/>
              </a:rPr>
              <a:t>MARKETING PROVIDES</a:t>
            </a:r>
            <a:endParaRPr lang="en-US" sz="1300" dirty="0"/>
          </a:p>
        </p:txBody>
      </p:sp>
      <p:sp>
        <p:nvSpPr>
          <p:cNvPr id="6" name="Shape 4"/>
          <p:cNvSpPr/>
          <p:nvPr/>
        </p:nvSpPr>
        <p:spPr>
          <a:xfrm>
            <a:off x="777240" y="2825496"/>
            <a:ext cx="64008" cy="64008"/>
          </a:xfrm>
          <a:prstGeom prst="ellipse">
            <a:avLst/>
          </a:prstGeom>
          <a:solidFill>
            <a:srgbClr val="0057E7"/>
          </a:solidFill>
          <a:ln/>
        </p:spPr>
      </p:sp>
      <p:sp>
        <p:nvSpPr>
          <p:cNvPr id="7" name="Text 5"/>
          <p:cNvSpPr/>
          <p:nvPr/>
        </p:nvSpPr>
        <p:spPr>
          <a:xfrm>
            <a:off x="978408" y="2697480"/>
            <a:ext cx="4096512" cy="585216"/>
          </a:xfrm>
          <a:prstGeom prst="rect">
            <a:avLst/>
          </a:prstGeom>
          <a:noFill/>
          <a:ln/>
        </p:spPr>
        <p:txBody>
          <a:bodyPr wrap="square" rtlCol="0" anchor="t"/>
          <a:lstStyle/>
          <a:p>
            <a:pPr indent="0" marL="0">
              <a:lnSpc>
                <a:spcPct val="105000"/>
              </a:lnSpc>
              <a:buNone/>
            </a:pPr>
            <a:r>
              <a:rPr lang="en-US" sz="1300" dirty="0">
                <a:solidFill>
                  <a:srgbClr val="E7ECF6"/>
                </a:solidFill>
                <a:latin typeface="GT America" pitchFamily="34" charset="0"/>
                <a:ea typeface="GT America" pitchFamily="34" charset="-122"/>
                <a:cs typeface="GT America" pitchFamily="34" charset="-120"/>
              </a:rPr>
              <a:t>Sales plays aligned to portfolio positioning</a:t>
            </a:r>
            <a:endParaRPr lang="en-US" sz="1300" dirty="0"/>
          </a:p>
        </p:txBody>
      </p:sp>
      <p:sp>
        <p:nvSpPr>
          <p:cNvPr id="8" name="Shape 6"/>
          <p:cNvSpPr/>
          <p:nvPr/>
        </p:nvSpPr>
        <p:spPr>
          <a:xfrm>
            <a:off x="777240" y="3392424"/>
            <a:ext cx="64008" cy="64008"/>
          </a:xfrm>
          <a:prstGeom prst="ellipse">
            <a:avLst/>
          </a:prstGeom>
          <a:solidFill>
            <a:srgbClr val="0057E7"/>
          </a:solidFill>
          <a:ln/>
        </p:spPr>
      </p:sp>
      <p:sp>
        <p:nvSpPr>
          <p:cNvPr id="9" name="Text 7"/>
          <p:cNvSpPr/>
          <p:nvPr/>
        </p:nvSpPr>
        <p:spPr>
          <a:xfrm>
            <a:off x="978408" y="3264408"/>
            <a:ext cx="4096512" cy="585216"/>
          </a:xfrm>
          <a:prstGeom prst="rect">
            <a:avLst/>
          </a:prstGeom>
          <a:noFill/>
          <a:ln/>
        </p:spPr>
        <p:txBody>
          <a:bodyPr wrap="square" rtlCol="0" anchor="t"/>
          <a:lstStyle/>
          <a:p>
            <a:pPr indent="0" marL="0">
              <a:lnSpc>
                <a:spcPct val="105000"/>
              </a:lnSpc>
              <a:buNone/>
            </a:pPr>
            <a:r>
              <a:rPr lang="en-US" sz="1300" dirty="0">
                <a:solidFill>
                  <a:srgbClr val="E7ECF6"/>
                </a:solidFill>
                <a:latin typeface="GT America" pitchFamily="34" charset="0"/>
                <a:ea typeface="GT America" pitchFamily="34" charset="-122"/>
                <a:cs typeface="GT America" pitchFamily="34" charset="-120"/>
              </a:rPr>
              <a:t>Weekly sales newsletters on marketing activity</a:t>
            </a:r>
            <a:endParaRPr lang="en-US" sz="1300" dirty="0"/>
          </a:p>
        </p:txBody>
      </p:sp>
      <p:sp>
        <p:nvSpPr>
          <p:cNvPr id="10" name="Shape 8"/>
          <p:cNvSpPr/>
          <p:nvPr/>
        </p:nvSpPr>
        <p:spPr>
          <a:xfrm>
            <a:off x="777240" y="3959352"/>
            <a:ext cx="64008" cy="64008"/>
          </a:xfrm>
          <a:prstGeom prst="ellipse">
            <a:avLst/>
          </a:prstGeom>
          <a:solidFill>
            <a:srgbClr val="0057E7"/>
          </a:solidFill>
          <a:ln/>
        </p:spPr>
      </p:sp>
      <p:sp>
        <p:nvSpPr>
          <p:cNvPr id="11" name="Text 9"/>
          <p:cNvSpPr/>
          <p:nvPr/>
        </p:nvSpPr>
        <p:spPr>
          <a:xfrm>
            <a:off x="978408" y="3831336"/>
            <a:ext cx="4096512" cy="585216"/>
          </a:xfrm>
          <a:prstGeom prst="rect">
            <a:avLst/>
          </a:prstGeom>
          <a:noFill/>
          <a:ln/>
        </p:spPr>
        <p:txBody>
          <a:bodyPr wrap="square" rtlCol="0" anchor="t"/>
          <a:lstStyle/>
          <a:p>
            <a:pPr indent="0" marL="0">
              <a:lnSpc>
                <a:spcPct val="105000"/>
              </a:lnSpc>
              <a:buNone/>
            </a:pPr>
            <a:r>
              <a:rPr lang="en-US" sz="1300" dirty="0">
                <a:solidFill>
                  <a:srgbClr val="E7ECF6"/>
                </a:solidFill>
                <a:latin typeface="GT America" pitchFamily="34" charset="0"/>
                <a:ea typeface="GT America" pitchFamily="34" charset="-122"/>
                <a:cs typeface="GT America" pitchFamily="34" charset="-120"/>
              </a:rPr>
              <a:t>HighSpot campaign pages</a:t>
            </a:r>
            <a:endParaRPr lang="en-US" sz="1300" dirty="0"/>
          </a:p>
        </p:txBody>
      </p:sp>
      <p:sp>
        <p:nvSpPr>
          <p:cNvPr id="12" name="Shape 10"/>
          <p:cNvSpPr/>
          <p:nvPr/>
        </p:nvSpPr>
        <p:spPr>
          <a:xfrm>
            <a:off x="777240" y="4526280"/>
            <a:ext cx="64008" cy="64008"/>
          </a:xfrm>
          <a:prstGeom prst="ellipse">
            <a:avLst/>
          </a:prstGeom>
          <a:solidFill>
            <a:srgbClr val="0057E7"/>
          </a:solidFill>
          <a:ln/>
        </p:spPr>
      </p:sp>
      <p:sp>
        <p:nvSpPr>
          <p:cNvPr id="13" name="Text 11"/>
          <p:cNvSpPr/>
          <p:nvPr/>
        </p:nvSpPr>
        <p:spPr>
          <a:xfrm>
            <a:off x="978408" y="4398264"/>
            <a:ext cx="4096512" cy="585216"/>
          </a:xfrm>
          <a:prstGeom prst="rect">
            <a:avLst/>
          </a:prstGeom>
          <a:noFill/>
          <a:ln/>
        </p:spPr>
        <p:txBody>
          <a:bodyPr wrap="square" rtlCol="0" anchor="t"/>
          <a:lstStyle/>
          <a:p>
            <a:pPr indent="0" marL="0">
              <a:lnSpc>
                <a:spcPct val="105000"/>
              </a:lnSpc>
              <a:buNone/>
            </a:pPr>
            <a:r>
              <a:rPr lang="en-US" sz="1300" dirty="0">
                <a:solidFill>
                  <a:srgbClr val="E7ECF6"/>
                </a:solidFill>
                <a:latin typeface="GT America" pitchFamily="34" charset="0"/>
                <a:ea typeface="GT America" pitchFamily="34" charset="-122"/>
                <a:cs typeface="GT America" pitchFamily="34" charset="-120"/>
              </a:rPr>
              <a:t>Feature grids and battle cards</a:t>
            </a:r>
            <a:endParaRPr lang="en-US" sz="1300" dirty="0"/>
          </a:p>
        </p:txBody>
      </p:sp>
      <p:sp>
        <p:nvSpPr>
          <p:cNvPr id="14" name="Shape 12"/>
          <p:cNvSpPr/>
          <p:nvPr/>
        </p:nvSpPr>
        <p:spPr>
          <a:xfrm>
            <a:off x="777240" y="5093208"/>
            <a:ext cx="64008" cy="64008"/>
          </a:xfrm>
          <a:prstGeom prst="ellipse">
            <a:avLst/>
          </a:prstGeom>
          <a:solidFill>
            <a:srgbClr val="0057E7"/>
          </a:solidFill>
          <a:ln/>
        </p:spPr>
      </p:sp>
      <p:sp>
        <p:nvSpPr>
          <p:cNvPr id="15" name="Text 13"/>
          <p:cNvSpPr/>
          <p:nvPr/>
        </p:nvSpPr>
        <p:spPr>
          <a:xfrm>
            <a:off x="978408" y="4965192"/>
            <a:ext cx="4096512" cy="585216"/>
          </a:xfrm>
          <a:prstGeom prst="rect">
            <a:avLst/>
          </a:prstGeom>
          <a:noFill/>
          <a:ln/>
        </p:spPr>
        <p:txBody>
          <a:bodyPr wrap="square" rtlCol="0" anchor="t"/>
          <a:lstStyle/>
          <a:p>
            <a:pPr indent="0" marL="0">
              <a:lnSpc>
                <a:spcPct val="105000"/>
              </a:lnSpc>
              <a:buNone/>
            </a:pPr>
            <a:r>
              <a:rPr lang="en-US" sz="1300" dirty="0">
                <a:solidFill>
                  <a:srgbClr val="E7ECF6"/>
                </a:solidFill>
                <a:latin typeface="GT America" pitchFamily="34" charset="0"/>
                <a:ea typeface="GT America" pitchFamily="34" charset="-122"/>
                <a:cs typeface="GT America" pitchFamily="34" charset="-120"/>
              </a:rPr>
              <a:t>Competitive analysis</a:t>
            </a:r>
            <a:endParaRPr lang="en-US" sz="1300" dirty="0"/>
          </a:p>
        </p:txBody>
      </p:sp>
      <p:sp>
        <p:nvSpPr>
          <p:cNvPr id="16" name="Shape 14"/>
          <p:cNvSpPr/>
          <p:nvPr/>
        </p:nvSpPr>
        <p:spPr>
          <a:xfrm>
            <a:off x="6766560" y="1920240"/>
            <a:ext cx="4937760" cy="3977640"/>
          </a:xfrm>
          <a:prstGeom prst="roundRect">
            <a:avLst>
              <a:gd name="adj" fmla="val 1839"/>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7086600" y="2194560"/>
            <a:ext cx="4297680" cy="320040"/>
          </a:xfrm>
          <a:prstGeom prst="rect">
            <a:avLst/>
          </a:prstGeom>
          <a:noFill/>
          <a:ln/>
        </p:spPr>
        <p:txBody>
          <a:bodyPr wrap="square" rtlCol="0" anchor="ctr"/>
          <a:lstStyle/>
          <a:p>
            <a:pPr indent="0" marL="0">
              <a:buNone/>
            </a:pPr>
            <a:r>
              <a:rPr lang="en-US" sz="1300" b="1" spc="100" kern="0" dirty="0">
                <a:solidFill>
                  <a:srgbClr val="2E4DA6"/>
                </a:solidFill>
                <a:latin typeface="GT America" pitchFamily="34" charset="0"/>
                <a:ea typeface="GT America" pitchFamily="34" charset="-122"/>
                <a:cs typeface="GT America" pitchFamily="34" charset="-120"/>
              </a:rPr>
              <a:t>SALES CONTEXT RETURNED</a:t>
            </a:r>
            <a:endParaRPr lang="en-US" sz="1300" dirty="0"/>
          </a:p>
        </p:txBody>
      </p:sp>
      <p:sp>
        <p:nvSpPr>
          <p:cNvPr id="18" name="Shape 16"/>
          <p:cNvSpPr/>
          <p:nvPr/>
        </p:nvSpPr>
        <p:spPr>
          <a:xfrm>
            <a:off x="7086600" y="2825496"/>
            <a:ext cx="64008" cy="64008"/>
          </a:xfrm>
          <a:prstGeom prst="ellipse">
            <a:avLst/>
          </a:prstGeom>
          <a:solidFill>
            <a:srgbClr val="0057E7"/>
          </a:solidFill>
          <a:ln/>
        </p:spPr>
      </p:sp>
      <p:sp>
        <p:nvSpPr>
          <p:cNvPr id="19" name="Text 17"/>
          <p:cNvSpPr/>
          <p:nvPr/>
        </p:nvSpPr>
        <p:spPr>
          <a:xfrm>
            <a:off x="7287768" y="2697480"/>
            <a:ext cx="4096512" cy="585216"/>
          </a:xfrm>
          <a:prstGeom prst="rect">
            <a:avLst/>
          </a:prstGeom>
          <a:noFill/>
          <a:ln/>
        </p:spPr>
        <p:txBody>
          <a:bodyPr wrap="square" rtlCol="0" anchor="t"/>
          <a:lstStyle/>
          <a:p>
            <a:pPr indent="0" marL="0">
              <a:lnSpc>
                <a:spcPct val="105000"/>
              </a:lnSpc>
              <a:buNone/>
            </a:pPr>
            <a:r>
              <a:rPr lang="en-US" sz="1300" dirty="0">
                <a:solidFill>
                  <a:srgbClr val="10142B"/>
                </a:solidFill>
                <a:latin typeface="GT America" pitchFamily="34" charset="0"/>
                <a:ea typeface="GT America" pitchFamily="34" charset="-122"/>
                <a:cs typeface="GT America" pitchFamily="34" charset="-120"/>
              </a:rPr>
              <a:t>Salesforce reports and lead lists</a:t>
            </a:r>
            <a:endParaRPr lang="en-US" sz="1300" dirty="0"/>
          </a:p>
        </p:txBody>
      </p:sp>
      <p:sp>
        <p:nvSpPr>
          <p:cNvPr id="20" name="Shape 18"/>
          <p:cNvSpPr/>
          <p:nvPr/>
        </p:nvSpPr>
        <p:spPr>
          <a:xfrm>
            <a:off x="7086600" y="3392424"/>
            <a:ext cx="64008" cy="64008"/>
          </a:xfrm>
          <a:prstGeom prst="ellipse">
            <a:avLst/>
          </a:prstGeom>
          <a:solidFill>
            <a:srgbClr val="0057E7"/>
          </a:solidFill>
          <a:ln/>
        </p:spPr>
      </p:sp>
      <p:sp>
        <p:nvSpPr>
          <p:cNvPr id="21" name="Text 19"/>
          <p:cNvSpPr/>
          <p:nvPr/>
        </p:nvSpPr>
        <p:spPr>
          <a:xfrm>
            <a:off x="7287768" y="3264408"/>
            <a:ext cx="4096512" cy="585216"/>
          </a:xfrm>
          <a:prstGeom prst="rect">
            <a:avLst/>
          </a:prstGeom>
          <a:noFill/>
          <a:ln/>
        </p:spPr>
        <p:txBody>
          <a:bodyPr wrap="square" rtlCol="0" anchor="t"/>
          <a:lstStyle/>
          <a:p>
            <a:pPr indent="0" marL="0">
              <a:lnSpc>
                <a:spcPct val="105000"/>
              </a:lnSpc>
              <a:buNone/>
            </a:pPr>
            <a:r>
              <a:rPr lang="en-US" sz="1300" dirty="0">
                <a:solidFill>
                  <a:srgbClr val="10142B"/>
                </a:solidFill>
                <a:latin typeface="GT America" pitchFamily="34" charset="0"/>
                <a:ea typeface="GT America" pitchFamily="34" charset="-122"/>
                <a:cs typeface="GT America" pitchFamily="34" charset="-120"/>
              </a:rPr>
              <a:t>Field context on prospect engagement</a:t>
            </a:r>
            <a:endParaRPr lang="en-US" sz="1300" dirty="0"/>
          </a:p>
        </p:txBody>
      </p:sp>
      <p:sp>
        <p:nvSpPr>
          <p:cNvPr id="22" name="Shape 20"/>
          <p:cNvSpPr/>
          <p:nvPr/>
        </p:nvSpPr>
        <p:spPr>
          <a:xfrm>
            <a:off x="7086600" y="3959352"/>
            <a:ext cx="64008" cy="64008"/>
          </a:xfrm>
          <a:prstGeom prst="ellipse">
            <a:avLst/>
          </a:prstGeom>
          <a:solidFill>
            <a:srgbClr val="0057E7"/>
          </a:solidFill>
          <a:ln/>
        </p:spPr>
      </p:sp>
      <p:sp>
        <p:nvSpPr>
          <p:cNvPr id="23" name="Text 21"/>
          <p:cNvSpPr/>
          <p:nvPr/>
        </p:nvSpPr>
        <p:spPr>
          <a:xfrm>
            <a:off x="7287768" y="3831336"/>
            <a:ext cx="4096512" cy="585216"/>
          </a:xfrm>
          <a:prstGeom prst="rect">
            <a:avLst/>
          </a:prstGeom>
          <a:noFill/>
          <a:ln/>
        </p:spPr>
        <p:txBody>
          <a:bodyPr wrap="square" rtlCol="0" anchor="t"/>
          <a:lstStyle/>
          <a:p>
            <a:pPr indent="0" marL="0">
              <a:lnSpc>
                <a:spcPct val="105000"/>
              </a:lnSpc>
              <a:buNone/>
            </a:pPr>
            <a:r>
              <a:rPr lang="en-US" sz="1300" dirty="0">
                <a:solidFill>
                  <a:srgbClr val="10142B"/>
                </a:solidFill>
                <a:latin typeface="GT America" pitchFamily="34" charset="0"/>
                <a:ea typeface="GT America" pitchFamily="34" charset="-122"/>
                <a:cs typeface="GT America" pitchFamily="34" charset="-120"/>
              </a:rPr>
              <a:t>Feedback on messaging and positioning resonance</a:t>
            </a:r>
            <a:endParaRPr lang="en-US" sz="1300" dirty="0"/>
          </a:p>
        </p:txBody>
      </p:sp>
      <p:sp>
        <p:nvSpPr>
          <p:cNvPr id="24" name="Shape 22"/>
          <p:cNvSpPr/>
          <p:nvPr/>
        </p:nvSpPr>
        <p:spPr>
          <a:xfrm>
            <a:off x="5696712" y="3525012"/>
            <a:ext cx="768096" cy="768096"/>
          </a:xfrm>
          <a:prstGeom prst="ellipse">
            <a:avLst/>
          </a:prstGeom>
          <a:solidFill>
            <a:srgbClr val="FFFFFF"/>
          </a:solidFill>
          <a:ln w="19050">
            <a:solidFill>
              <a:srgbClr val="DCE1EC"/>
            </a:solidFill>
            <a:prstDash val="solid"/>
          </a:ln>
        </p:spPr>
      </p:sp>
      <p:sp>
        <p:nvSpPr>
          <p:cNvPr id="25" name="Text 23"/>
          <p:cNvSpPr/>
          <p:nvPr/>
        </p:nvSpPr>
        <p:spPr>
          <a:xfrm>
            <a:off x="5696712" y="3525012"/>
            <a:ext cx="768096" cy="768096"/>
          </a:xfrm>
          <a:prstGeom prst="rect">
            <a:avLst/>
          </a:prstGeom>
          <a:noFill/>
          <a:ln/>
        </p:spPr>
        <p:txBody>
          <a:bodyPr wrap="square" rtlCol="0" anchor="ctr"/>
          <a:lstStyle/>
          <a:p>
            <a:pPr algn="ctr" indent="0" marL="0">
              <a:buNone/>
            </a:pPr>
            <a:r>
              <a:rPr lang="en-US" sz="2600" b="1" dirty="0">
                <a:solidFill>
                  <a:srgbClr val="0057E7"/>
                </a:solidFill>
                <a:latin typeface="GT America" pitchFamily="34" charset="0"/>
                <a:ea typeface="GT America" pitchFamily="34" charset="-122"/>
                <a:cs typeface="GT America" pitchFamily="34" charset="-120"/>
              </a:rPr>
              <a:t>⇄</a:t>
            </a:r>
            <a:endParaRPr lang="en-US" sz="2600" dirty="0"/>
          </a:p>
        </p:txBody>
      </p:sp>
      <p:sp>
        <p:nvSpPr>
          <p:cNvPr id="26" name="Text 24"/>
          <p:cNvSpPr/>
          <p:nvPr/>
        </p:nvSpPr>
        <p:spPr>
          <a:xfrm>
            <a:off x="457200" y="6172200"/>
            <a:ext cx="11274552" cy="457200"/>
          </a:xfrm>
          <a:prstGeom prst="rect">
            <a:avLst/>
          </a:prstGeom>
          <a:noFill/>
          <a:ln/>
        </p:spPr>
        <p:txBody>
          <a:bodyPr wrap="square" rtlCol="0" anchor="ctr"/>
          <a:lstStyle/>
          <a:p>
            <a:pPr algn="ctr" indent="0" marL="0">
              <a:buNone/>
            </a:pPr>
            <a:r>
              <a:rPr lang="en-US" sz="1200" i="1" dirty="0">
                <a:solidFill>
                  <a:srgbClr val="5B6472"/>
                </a:solidFill>
                <a:latin typeface="GT America" pitchFamily="34" charset="0"/>
                <a:ea typeface="GT America" pitchFamily="34" charset="-122"/>
                <a:cs typeface="GT America" pitchFamily="34" charset="-120"/>
              </a:rPr>
              <a:t>Purpose: help sales teams understand relevant marketing activity and act on prospect engagement in real time.</a:t>
            </a:r>
            <a:endParaRPr lang="en-US" sz="1200" dirty="0"/>
          </a:p>
        </p:txBody>
      </p:sp>
      <p:sp>
        <p:nvSpPr>
          <p:cNvPr id="27" name="Text 25"/>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SALES ENABLEMENT</a:t>
            </a:r>
            <a:endParaRPr lang="en-US" sz="900" dirty="0"/>
          </a:p>
        </p:txBody>
      </p:sp>
      <p:sp>
        <p:nvSpPr>
          <p:cNvPr id="28" name="Text 26"/>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19 / 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64"/>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INTEGRATED GTM WORKFLOW</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FFFFFF"/>
                </a:solidFill>
                <a:latin typeface="GT America" pitchFamily="34" charset="0"/>
                <a:ea typeface="GT America" pitchFamily="34" charset="-122"/>
                <a:cs typeface="GT America" pitchFamily="34" charset="-120"/>
              </a:rPr>
              <a:t>One Continuous, Iterative Cycle</a:t>
            </a:r>
            <a:endParaRPr lang="en-US" sz="2800" dirty="0"/>
          </a:p>
        </p:txBody>
      </p:sp>
      <p:sp>
        <p:nvSpPr>
          <p:cNvPr id="4" name="Shape 2"/>
          <p:cNvSpPr/>
          <p:nvPr/>
        </p:nvSpPr>
        <p:spPr>
          <a:xfrm>
            <a:off x="6095848" y="2148840"/>
            <a:ext cx="1645742" cy="427858"/>
          </a:xfrm>
          <a:prstGeom prst="line">
            <a:avLst/>
          </a:prstGeom>
          <a:noFill/>
          <a:ln w="15875">
            <a:solidFill>
              <a:srgbClr val="1E3399"/>
            </a:solidFill>
            <a:prstDash val="solid"/>
          </a:ln>
        </p:spPr>
      </p:sp>
      <p:sp>
        <p:nvSpPr>
          <p:cNvPr id="5" name="Shape 3"/>
          <p:cNvSpPr/>
          <p:nvPr/>
        </p:nvSpPr>
        <p:spPr>
          <a:xfrm>
            <a:off x="7741590" y="2576698"/>
            <a:ext cx="875681" cy="1083374"/>
          </a:xfrm>
          <a:prstGeom prst="line">
            <a:avLst/>
          </a:prstGeom>
          <a:noFill/>
          <a:ln w="15875">
            <a:solidFill>
              <a:srgbClr val="1E3399"/>
            </a:solidFill>
            <a:prstDash val="solid"/>
          </a:ln>
        </p:spPr>
      </p:sp>
      <p:sp>
        <p:nvSpPr>
          <p:cNvPr id="6" name="Shape 4"/>
          <p:cNvSpPr/>
          <p:nvPr/>
        </p:nvSpPr>
        <p:spPr>
          <a:xfrm>
            <a:off x="8313150" y="3660072"/>
            <a:ext cx="304121" cy="1231968"/>
          </a:xfrm>
          <a:prstGeom prst="line">
            <a:avLst/>
          </a:prstGeom>
          <a:noFill/>
          <a:ln w="15875">
            <a:solidFill>
              <a:srgbClr val="1E3399"/>
            </a:solidFill>
            <a:prstDash val="solid"/>
          </a:ln>
        </p:spPr>
      </p:sp>
      <p:sp>
        <p:nvSpPr>
          <p:cNvPr id="7" name="Shape 5"/>
          <p:cNvSpPr/>
          <p:nvPr/>
        </p:nvSpPr>
        <p:spPr>
          <a:xfrm>
            <a:off x="6971529" y="4892040"/>
            <a:ext cx="1341621" cy="804110"/>
          </a:xfrm>
          <a:prstGeom prst="line">
            <a:avLst/>
          </a:prstGeom>
          <a:noFill/>
          <a:ln w="15875">
            <a:solidFill>
              <a:srgbClr val="1E3399"/>
            </a:solidFill>
            <a:prstDash val="solid"/>
          </a:ln>
        </p:spPr>
      </p:sp>
      <p:sp>
        <p:nvSpPr>
          <p:cNvPr id="8" name="Shape 6"/>
          <p:cNvSpPr/>
          <p:nvPr/>
        </p:nvSpPr>
        <p:spPr>
          <a:xfrm>
            <a:off x="5220167" y="5696150"/>
            <a:ext cx="1751362" cy="0"/>
          </a:xfrm>
          <a:prstGeom prst="line">
            <a:avLst/>
          </a:prstGeom>
          <a:noFill/>
          <a:ln w="15875">
            <a:solidFill>
              <a:srgbClr val="1E3399"/>
            </a:solidFill>
            <a:prstDash val="solid"/>
          </a:ln>
        </p:spPr>
      </p:sp>
      <p:sp>
        <p:nvSpPr>
          <p:cNvPr id="9" name="Shape 7"/>
          <p:cNvSpPr/>
          <p:nvPr/>
        </p:nvSpPr>
        <p:spPr>
          <a:xfrm>
            <a:off x="3878545" y="4892040"/>
            <a:ext cx="1341621" cy="804110"/>
          </a:xfrm>
          <a:prstGeom prst="line">
            <a:avLst/>
          </a:prstGeom>
          <a:noFill/>
          <a:ln w="15875">
            <a:solidFill>
              <a:srgbClr val="1E3399"/>
            </a:solidFill>
            <a:prstDash val="solid"/>
          </a:ln>
        </p:spPr>
      </p:sp>
      <p:sp>
        <p:nvSpPr>
          <p:cNvPr id="10" name="Shape 8"/>
          <p:cNvSpPr/>
          <p:nvPr/>
        </p:nvSpPr>
        <p:spPr>
          <a:xfrm>
            <a:off x="3574425" y="3660072"/>
            <a:ext cx="304121" cy="1231968"/>
          </a:xfrm>
          <a:prstGeom prst="line">
            <a:avLst/>
          </a:prstGeom>
          <a:noFill/>
          <a:ln w="15875">
            <a:solidFill>
              <a:srgbClr val="1E3399"/>
            </a:solidFill>
            <a:prstDash val="solid"/>
          </a:ln>
        </p:spPr>
      </p:sp>
      <p:sp>
        <p:nvSpPr>
          <p:cNvPr id="11" name="Shape 9"/>
          <p:cNvSpPr/>
          <p:nvPr/>
        </p:nvSpPr>
        <p:spPr>
          <a:xfrm>
            <a:off x="3574425" y="2576698"/>
            <a:ext cx="875681" cy="1083374"/>
          </a:xfrm>
          <a:prstGeom prst="line">
            <a:avLst/>
          </a:prstGeom>
          <a:noFill/>
          <a:ln w="15875">
            <a:solidFill>
              <a:srgbClr val="1E3399"/>
            </a:solidFill>
            <a:prstDash val="solid"/>
          </a:ln>
        </p:spPr>
      </p:sp>
      <p:sp>
        <p:nvSpPr>
          <p:cNvPr id="12" name="Shape 10"/>
          <p:cNvSpPr/>
          <p:nvPr/>
        </p:nvSpPr>
        <p:spPr>
          <a:xfrm>
            <a:off x="4450106" y="2148840"/>
            <a:ext cx="1645742" cy="427858"/>
          </a:xfrm>
          <a:prstGeom prst="line">
            <a:avLst/>
          </a:prstGeom>
          <a:noFill/>
          <a:ln w="15875">
            <a:solidFill>
              <a:srgbClr val="1E3399"/>
            </a:solidFill>
            <a:prstDash val="solid"/>
          </a:ln>
        </p:spPr>
      </p:sp>
      <p:sp>
        <p:nvSpPr>
          <p:cNvPr id="13" name="Shape 11"/>
          <p:cNvSpPr/>
          <p:nvPr/>
        </p:nvSpPr>
        <p:spPr>
          <a:xfrm>
            <a:off x="5318608" y="3200400"/>
            <a:ext cx="1554480" cy="1554480"/>
          </a:xfrm>
          <a:prstGeom prst="ellipse">
            <a:avLst/>
          </a:prstGeom>
          <a:solidFill>
            <a:srgbClr val="0D1A80"/>
          </a:solidFill>
          <a:ln w="19050">
            <a:solidFill>
              <a:srgbClr val="0057E7"/>
            </a:solidFill>
            <a:prstDash val="solid"/>
          </a:ln>
        </p:spPr>
      </p:sp>
      <p:sp>
        <p:nvSpPr>
          <p:cNvPr id="14" name="Text 12"/>
          <p:cNvSpPr/>
          <p:nvPr/>
        </p:nvSpPr>
        <p:spPr>
          <a:xfrm>
            <a:off x="5318608" y="3200400"/>
            <a:ext cx="1554480" cy="1554480"/>
          </a:xfrm>
          <a:prstGeom prst="rect">
            <a:avLst/>
          </a:prstGeom>
          <a:noFill/>
          <a:ln/>
        </p:spPr>
        <p:txBody>
          <a:bodyPr wrap="square" rtlCol="0" anchor="ctr"/>
          <a:lstStyle/>
          <a:p>
            <a:pPr algn="ctr" indent="0" marL="0">
              <a:lnSpc>
                <a:spcPct val="110000"/>
              </a:lnSpc>
              <a:buNone/>
            </a:pPr>
            <a:r>
              <a:rPr lang="en-US" sz="1200" b="1" dirty="0">
                <a:solidFill>
                  <a:srgbClr val="0057E7"/>
                </a:solidFill>
                <a:latin typeface="GT America" pitchFamily="34" charset="0"/>
                <a:ea typeface="GT America" pitchFamily="34" charset="-122"/>
                <a:cs typeface="GT America" pitchFamily="34" charset="-120"/>
              </a:rPr>
              <a:t>CONTINUOUS</a:t>
            </a:r>
            <a:endParaRPr lang="en-US" sz="1200" dirty="0"/>
          </a:p>
          <a:p>
            <a:pPr algn="ctr" indent="0" marL="0">
              <a:lnSpc>
                <a:spcPct val="110000"/>
              </a:lnSpc>
              <a:buNone/>
            </a:pPr>
            <a:r>
              <a:rPr lang="en-US" sz="1200" b="1" dirty="0">
                <a:solidFill>
                  <a:srgbClr val="0057E7"/>
                </a:solidFill>
                <a:latin typeface="GT America" pitchFamily="34" charset="0"/>
                <a:ea typeface="GT America" pitchFamily="34" charset="-122"/>
                <a:cs typeface="GT America" pitchFamily="34" charset="-120"/>
              </a:rPr>
              <a:t>GTM LOOP</a:t>
            </a:r>
            <a:endParaRPr lang="en-US" sz="1200" dirty="0"/>
          </a:p>
        </p:txBody>
      </p:sp>
      <p:sp>
        <p:nvSpPr>
          <p:cNvPr id="15" name="Shape 13"/>
          <p:cNvSpPr/>
          <p:nvPr/>
        </p:nvSpPr>
        <p:spPr>
          <a:xfrm>
            <a:off x="5602072" y="1655064"/>
            <a:ext cx="987552" cy="987552"/>
          </a:xfrm>
          <a:prstGeom prst="ellipse">
            <a:avLst/>
          </a:prstGeom>
          <a:solidFill>
            <a:srgbClr val="FFFFFF"/>
          </a:solidFill>
          <a:ln/>
        </p:spPr>
      </p:sp>
      <p:sp>
        <p:nvSpPr>
          <p:cNvPr id="16" name="Text 14"/>
          <p:cNvSpPr/>
          <p:nvPr/>
        </p:nvSpPr>
        <p:spPr>
          <a:xfrm>
            <a:off x="5602072" y="1719072"/>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1</a:t>
            </a:r>
            <a:endParaRPr lang="en-US" sz="1000" dirty="0"/>
          </a:p>
        </p:txBody>
      </p:sp>
      <p:sp>
        <p:nvSpPr>
          <p:cNvPr id="17" name="Text 15"/>
          <p:cNvSpPr/>
          <p:nvPr/>
        </p:nvSpPr>
        <p:spPr>
          <a:xfrm>
            <a:off x="5647792" y="1947672"/>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Market &amp; Audience</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Research</a:t>
            </a:r>
            <a:endParaRPr lang="en-US" sz="730" dirty="0"/>
          </a:p>
        </p:txBody>
      </p:sp>
      <p:sp>
        <p:nvSpPr>
          <p:cNvPr id="18" name="Shape 16"/>
          <p:cNvSpPr/>
          <p:nvPr/>
        </p:nvSpPr>
        <p:spPr>
          <a:xfrm>
            <a:off x="7247814" y="2082922"/>
            <a:ext cx="987552" cy="987552"/>
          </a:xfrm>
          <a:prstGeom prst="ellipse">
            <a:avLst/>
          </a:prstGeom>
          <a:solidFill>
            <a:srgbClr val="FFFFFF"/>
          </a:solidFill>
          <a:ln/>
        </p:spPr>
      </p:sp>
      <p:sp>
        <p:nvSpPr>
          <p:cNvPr id="19" name="Text 17"/>
          <p:cNvSpPr/>
          <p:nvPr/>
        </p:nvSpPr>
        <p:spPr>
          <a:xfrm>
            <a:off x="7247814" y="2146930"/>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2</a:t>
            </a:r>
            <a:endParaRPr lang="en-US" sz="1000" dirty="0"/>
          </a:p>
        </p:txBody>
      </p:sp>
      <p:sp>
        <p:nvSpPr>
          <p:cNvPr id="20" name="Text 18"/>
          <p:cNvSpPr/>
          <p:nvPr/>
        </p:nvSpPr>
        <p:spPr>
          <a:xfrm>
            <a:off x="7293534" y="2375530"/>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Portfolio</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Positioning</a:t>
            </a:r>
            <a:endParaRPr lang="en-US" sz="730" dirty="0"/>
          </a:p>
        </p:txBody>
      </p:sp>
      <p:sp>
        <p:nvSpPr>
          <p:cNvPr id="21" name="Shape 19"/>
          <p:cNvSpPr/>
          <p:nvPr/>
        </p:nvSpPr>
        <p:spPr>
          <a:xfrm>
            <a:off x="8123495" y="3166296"/>
            <a:ext cx="987552" cy="987552"/>
          </a:xfrm>
          <a:prstGeom prst="ellipse">
            <a:avLst/>
          </a:prstGeom>
          <a:solidFill>
            <a:srgbClr val="FFFFFF"/>
          </a:solidFill>
          <a:ln/>
        </p:spPr>
      </p:sp>
      <p:sp>
        <p:nvSpPr>
          <p:cNvPr id="22" name="Text 20"/>
          <p:cNvSpPr/>
          <p:nvPr/>
        </p:nvSpPr>
        <p:spPr>
          <a:xfrm>
            <a:off x="8123495" y="3230304"/>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3</a:t>
            </a:r>
            <a:endParaRPr lang="en-US" sz="1000" dirty="0"/>
          </a:p>
        </p:txBody>
      </p:sp>
      <p:sp>
        <p:nvSpPr>
          <p:cNvPr id="23" name="Text 21"/>
          <p:cNvSpPr/>
          <p:nvPr/>
        </p:nvSpPr>
        <p:spPr>
          <a:xfrm>
            <a:off x="8169215" y="3458904"/>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Value</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Proposition</a:t>
            </a:r>
            <a:endParaRPr lang="en-US" sz="730" dirty="0"/>
          </a:p>
        </p:txBody>
      </p:sp>
      <p:sp>
        <p:nvSpPr>
          <p:cNvPr id="24" name="Shape 22"/>
          <p:cNvSpPr/>
          <p:nvPr/>
        </p:nvSpPr>
        <p:spPr>
          <a:xfrm>
            <a:off x="7819374" y="4398264"/>
            <a:ext cx="987552" cy="987552"/>
          </a:xfrm>
          <a:prstGeom prst="ellipse">
            <a:avLst/>
          </a:prstGeom>
          <a:solidFill>
            <a:srgbClr val="FFFFFF"/>
          </a:solidFill>
          <a:ln/>
        </p:spPr>
      </p:sp>
      <p:sp>
        <p:nvSpPr>
          <p:cNvPr id="25" name="Text 23"/>
          <p:cNvSpPr/>
          <p:nvPr/>
        </p:nvSpPr>
        <p:spPr>
          <a:xfrm>
            <a:off x="7819374" y="4462272"/>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4</a:t>
            </a:r>
            <a:endParaRPr lang="en-US" sz="1000" dirty="0"/>
          </a:p>
        </p:txBody>
      </p:sp>
      <p:sp>
        <p:nvSpPr>
          <p:cNvPr id="26" name="Text 24"/>
          <p:cNvSpPr/>
          <p:nvPr/>
        </p:nvSpPr>
        <p:spPr>
          <a:xfrm>
            <a:off x="7865094" y="4690872"/>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SEO &amp; Content</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Strategy</a:t>
            </a:r>
            <a:endParaRPr lang="en-US" sz="730" dirty="0"/>
          </a:p>
        </p:txBody>
      </p:sp>
      <p:sp>
        <p:nvSpPr>
          <p:cNvPr id="27" name="Shape 25"/>
          <p:cNvSpPr/>
          <p:nvPr/>
        </p:nvSpPr>
        <p:spPr>
          <a:xfrm>
            <a:off x="6477753" y="5202374"/>
            <a:ext cx="987552" cy="987552"/>
          </a:xfrm>
          <a:prstGeom prst="ellipse">
            <a:avLst/>
          </a:prstGeom>
          <a:solidFill>
            <a:srgbClr val="FFFFFF"/>
          </a:solidFill>
          <a:ln/>
        </p:spPr>
      </p:sp>
      <p:sp>
        <p:nvSpPr>
          <p:cNvPr id="28" name="Text 26"/>
          <p:cNvSpPr/>
          <p:nvPr/>
        </p:nvSpPr>
        <p:spPr>
          <a:xfrm>
            <a:off x="6477753" y="5266382"/>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5</a:t>
            </a:r>
            <a:endParaRPr lang="en-US" sz="1000" dirty="0"/>
          </a:p>
        </p:txBody>
      </p:sp>
      <p:sp>
        <p:nvSpPr>
          <p:cNvPr id="29" name="Text 27"/>
          <p:cNvSpPr/>
          <p:nvPr/>
        </p:nvSpPr>
        <p:spPr>
          <a:xfrm>
            <a:off x="6523473" y="5494982"/>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Campaign</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Planning</a:t>
            </a:r>
            <a:endParaRPr lang="en-US" sz="730" dirty="0"/>
          </a:p>
        </p:txBody>
      </p:sp>
      <p:sp>
        <p:nvSpPr>
          <p:cNvPr id="30" name="Shape 28"/>
          <p:cNvSpPr/>
          <p:nvPr/>
        </p:nvSpPr>
        <p:spPr>
          <a:xfrm>
            <a:off x="4726391" y="5202374"/>
            <a:ext cx="987552" cy="987552"/>
          </a:xfrm>
          <a:prstGeom prst="ellipse">
            <a:avLst/>
          </a:prstGeom>
          <a:solidFill>
            <a:srgbClr val="FFFFFF"/>
          </a:solidFill>
          <a:ln/>
        </p:spPr>
      </p:sp>
      <p:sp>
        <p:nvSpPr>
          <p:cNvPr id="31" name="Text 29"/>
          <p:cNvSpPr/>
          <p:nvPr/>
        </p:nvSpPr>
        <p:spPr>
          <a:xfrm>
            <a:off x="4726391" y="5266382"/>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6</a:t>
            </a:r>
            <a:endParaRPr lang="en-US" sz="1000" dirty="0"/>
          </a:p>
        </p:txBody>
      </p:sp>
      <p:sp>
        <p:nvSpPr>
          <p:cNvPr id="32" name="Text 30"/>
          <p:cNvSpPr/>
          <p:nvPr/>
        </p:nvSpPr>
        <p:spPr>
          <a:xfrm>
            <a:off x="4772111" y="5494982"/>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Performance</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Analysis</a:t>
            </a:r>
            <a:endParaRPr lang="en-US" sz="730" dirty="0"/>
          </a:p>
        </p:txBody>
      </p:sp>
      <p:sp>
        <p:nvSpPr>
          <p:cNvPr id="33" name="Shape 31"/>
          <p:cNvSpPr/>
          <p:nvPr/>
        </p:nvSpPr>
        <p:spPr>
          <a:xfrm>
            <a:off x="3384769" y="4398264"/>
            <a:ext cx="987552" cy="987552"/>
          </a:xfrm>
          <a:prstGeom prst="ellipse">
            <a:avLst/>
          </a:prstGeom>
          <a:solidFill>
            <a:srgbClr val="FFFFFF"/>
          </a:solidFill>
          <a:ln/>
        </p:spPr>
      </p:sp>
      <p:sp>
        <p:nvSpPr>
          <p:cNvPr id="34" name="Text 32"/>
          <p:cNvSpPr/>
          <p:nvPr/>
        </p:nvSpPr>
        <p:spPr>
          <a:xfrm>
            <a:off x="3384769" y="4462272"/>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7</a:t>
            </a:r>
            <a:endParaRPr lang="en-US" sz="1000" dirty="0"/>
          </a:p>
        </p:txBody>
      </p:sp>
      <p:sp>
        <p:nvSpPr>
          <p:cNvPr id="35" name="Text 33"/>
          <p:cNvSpPr/>
          <p:nvPr/>
        </p:nvSpPr>
        <p:spPr>
          <a:xfrm>
            <a:off x="3430489" y="4690872"/>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Optimize</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Insights</a:t>
            </a:r>
            <a:endParaRPr lang="en-US" sz="730" dirty="0"/>
          </a:p>
        </p:txBody>
      </p:sp>
      <p:sp>
        <p:nvSpPr>
          <p:cNvPr id="36" name="Shape 34"/>
          <p:cNvSpPr/>
          <p:nvPr/>
        </p:nvSpPr>
        <p:spPr>
          <a:xfrm>
            <a:off x="3080649" y="3166296"/>
            <a:ext cx="987552" cy="987552"/>
          </a:xfrm>
          <a:prstGeom prst="ellipse">
            <a:avLst/>
          </a:prstGeom>
          <a:solidFill>
            <a:srgbClr val="FFFFFF"/>
          </a:solidFill>
          <a:ln/>
        </p:spPr>
      </p:sp>
      <p:sp>
        <p:nvSpPr>
          <p:cNvPr id="37" name="Text 35"/>
          <p:cNvSpPr/>
          <p:nvPr/>
        </p:nvSpPr>
        <p:spPr>
          <a:xfrm>
            <a:off x="3080649" y="3230304"/>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8</a:t>
            </a:r>
            <a:endParaRPr lang="en-US" sz="1000" dirty="0"/>
          </a:p>
        </p:txBody>
      </p:sp>
      <p:sp>
        <p:nvSpPr>
          <p:cNvPr id="38" name="Text 36"/>
          <p:cNvSpPr/>
          <p:nvPr/>
        </p:nvSpPr>
        <p:spPr>
          <a:xfrm>
            <a:off x="3126369" y="3458904"/>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Sales</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Enablement</a:t>
            </a:r>
            <a:endParaRPr lang="en-US" sz="730" dirty="0"/>
          </a:p>
        </p:txBody>
      </p:sp>
      <p:sp>
        <p:nvSpPr>
          <p:cNvPr id="39" name="Shape 37"/>
          <p:cNvSpPr/>
          <p:nvPr/>
        </p:nvSpPr>
        <p:spPr>
          <a:xfrm>
            <a:off x="3956330" y="2082922"/>
            <a:ext cx="987552" cy="987552"/>
          </a:xfrm>
          <a:prstGeom prst="ellipse">
            <a:avLst/>
          </a:prstGeom>
          <a:solidFill>
            <a:srgbClr val="FFFFFF"/>
          </a:solidFill>
          <a:ln/>
        </p:spPr>
      </p:sp>
      <p:sp>
        <p:nvSpPr>
          <p:cNvPr id="40" name="Text 38"/>
          <p:cNvSpPr/>
          <p:nvPr/>
        </p:nvSpPr>
        <p:spPr>
          <a:xfrm>
            <a:off x="3956330" y="2146930"/>
            <a:ext cx="987552" cy="237744"/>
          </a:xfrm>
          <a:prstGeom prst="rect">
            <a:avLst/>
          </a:prstGeom>
          <a:noFill/>
          <a:ln/>
        </p:spPr>
        <p:txBody>
          <a:bodyPr wrap="square" rtlCol="0" anchor="ctr"/>
          <a:lstStyle/>
          <a:p>
            <a:pPr algn="ctr" indent="0" marL="0">
              <a:buNone/>
            </a:pPr>
            <a:r>
              <a:rPr lang="en-US" sz="1000" b="1" dirty="0">
                <a:solidFill>
                  <a:srgbClr val="0057E7"/>
                </a:solidFill>
                <a:latin typeface="GT America" pitchFamily="34" charset="0"/>
                <a:ea typeface="GT America" pitchFamily="34" charset="-122"/>
                <a:cs typeface="GT America" pitchFamily="34" charset="-120"/>
              </a:rPr>
              <a:t>9</a:t>
            </a:r>
            <a:endParaRPr lang="en-US" sz="1000" dirty="0"/>
          </a:p>
        </p:txBody>
      </p:sp>
      <p:sp>
        <p:nvSpPr>
          <p:cNvPr id="41" name="Text 39"/>
          <p:cNvSpPr/>
          <p:nvPr/>
        </p:nvSpPr>
        <p:spPr>
          <a:xfrm>
            <a:off x="4002050" y="2375530"/>
            <a:ext cx="896112" cy="658368"/>
          </a:xfrm>
          <a:prstGeom prst="rect">
            <a:avLst/>
          </a:prstGeom>
          <a:noFill/>
          <a:ln/>
        </p:spPr>
        <p:txBody>
          <a:bodyPr wrap="square" rtlCol="0" anchor="t"/>
          <a:lstStyle/>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Feedback &amp;</a:t>
            </a:r>
            <a:endParaRPr lang="en-US" sz="730" dirty="0"/>
          </a:p>
          <a:p>
            <a:pPr algn="ctr" indent="0" marL="0">
              <a:lnSpc>
                <a:spcPct val="100000"/>
              </a:lnSpc>
              <a:buNone/>
            </a:pPr>
            <a:r>
              <a:rPr lang="en-US" sz="730" b="1" dirty="0">
                <a:solidFill>
                  <a:srgbClr val="0A1264"/>
                </a:solidFill>
                <a:latin typeface="GT America" pitchFamily="34" charset="0"/>
                <a:ea typeface="GT America" pitchFamily="34" charset="-122"/>
                <a:cs typeface="GT America" pitchFamily="34" charset="-120"/>
              </a:rPr>
              <a:t>Iteration</a:t>
            </a:r>
            <a:endParaRPr lang="en-US" sz="730" dirty="0"/>
          </a:p>
        </p:txBody>
      </p:sp>
      <p:sp>
        <p:nvSpPr>
          <p:cNvPr id="42" name="Text 40"/>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9FB0CC"/>
                </a:solidFill>
                <a:latin typeface="GT America" pitchFamily="34" charset="0"/>
                <a:ea typeface="GT America" pitchFamily="34" charset="-122"/>
                <a:cs typeface="GT America" pitchFamily="34" charset="-120"/>
              </a:rPr>
              <a:t>INTEGRATED GTM WORKFLOW</a:t>
            </a:r>
            <a:endParaRPr lang="en-US" sz="900" dirty="0"/>
          </a:p>
        </p:txBody>
      </p:sp>
      <p:sp>
        <p:nvSpPr>
          <p:cNvPr id="43" name="Text 41"/>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9FB0CC"/>
                </a:solidFill>
                <a:latin typeface="GT America" pitchFamily="34" charset="0"/>
                <a:ea typeface="GT America" pitchFamily="34" charset="-122"/>
                <a:cs typeface="GT America" pitchFamily="34" charset="-120"/>
              </a:rPr>
              <a:t>20 / 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3 YEARS OF PERFORMANCE MARKETING</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Budget Stewardship &amp; Revenue Impact</a:t>
            </a:r>
            <a:endParaRPr lang="en-US" sz="2800" dirty="0"/>
          </a:p>
        </p:txBody>
      </p:sp>
      <p:sp>
        <p:nvSpPr>
          <p:cNvPr id="4" name="Shape 2"/>
          <p:cNvSpPr/>
          <p:nvPr/>
        </p:nvSpPr>
        <p:spPr>
          <a:xfrm>
            <a:off x="457200" y="1783080"/>
            <a:ext cx="2612898" cy="1965960"/>
          </a:xfrm>
          <a:prstGeom prst="roundRect">
            <a:avLst>
              <a:gd name="adj" fmla="val 37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658368" y="2057400"/>
            <a:ext cx="2210562" cy="685800"/>
          </a:xfrm>
          <a:prstGeom prst="rect">
            <a:avLst/>
          </a:prstGeom>
          <a:noFill/>
          <a:ln/>
        </p:spPr>
        <p:txBody>
          <a:bodyPr wrap="square" rtlCol="0" anchor="ctr"/>
          <a:lstStyle/>
          <a:p>
            <a:pPr indent="0" marL="0">
              <a:buNone/>
            </a:pPr>
            <a:r>
              <a:rPr lang="en-US" sz="2700" b="1" dirty="0">
                <a:solidFill>
                  <a:srgbClr val="0057E7"/>
                </a:solidFill>
                <a:latin typeface="GT America" pitchFamily="34" charset="0"/>
                <a:ea typeface="GT America" pitchFamily="34" charset="-122"/>
                <a:cs typeface="GT America" pitchFamily="34" charset="-120"/>
              </a:rPr>
              <a:t>$22.8M</a:t>
            </a:r>
            <a:endParaRPr lang="en-US" sz="2700" dirty="0"/>
          </a:p>
        </p:txBody>
      </p:sp>
      <p:sp>
        <p:nvSpPr>
          <p:cNvPr id="6" name="Text 4"/>
          <p:cNvSpPr/>
          <p:nvPr/>
        </p:nvSpPr>
        <p:spPr>
          <a:xfrm>
            <a:off x="658368" y="2743200"/>
            <a:ext cx="2210562" cy="502920"/>
          </a:xfrm>
          <a:prstGeom prst="rect">
            <a:avLst/>
          </a:prstGeom>
          <a:noFill/>
          <a:ln/>
        </p:spPr>
        <p:txBody>
          <a:bodyPr wrap="square" rtlCol="0" anchor="ctr"/>
          <a:lstStyle/>
          <a:p>
            <a:pPr indent="0" marL="0">
              <a:lnSpc>
                <a:spcPct val="110000"/>
              </a:lnSpc>
              <a:buNone/>
            </a:pPr>
            <a:r>
              <a:rPr lang="en-US" sz="1150" b="1" dirty="0">
                <a:solidFill>
                  <a:srgbClr val="0A1264"/>
                </a:solidFill>
                <a:latin typeface="GT America" pitchFamily="34" charset="0"/>
                <a:ea typeface="GT America" pitchFamily="34" charset="-122"/>
                <a:cs typeface="GT America" pitchFamily="34" charset="-120"/>
              </a:rPr>
              <a:t>Total marketing budget managed</a:t>
            </a:r>
            <a:endParaRPr lang="en-US" sz="1150" dirty="0"/>
          </a:p>
        </p:txBody>
      </p:sp>
      <p:sp>
        <p:nvSpPr>
          <p:cNvPr id="7" name="Text 5"/>
          <p:cNvSpPr/>
          <p:nvPr/>
        </p:nvSpPr>
        <p:spPr>
          <a:xfrm>
            <a:off x="658368" y="3227832"/>
            <a:ext cx="2210562"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LinkedIn + Google Ads, across 3 years</a:t>
            </a:r>
            <a:endParaRPr lang="en-US" sz="900" dirty="0"/>
          </a:p>
        </p:txBody>
      </p:sp>
      <p:sp>
        <p:nvSpPr>
          <p:cNvPr id="8" name="Shape 6"/>
          <p:cNvSpPr/>
          <p:nvPr/>
        </p:nvSpPr>
        <p:spPr>
          <a:xfrm>
            <a:off x="3344418" y="1783080"/>
            <a:ext cx="2612898" cy="1965960"/>
          </a:xfrm>
          <a:prstGeom prst="roundRect">
            <a:avLst>
              <a:gd name="adj" fmla="val 37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9" name="Text 7"/>
          <p:cNvSpPr/>
          <p:nvPr/>
        </p:nvSpPr>
        <p:spPr>
          <a:xfrm>
            <a:off x="3545586" y="2057400"/>
            <a:ext cx="2210562" cy="685800"/>
          </a:xfrm>
          <a:prstGeom prst="rect">
            <a:avLst/>
          </a:prstGeom>
          <a:noFill/>
          <a:ln/>
        </p:spPr>
        <p:txBody>
          <a:bodyPr wrap="square" rtlCol="0" anchor="ctr"/>
          <a:lstStyle/>
          <a:p>
            <a:pPr indent="0" marL="0">
              <a:buNone/>
            </a:pPr>
            <a:r>
              <a:rPr lang="en-US" sz="2700" b="1" dirty="0">
                <a:solidFill>
                  <a:srgbClr val="0057E7"/>
                </a:solidFill>
                <a:latin typeface="GT America" pitchFamily="34" charset="0"/>
                <a:ea typeface="GT America" pitchFamily="34" charset="-122"/>
                <a:cs typeface="GT America" pitchFamily="34" charset="-120"/>
              </a:rPr>
              <a:t>$7.6M</a:t>
            </a:r>
            <a:endParaRPr lang="en-US" sz="2700" dirty="0"/>
          </a:p>
        </p:txBody>
      </p:sp>
      <p:sp>
        <p:nvSpPr>
          <p:cNvPr id="10" name="Text 8"/>
          <p:cNvSpPr/>
          <p:nvPr/>
        </p:nvSpPr>
        <p:spPr>
          <a:xfrm>
            <a:off x="3545586" y="2743200"/>
            <a:ext cx="2210562" cy="502920"/>
          </a:xfrm>
          <a:prstGeom prst="rect">
            <a:avLst/>
          </a:prstGeom>
          <a:noFill/>
          <a:ln/>
        </p:spPr>
        <p:txBody>
          <a:bodyPr wrap="square" rtlCol="0" anchor="ctr"/>
          <a:lstStyle/>
          <a:p>
            <a:pPr indent="0" marL="0">
              <a:lnSpc>
                <a:spcPct val="110000"/>
              </a:lnSpc>
              <a:buNone/>
            </a:pPr>
            <a:r>
              <a:rPr lang="en-US" sz="1150" b="1" dirty="0">
                <a:solidFill>
                  <a:srgbClr val="0A1264"/>
                </a:solidFill>
                <a:latin typeface="GT America" pitchFamily="34" charset="0"/>
                <a:ea typeface="GT America" pitchFamily="34" charset="-122"/>
                <a:cs typeface="GT America" pitchFamily="34" charset="-120"/>
              </a:rPr>
              <a:t>Average yearly budget</a:t>
            </a:r>
            <a:endParaRPr lang="en-US" sz="1150" dirty="0"/>
          </a:p>
        </p:txBody>
      </p:sp>
      <p:sp>
        <p:nvSpPr>
          <p:cNvPr id="11" name="Text 9"/>
          <p:cNvSpPr/>
          <p:nvPr/>
        </p:nvSpPr>
        <p:spPr>
          <a:xfrm>
            <a:off x="3545586" y="3227832"/>
            <a:ext cx="2210562"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$4.5M LinkedIn  ·  $3.1M Google Ads</a:t>
            </a:r>
            <a:endParaRPr lang="en-US" sz="900" dirty="0"/>
          </a:p>
        </p:txBody>
      </p:sp>
      <p:sp>
        <p:nvSpPr>
          <p:cNvPr id="12" name="Shape 10"/>
          <p:cNvSpPr/>
          <p:nvPr/>
        </p:nvSpPr>
        <p:spPr>
          <a:xfrm>
            <a:off x="6231636" y="1783080"/>
            <a:ext cx="2612898" cy="1965960"/>
          </a:xfrm>
          <a:prstGeom prst="roundRect">
            <a:avLst>
              <a:gd name="adj" fmla="val 3721"/>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3" name="Text 11"/>
          <p:cNvSpPr/>
          <p:nvPr/>
        </p:nvSpPr>
        <p:spPr>
          <a:xfrm>
            <a:off x="6432804" y="2057400"/>
            <a:ext cx="2210562" cy="685800"/>
          </a:xfrm>
          <a:prstGeom prst="rect">
            <a:avLst/>
          </a:prstGeom>
          <a:noFill/>
          <a:ln/>
        </p:spPr>
        <p:txBody>
          <a:bodyPr wrap="square" rtlCol="0" anchor="ctr"/>
          <a:lstStyle/>
          <a:p>
            <a:pPr indent="0" marL="0">
              <a:buNone/>
            </a:pPr>
            <a:r>
              <a:rPr lang="en-US" sz="2700" b="1" dirty="0">
                <a:solidFill>
                  <a:srgbClr val="4D8DFF"/>
                </a:solidFill>
                <a:latin typeface="GT America" pitchFamily="34" charset="0"/>
                <a:ea typeface="GT America" pitchFamily="34" charset="-122"/>
                <a:cs typeface="GT America" pitchFamily="34" charset="-120"/>
              </a:rPr>
              <a:t>$3.1M</a:t>
            </a:r>
            <a:endParaRPr lang="en-US" sz="2700" dirty="0"/>
          </a:p>
        </p:txBody>
      </p:sp>
      <p:sp>
        <p:nvSpPr>
          <p:cNvPr id="14" name="Text 12"/>
          <p:cNvSpPr/>
          <p:nvPr/>
        </p:nvSpPr>
        <p:spPr>
          <a:xfrm>
            <a:off x="6432804" y="2743200"/>
            <a:ext cx="2210562" cy="502920"/>
          </a:xfrm>
          <a:prstGeom prst="rect">
            <a:avLst/>
          </a:prstGeom>
          <a:noFill/>
          <a:ln/>
        </p:spPr>
        <p:txBody>
          <a:bodyPr wrap="square" rtlCol="0" anchor="ctr"/>
          <a:lstStyle/>
          <a:p>
            <a:pPr indent="0" marL="0">
              <a:lnSpc>
                <a:spcPct val="110000"/>
              </a:lnSpc>
              <a:buNone/>
            </a:pPr>
            <a:r>
              <a:rPr lang="en-US" sz="1150" b="1" dirty="0">
                <a:solidFill>
                  <a:srgbClr val="FFFFFF"/>
                </a:solidFill>
                <a:latin typeface="GT America" pitchFamily="34" charset="0"/>
                <a:ea typeface="GT America" pitchFamily="34" charset="-122"/>
                <a:cs typeface="GT America" pitchFamily="34" charset="-120"/>
              </a:rPr>
              <a:t>SQL influenced (2025)</a:t>
            </a:r>
            <a:endParaRPr lang="en-US" sz="1150" dirty="0"/>
          </a:p>
        </p:txBody>
      </p:sp>
      <p:sp>
        <p:nvSpPr>
          <p:cNvPr id="15" name="Text 13"/>
          <p:cNvSpPr/>
          <p:nvPr/>
        </p:nvSpPr>
        <p:spPr>
          <a:xfrm>
            <a:off x="6432804" y="3227832"/>
            <a:ext cx="2210562" cy="457200"/>
          </a:xfrm>
          <a:prstGeom prst="rect">
            <a:avLst/>
          </a:prstGeom>
          <a:noFill/>
          <a:ln/>
        </p:spPr>
        <p:txBody>
          <a:bodyPr wrap="square" rtlCol="0" anchor="ctr"/>
          <a:lstStyle/>
          <a:p>
            <a:pPr indent="0" marL="0">
              <a:lnSpc>
                <a:spcPct val="115000"/>
              </a:lnSpc>
              <a:buNone/>
            </a:pPr>
            <a:r>
              <a:rPr lang="en-US" sz="900" i="1" dirty="0">
                <a:solidFill>
                  <a:srgbClr val="9FB0CC"/>
                </a:solidFill>
                <a:latin typeface="GT America" pitchFamily="34" charset="0"/>
                <a:ea typeface="GT America" pitchFamily="34" charset="-122"/>
                <a:cs typeface="GT America" pitchFamily="34" charset="-120"/>
              </a:rPr>
              <a:t>Loan Origination — sourced via SEO-optimized webpage</a:t>
            </a:r>
            <a:endParaRPr lang="en-US" sz="900" dirty="0"/>
          </a:p>
        </p:txBody>
      </p:sp>
      <p:sp>
        <p:nvSpPr>
          <p:cNvPr id="16" name="Shape 14"/>
          <p:cNvSpPr/>
          <p:nvPr/>
        </p:nvSpPr>
        <p:spPr>
          <a:xfrm>
            <a:off x="9118854" y="1783080"/>
            <a:ext cx="2612898" cy="1965960"/>
          </a:xfrm>
          <a:prstGeom prst="roundRect">
            <a:avLst>
              <a:gd name="adj" fmla="val 3721"/>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9320022" y="2057400"/>
            <a:ext cx="2210562" cy="685800"/>
          </a:xfrm>
          <a:prstGeom prst="rect">
            <a:avLst/>
          </a:prstGeom>
          <a:noFill/>
          <a:ln/>
        </p:spPr>
        <p:txBody>
          <a:bodyPr wrap="square" rtlCol="0" anchor="ctr"/>
          <a:lstStyle/>
          <a:p>
            <a:pPr indent="0" marL="0">
              <a:buNone/>
            </a:pPr>
            <a:r>
              <a:rPr lang="en-US" sz="2700" b="1" dirty="0">
                <a:solidFill>
                  <a:srgbClr val="0057E7"/>
                </a:solidFill>
                <a:latin typeface="GT America" pitchFamily="34" charset="0"/>
                <a:ea typeface="GT America" pitchFamily="34" charset="-122"/>
                <a:cs typeface="GT America" pitchFamily="34" charset="-120"/>
              </a:rPr>
              <a:t>$1.59M</a:t>
            </a:r>
            <a:endParaRPr lang="en-US" sz="2700" dirty="0"/>
          </a:p>
        </p:txBody>
      </p:sp>
      <p:sp>
        <p:nvSpPr>
          <p:cNvPr id="18" name="Text 16"/>
          <p:cNvSpPr/>
          <p:nvPr/>
        </p:nvSpPr>
        <p:spPr>
          <a:xfrm>
            <a:off x="9320022" y="2743200"/>
            <a:ext cx="2210562" cy="502920"/>
          </a:xfrm>
          <a:prstGeom prst="rect">
            <a:avLst/>
          </a:prstGeom>
          <a:noFill/>
          <a:ln/>
        </p:spPr>
        <p:txBody>
          <a:bodyPr wrap="square" rtlCol="0" anchor="ctr"/>
          <a:lstStyle/>
          <a:p>
            <a:pPr indent="0" marL="0">
              <a:lnSpc>
                <a:spcPct val="110000"/>
              </a:lnSpc>
              <a:buNone/>
            </a:pPr>
            <a:r>
              <a:rPr lang="en-US" sz="1150" b="1" dirty="0">
                <a:solidFill>
                  <a:srgbClr val="0A1264"/>
                </a:solidFill>
                <a:latin typeface="GT America" pitchFamily="34" charset="0"/>
                <a:ea typeface="GT America" pitchFamily="34" charset="-122"/>
                <a:cs typeface="GT America" pitchFamily="34" charset="-120"/>
              </a:rPr>
              <a:t>Revenue influenced</a:t>
            </a:r>
            <a:endParaRPr lang="en-US" sz="1150" dirty="0"/>
          </a:p>
        </p:txBody>
      </p:sp>
      <p:sp>
        <p:nvSpPr>
          <p:cNvPr id="19" name="Text 17"/>
          <p:cNvSpPr/>
          <p:nvPr/>
        </p:nvSpPr>
        <p:spPr>
          <a:xfrm>
            <a:off x="9320022" y="3227832"/>
            <a:ext cx="2210562"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GT America" pitchFamily="34" charset="0"/>
                <a:ea typeface="GT America" pitchFamily="34" charset="-122"/>
                <a:cs typeface="GT America" pitchFamily="34" charset="-120"/>
              </a:rPr>
              <a:t>Via Google &amp; LinkedIn ad campaigns</a:t>
            </a:r>
            <a:endParaRPr lang="en-US" sz="900" dirty="0"/>
          </a:p>
        </p:txBody>
      </p:sp>
      <p:sp>
        <p:nvSpPr>
          <p:cNvPr id="20" name="Shape 18"/>
          <p:cNvSpPr/>
          <p:nvPr/>
        </p:nvSpPr>
        <p:spPr>
          <a:xfrm>
            <a:off x="457200" y="4069080"/>
            <a:ext cx="11274552" cy="2240280"/>
          </a:xfrm>
          <a:prstGeom prst="roundRect">
            <a:avLst>
              <a:gd name="adj" fmla="val 3265"/>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1" name="Shape 19"/>
          <p:cNvSpPr/>
          <p:nvPr/>
        </p:nvSpPr>
        <p:spPr>
          <a:xfrm>
            <a:off x="777240" y="4325112"/>
            <a:ext cx="2011680" cy="384048"/>
          </a:xfrm>
          <a:prstGeom prst="roundRect">
            <a:avLst>
              <a:gd name="adj" fmla="val 14286"/>
            </a:avLst>
          </a:prstGeom>
          <a:solidFill>
            <a:srgbClr val="0A1264"/>
          </a:solidFill>
          <a:ln/>
        </p:spPr>
      </p:sp>
      <p:sp>
        <p:nvSpPr>
          <p:cNvPr id="22" name="Text 20"/>
          <p:cNvSpPr/>
          <p:nvPr/>
        </p:nvSpPr>
        <p:spPr>
          <a:xfrm>
            <a:off x="777240" y="4325112"/>
            <a:ext cx="2011680" cy="38404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2025 FLAGSHIP WIN</a:t>
            </a:r>
            <a:endParaRPr lang="en-US" sz="1100" dirty="0"/>
          </a:p>
        </p:txBody>
      </p:sp>
      <p:sp>
        <p:nvSpPr>
          <p:cNvPr id="23" name="Text 21"/>
          <p:cNvSpPr/>
          <p:nvPr/>
        </p:nvSpPr>
        <p:spPr>
          <a:xfrm>
            <a:off x="777240" y="4846320"/>
            <a:ext cx="10607040" cy="1097280"/>
          </a:xfrm>
          <a:prstGeom prst="rect">
            <a:avLst/>
          </a:prstGeom>
          <a:noFill/>
          <a:ln/>
        </p:spPr>
        <p:txBody>
          <a:bodyPr wrap="square" rtlCol="0" anchor="ctr"/>
          <a:lstStyle/>
          <a:p>
            <a:pPr indent="0" marL="0">
              <a:lnSpc>
                <a:spcPct val="130000"/>
              </a:lnSpc>
              <a:buNone/>
            </a:pPr>
            <a:r>
              <a:rPr lang="en-US" sz="1500" i="1" dirty="0">
                <a:solidFill>
                  <a:srgbClr val="1B3F91"/>
                </a:solidFill>
                <a:latin typeface="GT America" pitchFamily="34" charset="0"/>
                <a:ea typeface="GT America" pitchFamily="34" charset="-122"/>
                <a:cs typeface="GT America" pitchFamily="34" charset="-120"/>
              </a:rPr>
              <a:t>A customer came in directly from our website and said the Loan Origination webpage gave them the relevant information they needed to move forward — resulting in a $3.1M SQL (sales-qualified lead) traced directly to SEO-led website optimization.</a:t>
            </a:r>
            <a:endParaRPr lang="en-US" sz="1500" dirty="0"/>
          </a:p>
        </p:txBody>
      </p:sp>
      <p:sp>
        <p:nvSpPr>
          <p:cNvPr id="24" name="Text 22"/>
          <p:cNvSpPr/>
          <p:nvPr/>
        </p:nvSpPr>
        <p:spPr>
          <a:xfrm>
            <a:off x="777240" y="5943600"/>
            <a:ext cx="10607040" cy="320040"/>
          </a:xfrm>
          <a:prstGeom prst="rect">
            <a:avLst/>
          </a:prstGeom>
          <a:noFill/>
          <a:ln/>
        </p:spPr>
        <p:txBody>
          <a:bodyPr wrap="square" rtlCol="0" anchor="ctr"/>
          <a:lstStyle/>
          <a:p>
            <a:pPr indent="0" marL="0">
              <a:buNone/>
            </a:pPr>
            <a:r>
              <a:rPr lang="en-US" sz="1050" i="1" dirty="0">
                <a:solidFill>
                  <a:srgbClr val="1B3F91"/>
                </a:solidFill>
                <a:latin typeface="GT America" pitchFamily="34" charset="0"/>
                <a:ea typeface="GT America" pitchFamily="34" charset="-122"/>
                <a:cs typeface="GT America" pitchFamily="34" charset="-120"/>
              </a:rPr>
              <a:t>Recognized and celebrated internally as a flagship example of SEO and website optimization translating directly into pipeline value.</a:t>
            </a:r>
            <a:endParaRPr lang="en-US" sz="1050" dirty="0"/>
          </a:p>
        </p:txBody>
      </p:sp>
      <p:sp>
        <p:nvSpPr>
          <p:cNvPr id="25" name="Text 23"/>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BUDGET STEWARDSHIP &amp; REVENUE IMPACT</a:t>
            </a:r>
            <a:endParaRPr lang="en-US" sz="900" dirty="0"/>
          </a:p>
        </p:txBody>
      </p:sp>
      <p:sp>
        <p:nvSpPr>
          <p:cNvPr id="26" name="Text 24"/>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21 / 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457200" y="384048"/>
            <a:ext cx="10515600" cy="274320"/>
          </a:xfrm>
          <a:prstGeom prst="rect">
            <a:avLst/>
          </a:prstGeom>
          <a:noFill/>
          <a:ln/>
        </p:spPr>
        <p:txBody>
          <a:bodyPr wrap="square" rtlCol="0" anchor="ctr"/>
          <a:lstStyle/>
          <a:p>
            <a:pPr algn="l" indent="0" marL="0">
              <a:buNone/>
            </a:pPr>
            <a:r>
              <a:rPr lang="en-US" sz="1200" b="1" spc="200" kern="0" dirty="0">
                <a:solidFill>
                  <a:srgbClr val="0057E7"/>
                </a:solidFill>
                <a:latin typeface="GT America" pitchFamily="34" charset="0"/>
                <a:ea typeface="GT America" pitchFamily="34" charset="-122"/>
                <a:cs typeface="GT America" pitchFamily="34" charset="-120"/>
              </a:rPr>
              <a:t>CONTRIBUTION &amp; OUTCOMES</a:t>
            </a:r>
            <a:endParaRPr lang="en-US" sz="1200" dirty="0"/>
          </a:p>
        </p:txBody>
      </p:sp>
      <p:sp>
        <p:nvSpPr>
          <p:cNvPr id="3" name="Text 1"/>
          <p:cNvSpPr/>
          <p:nvPr/>
        </p:nvSpPr>
        <p:spPr>
          <a:xfrm>
            <a:off x="457200" y="658368"/>
            <a:ext cx="10607040" cy="822960"/>
          </a:xfrm>
          <a:prstGeom prst="rect">
            <a:avLst/>
          </a:prstGeom>
          <a:noFill/>
          <a:ln/>
        </p:spPr>
        <p:txBody>
          <a:bodyPr wrap="square" rtlCol="0" anchor="ctr"/>
          <a:lstStyle/>
          <a:p>
            <a:pPr algn="l" indent="0" marL="0">
              <a:lnSpc>
                <a:spcPct val="102000"/>
              </a:lnSpc>
              <a:buNone/>
            </a:pPr>
            <a:r>
              <a:rPr lang="en-US" sz="2800" b="1" dirty="0">
                <a:solidFill>
                  <a:srgbClr val="0A1264"/>
                </a:solidFill>
                <a:latin typeface="GT America" pitchFamily="34" charset="0"/>
                <a:ea typeface="GT America" pitchFamily="34" charset="-122"/>
                <a:cs typeface="GT America" pitchFamily="34" charset="-120"/>
              </a:rPr>
              <a:t>What I Delivered, and Why It Mattered</a:t>
            </a:r>
            <a:endParaRPr lang="en-US" sz="2800" dirty="0"/>
          </a:p>
        </p:txBody>
      </p:sp>
      <p:sp>
        <p:nvSpPr>
          <p:cNvPr id="4" name="Shape 2"/>
          <p:cNvSpPr/>
          <p:nvPr/>
        </p:nvSpPr>
        <p:spPr>
          <a:xfrm>
            <a:off x="457200" y="1783080"/>
            <a:ext cx="5440680" cy="3520440"/>
          </a:xfrm>
          <a:prstGeom prst="roundRect">
            <a:avLst>
              <a:gd name="adj" fmla="val 2078"/>
            </a:avLst>
          </a:prstGeom>
          <a:solidFill>
            <a:srgbClr val="FFFFFF"/>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5" name="Text 3"/>
          <p:cNvSpPr/>
          <p:nvPr/>
        </p:nvSpPr>
        <p:spPr>
          <a:xfrm>
            <a:off x="777240" y="2057400"/>
            <a:ext cx="4800600" cy="320040"/>
          </a:xfrm>
          <a:prstGeom prst="rect">
            <a:avLst/>
          </a:prstGeom>
          <a:noFill/>
          <a:ln/>
        </p:spPr>
        <p:txBody>
          <a:bodyPr wrap="square" rtlCol="0" anchor="ctr"/>
          <a:lstStyle/>
          <a:p>
            <a:pPr indent="0" marL="0">
              <a:buNone/>
            </a:pPr>
            <a:r>
              <a:rPr lang="en-US" sz="1350" b="1" spc="50" kern="0" dirty="0">
                <a:solidFill>
                  <a:srgbClr val="0A1264"/>
                </a:solidFill>
                <a:latin typeface="GT America" pitchFamily="34" charset="0"/>
                <a:ea typeface="GT America" pitchFamily="34" charset="-122"/>
                <a:cs typeface="GT America" pitchFamily="34" charset="-120"/>
              </a:rPr>
              <a:t>A.  WHAT I DELIVERED</a:t>
            </a:r>
            <a:endParaRPr lang="en-US" sz="1350" dirty="0"/>
          </a:p>
        </p:txBody>
      </p:sp>
      <p:sp>
        <p:nvSpPr>
          <p:cNvPr id="6" name="Shape 4"/>
          <p:cNvSpPr/>
          <p:nvPr/>
        </p:nvSpPr>
        <p:spPr>
          <a:xfrm>
            <a:off x="777240" y="2642616"/>
            <a:ext cx="64008" cy="64008"/>
          </a:xfrm>
          <a:prstGeom prst="ellipse">
            <a:avLst/>
          </a:prstGeom>
          <a:solidFill>
            <a:srgbClr val="0057E7"/>
          </a:solidFill>
          <a:ln/>
        </p:spPr>
      </p:sp>
      <p:sp>
        <p:nvSpPr>
          <p:cNvPr id="7" name="Text 5"/>
          <p:cNvSpPr/>
          <p:nvPr/>
        </p:nvSpPr>
        <p:spPr>
          <a:xfrm>
            <a:off x="978408" y="2514600"/>
            <a:ext cx="4187952" cy="585216"/>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Developed customer-focused messaging and value proposition frameworks</a:t>
            </a:r>
            <a:endParaRPr lang="en-US" sz="1150" dirty="0"/>
          </a:p>
        </p:txBody>
      </p:sp>
      <p:sp>
        <p:nvSpPr>
          <p:cNvPr id="8" name="Shape 6"/>
          <p:cNvSpPr/>
          <p:nvPr/>
        </p:nvSpPr>
        <p:spPr>
          <a:xfrm>
            <a:off x="777240" y="3209544"/>
            <a:ext cx="64008" cy="64008"/>
          </a:xfrm>
          <a:prstGeom prst="ellipse">
            <a:avLst/>
          </a:prstGeom>
          <a:solidFill>
            <a:srgbClr val="0057E7"/>
          </a:solidFill>
          <a:ln/>
        </p:spPr>
      </p:sp>
      <p:sp>
        <p:nvSpPr>
          <p:cNvPr id="9" name="Text 7"/>
          <p:cNvSpPr/>
          <p:nvPr/>
        </p:nvSpPr>
        <p:spPr>
          <a:xfrm>
            <a:off x="978408" y="3081528"/>
            <a:ext cx="4187952" cy="585216"/>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Created content for webpages, brochures, and sales materials</a:t>
            </a:r>
            <a:endParaRPr lang="en-US" sz="1150" dirty="0"/>
          </a:p>
        </p:txBody>
      </p:sp>
      <p:sp>
        <p:nvSpPr>
          <p:cNvPr id="10" name="Shape 8"/>
          <p:cNvSpPr/>
          <p:nvPr/>
        </p:nvSpPr>
        <p:spPr>
          <a:xfrm>
            <a:off x="777240" y="3776472"/>
            <a:ext cx="64008" cy="64008"/>
          </a:xfrm>
          <a:prstGeom prst="ellipse">
            <a:avLst/>
          </a:prstGeom>
          <a:solidFill>
            <a:srgbClr val="0057E7"/>
          </a:solidFill>
          <a:ln/>
        </p:spPr>
      </p:sp>
      <p:sp>
        <p:nvSpPr>
          <p:cNvPr id="11" name="Text 9"/>
          <p:cNvSpPr/>
          <p:nvPr/>
        </p:nvSpPr>
        <p:spPr>
          <a:xfrm>
            <a:off x="978408" y="3648456"/>
            <a:ext cx="4187952" cy="585216"/>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Supported campaign briefs and developed Google &amp; LinkedIn ad copy</a:t>
            </a:r>
            <a:endParaRPr lang="en-US" sz="1150" dirty="0"/>
          </a:p>
        </p:txBody>
      </p:sp>
      <p:sp>
        <p:nvSpPr>
          <p:cNvPr id="12" name="Shape 10"/>
          <p:cNvSpPr/>
          <p:nvPr/>
        </p:nvSpPr>
        <p:spPr>
          <a:xfrm>
            <a:off x="777240" y="4343400"/>
            <a:ext cx="64008" cy="64008"/>
          </a:xfrm>
          <a:prstGeom prst="ellipse">
            <a:avLst/>
          </a:prstGeom>
          <a:solidFill>
            <a:srgbClr val="0057E7"/>
          </a:solidFill>
          <a:ln/>
        </p:spPr>
      </p:sp>
      <p:sp>
        <p:nvSpPr>
          <p:cNvPr id="13" name="Text 11"/>
          <p:cNvSpPr/>
          <p:nvPr/>
        </p:nvSpPr>
        <p:spPr>
          <a:xfrm>
            <a:off x="978408" y="4215384"/>
            <a:ext cx="4187952" cy="585216"/>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Analyzed website behaviour and attribution to inform optimization</a:t>
            </a:r>
            <a:endParaRPr lang="en-US" sz="1150" dirty="0"/>
          </a:p>
        </p:txBody>
      </p:sp>
      <p:sp>
        <p:nvSpPr>
          <p:cNvPr id="14" name="Shape 12"/>
          <p:cNvSpPr/>
          <p:nvPr/>
        </p:nvSpPr>
        <p:spPr>
          <a:xfrm>
            <a:off x="777240" y="4910328"/>
            <a:ext cx="64008" cy="64008"/>
          </a:xfrm>
          <a:prstGeom prst="ellipse">
            <a:avLst/>
          </a:prstGeom>
          <a:solidFill>
            <a:srgbClr val="0057E7"/>
          </a:solidFill>
          <a:ln/>
        </p:spPr>
      </p:sp>
      <p:sp>
        <p:nvSpPr>
          <p:cNvPr id="15" name="Text 13"/>
          <p:cNvSpPr/>
          <p:nvPr/>
        </p:nvSpPr>
        <p:spPr>
          <a:xfrm>
            <a:off x="978408" y="4782312"/>
            <a:ext cx="4187952" cy="585216"/>
          </a:xfrm>
          <a:prstGeom prst="rect">
            <a:avLst/>
          </a:prstGeom>
          <a:noFill/>
          <a:ln/>
        </p:spPr>
        <p:txBody>
          <a:bodyPr wrap="square" rtlCol="0" anchor="t"/>
          <a:lstStyle/>
          <a:p>
            <a:pPr indent="0" marL="0">
              <a:lnSpc>
                <a:spcPct val="105000"/>
              </a:lnSpc>
              <a:buNone/>
            </a:pPr>
            <a:r>
              <a:rPr lang="en-US" sz="1150" dirty="0">
                <a:solidFill>
                  <a:srgbClr val="10142B"/>
                </a:solidFill>
                <a:latin typeface="GT America" pitchFamily="34" charset="0"/>
                <a:ea typeface="GT America" pitchFamily="34" charset="-122"/>
                <a:cs typeface="GT America" pitchFamily="34" charset="-120"/>
              </a:rPr>
              <a:t>Created sales enablement assets: battle cards, feature grids, newsletters</a:t>
            </a:r>
            <a:endParaRPr lang="en-US" sz="1150" dirty="0"/>
          </a:p>
        </p:txBody>
      </p:sp>
      <p:sp>
        <p:nvSpPr>
          <p:cNvPr id="16" name="Shape 14"/>
          <p:cNvSpPr/>
          <p:nvPr/>
        </p:nvSpPr>
        <p:spPr>
          <a:xfrm>
            <a:off x="6291072" y="1783080"/>
            <a:ext cx="5440680" cy="3520440"/>
          </a:xfrm>
          <a:prstGeom prst="roundRect">
            <a:avLst>
              <a:gd name="adj" fmla="val 2078"/>
            </a:avLst>
          </a:prstGeom>
          <a:solidFill>
            <a:srgbClr val="0A1264"/>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17" name="Text 15"/>
          <p:cNvSpPr/>
          <p:nvPr/>
        </p:nvSpPr>
        <p:spPr>
          <a:xfrm>
            <a:off x="6611112" y="2057400"/>
            <a:ext cx="4800600" cy="320040"/>
          </a:xfrm>
          <a:prstGeom prst="rect">
            <a:avLst/>
          </a:prstGeom>
          <a:noFill/>
          <a:ln/>
        </p:spPr>
        <p:txBody>
          <a:bodyPr wrap="square" rtlCol="0" anchor="ctr"/>
          <a:lstStyle/>
          <a:p>
            <a:pPr indent="0" marL="0">
              <a:buNone/>
            </a:pPr>
            <a:r>
              <a:rPr lang="en-US" sz="1350" b="1" spc="50" kern="0" dirty="0">
                <a:solidFill>
                  <a:srgbClr val="0057E7"/>
                </a:solidFill>
                <a:latin typeface="GT America" pitchFamily="34" charset="0"/>
                <a:ea typeface="GT America" pitchFamily="34" charset="-122"/>
                <a:cs typeface="GT America" pitchFamily="34" charset="-120"/>
              </a:rPr>
              <a:t>B.  STRATEGIC CONTRIBUTION</a:t>
            </a:r>
            <a:endParaRPr lang="en-US" sz="1350" dirty="0"/>
          </a:p>
        </p:txBody>
      </p:sp>
      <p:sp>
        <p:nvSpPr>
          <p:cNvPr id="18" name="Shape 16"/>
          <p:cNvSpPr/>
          <p:nvPr/>
        </p:nvSpPr>
        <p:spPr>
          <a:xfrm>
            <a:off x="6611112" y="2642616"/>
            <a:ext cx="64008" cy="64008"/>
          </a:xfrm>
          <a:prstGeom prst="ellipse">
            <a:avLst/>
          </a:prstGeom>
          <a:solidFill>
            <a:srgbClr val="4D8DFF"/>
          </a:solidFill>
          <a:ln/>
        </p:spPr>
      </p:sp>
      <p:sp>
        <p:nvSpPr>
          <p:cNvPr id="19" name="Text 17"/>
          <p:cNvSpPr/>
          <p:nvPr/>
        </p:nvSpPr>
        <p:spPr>
          <a:xfrm>
            <a:off x="6812280" y="2514600"/>
            <a:ext cx="4599432" cy="585216"/>
          </a:xfrm>
          <a:prstGeom prst="rect">
            <a:avLst/>
          </a:prstGeom>
          <a:noFill/>
          <a:ln/>
        </p:spPr>
        <p:txBody>
          <a:bodyPr wrap="square" rtlCol="0" anchor="t"/>
          <a:lstStyle/>
          <a:p>
            <a:pPr indent="0" marL="0">
              <a:lnSpc>
                <a:spcPct val="105000"/>
              </a:lnSpc>
              <a:buNone/>
            </a:pPr>
            <a:r>
              <a:rPr lang="en-US" sz="1150" dirty="0">
                <a:solidFill>
                  <a:srgbClr val="E7ECF6"/>
                </a:solidFill>
                <a:latin typeface="GT America" pitchFamily="34" charset="0"/>
                <a:ea typeface="GT America" pitchFamily="34" charset="-122"/>
                <a:cs typeface="GT America" pitchFamily="34" charset="-120"/>
              </a:rPr>
              <a:t>Helped connect product capabilities to customer problems and value</a:t>
            </a:r>
            <a:endParaRPr lang="en-US" sz="1150" dirty="0"/>
          </a:p>
        </p:txBody>
      </p:sp>
      <p:sp>
        <p:nvSpPr>
          <p:cNvPr id="20" name="Shape 18"/>
          <p:cNvSpPr/>
          <p:nvPr/>
        </p:nvSpPr>
        <p:spPr>
          <a:xfrm>
            <a:off x="6611112" y="3209544"/>
            <a:ext cx="64008" cy="64008"/>
          </a:xfrm>
          <a:prstGeom prst="ellipse">
            <a:avLst/>
          </a:prstGeom>
          <a:solidFill>
            <a:srgbClr val="4D8DFF"/>
          </a:solidFill>
          <a:ln/>
        </p:spPr>
      </p:sp>
      <p:sp>
        <p:nvSpPr>
          <p:cNvPr id="21" name="Text 19"/>
          <p:cNvSpPr/>
          <p:nvPr/>
        </p:nvSpPr>
        <p:spPr>
          <a:xfrm>
            <a:off x="6812280" y="3081528"/>
            <a:ext cx="4599432" cy="585216"/>
          </a:xfrm>
          <a:prstGeom prst="rect">
            <a:avLst/>
          </a:prstGeom>
          <a:noFill/>
          <a:ln/>
        </p:spPr>
        <p:txBody>
          <a:bodyPr wrap="square" rtlCol="0" anchor="t"/>
          <a:lstStyle/>
          <a:p>
            <a:pPr indent="0" marL="0">
              <a:lnSpc>
                <a:spcPct val="105000"/>
              </a:lnSpc>
              <a:buNone/>
            </a:pPr>
            <a:r>
              <a:rPr lang="en-US" sz="1150" dirty="0">
                <a:solidFill>
                  <a:srgbClr val="E7ECF6"/>
                </a:solidFill>
                <a:latin typeface="GT America" pitchFamily="34" charset="0"/>
                <a:ea typeface="GT America" pitchFamily="34" charset="-122"/>
                <a:cs typeface="GT America" pitchFamily="34" charset="-120"/>
              </a:rPr>
              <a:t>Supported portfolio-wide positioning consistency across channels</a:t>
            </a:r>
            <a:endParaRPr lang="en-US" sz="1150" dirty="0"/>
          </a:p>
        </p:txBody>
      </p:sp>
      <p:sp>
        <p:nvSpPr>
          <p:cNvPr id="22" name="Shape 20"/>
          <p:cNvSpPr/>
          <p:nvPr/>
        </p:nvSpPr>
        <p:spPr>
          <a:xfrm>
            <a:off x="6611112" y="3776472"/>
            <a:ext cx="64008" cy="64008"/>
          </a:xfrm>
          <a:prstGeom prst="ellipse">
            <a:avLst/>
          </a:prstGeom>
          <a:solidFill>
            <a:srgbClr val="4D8DFF"/>
          </a:solidFill>
          <a:ln/>
        </p:spPr>
      </p:sp>
      <p:sp>
        <p:nvSpPr>
          <p:cNvPr id="23" name="Text 21"/>
          <p:cNvSpPr/>
          <p:nvPr/>
        </p:nvSpPr>
        <p:spPr>
          <a:xfrm>
            <a:off x="6812280" y="3648456"/>
            <a:ext cx="4599432" cy="585216"/>
          </a:xfrm>
          <a:prstGeom prst="rect">
            <a:avLst/>
          </a:prstGeom>
          <a:noFill/>
          <a:ln/>
        </p:spPr>
        <p:txBody>
          <a:bodyPr wrap="square" rtlCol="0" anchor="t"/>
          <a:lstStyle/>
          <a:p>
            <a:pPr indent="0" marL="0">
              <a:lnSpc>
                <a:spcPct val="105000"/>
              </a:lnSpc>
              <a:buNone/>
            </a:pPr>
            <a:r>
              <a:rPr lang="en-US" sz="1150" dirty="0">
                <a:solidFill>
                  <a:srgbClr val="E7ECF6"/>
                </a:solidFill>
                <a:latin typeface="GT America" pitchFamily="34" charset="0"/>
                <a:ea typeface="GT America" pitchFamily="34" charset="-122"/>
                <a:cs typeface="GT America" pitchFamily="34" charset="-120"/>
              </a:rPr>
              <a:t>Contributed to closer marketing and sales alignment</a:t>
            </a:r>
            <a:endParaRPr lang="en-US" sz="1150" dirty="0"/>
          </a:p>
        </p:txBody>
      </p:sp>
      <p:sp>
        <p:nvSpPr>
          <p:cNvPr id="24" name="Shape 22"/>
          <p:cNvSpPr/>
          <p:nvPr/>
        </p:nvSpPr>
        <p:spPr>
          <a:xfrm>
            <a:off x="6611112" y="4343400"/>
            <a:ext cx="64008" cy="64008"/>
          </a:xfrm>
          <a:prstGeom prst="ellipse">
            <a:avLst/>
          </a:prstGeom>
          <a:solidFill>
            <a:srgbClr val="4D8DFF"/>
          </a:solidFill>
          <a:ln/>
        </p:spPr>
      </p:sp>
      <p:sp>
        <p:nvSpPr>
          <p:cNvPr id="25" name="Text 23"/>
          <p:cNvSpPr/>
          <p:nvPr/>
        </p:nvSpPr>
        <p:spPr>
          <a:xfrm>
            <a:off x="6812280" y="4215384"/>
            <a:ext cx="4599432" cy="585216"/>
          </a:xfrm>
          <a:prstGeom prst="rect">
            <a:avLst/>
          </a:prstGeom>
          <a:noFill/>
          <a:ln/>
        </p:spPr>
        <p:txBody>
          <a:bodyPr wrap="square" rtlCol="0" anchor="t"/>
          <a:lstStyle/>
          <a:p>
            <a:pPr indent="0" marL="0">
              <a:lnSpc>
                <a:spcPct val="105000"/>
              </a:lnSpc>
              <a:buNone/>
            </a:pPr>
            <a:r>
              <a:rPr lang="en-US" sz="1150" dirty="0">
                <a:solidFill>
                  <a:srgbClr val="E7ECF6"/>
                </a:solidFill>
                <a:latin typeface="GT America" pitchFamily="34" charset="0"/>
                <a:ea typeface="GT America" pitchFamily="34" charset="-122"/>
                <a:cs typeface="GT America" pitchFamily="34" charset="-120"/>
              </a:rPr>
              <a:t>Helped bring SEO and audience insight into content decisions</a:t>
            </a:r>
            <a:endParaRPr lang="en-US" sz="1150" dirty="0"/>
          </a:p>
        </p:txBody>
      </p:sp>
      <p:sp>
        <p:nvSpPr>
          <p:cNvPr id="26" name="Shape 24"/>
          <p:cNvSpPr/>
          <p:nvPr/>
        </p:nvSpPr>
        <p:spPr>
          <a:xfrm>
            <a:off x="6611112" y="4910328"/>
            <a:ext cx="64008" cy="64008"/>
          </a:xfrm>
          <a:prstGeom prst="ellipse">
            <a:avLst/>
          </a:prstGeom>
          <a:solidFill>
            <a:srgbClr val="4D8DFF"/>
          </a:solidFill>
          <a:ln/>
        </p:spPr>
      </p:sp>
      <p:sp>
        <p:nvSpPr>
          <p:cNvPr id="27" name="Text 25"/>
          <p:cNvSpPr/>
          <p:nvPr/>
        </p:nvSpPr>
        <p:spPr>
          <a:xfrm>
            <a:off x="6812280" y="4782312"/>
            <a:ext cx="4599432" cy="585216"/>
          </a:xfrm>
          <a:prstGeom prst="rect">
            <a:avLst/>
          </a:prstGeom>
          <a:noFill/>
          <a:ln/>
        </p:spPr>
        <p:txBody>
          <a:bodyPr wrap="square" rtlCol="0" anchor="t"/>
          <a:lstStyle/>
          <a:p>
            <a:pPr indent="0" marL="0">
              <a:lnSpc>
                <a:spcPct val="105000"/>
              </a:lnSpc>
              <a:buNone/>
            </a:pPr>
            <a:r>
              <a:rPr lang="en-US" sz="1150" dirty="0">
                <a:solidFill>
                  <a:srgbClr val="E7ECF6"/>
                </a:solidFill>
                <a:latin typeface="GT America" pitchFamily="34" charset="0"/>
                <a:ea typeface="GT America" pitchFamily="34" charset="-122"/>
                <a:cs typeface="GT America" pitchFamily="34" charset="-120"/>
              </a:rPr>
              <a:t>Supported data-informed optimization across web and campaigns</a:t>
            </a:r>
            <a:endParaRPr lang="en-US" sz="1150" dirty="0"/>
          </a:p>
        </p:txBody>
      </p:sp>
      <p:sp>
        <p:nvSpPr>
          <p:cNvPr id="28" name="Shape 26"/>
          <p:cNvSpPr/>
          <p:nvPr/>
        </p:nvSpPr>
        <p:spPr>
          <a:xfrm>
            <a:off x="457200" y="5532120"/>
            <a:ext cx="11274552" cy="777240"/>
          </a:xfrm>
          <a:prstGeom prst="roundRect">
            <a:avLst>
              <a:gd name="adj" fmla="val 9412"/>
            </a:avLst>
          </a:prstGeom>
          <a:solidFill>
            <a:srgbClr val="DCE6FB"/>
          </a:solidFill>
          <a:ln w="12700">
            <a:solidFill>
              <a:srgbClr val="DCE1EC"/>
            </a:solidFill>
            <a:prstDash val="solid"/>
          </a:ln>
          <a:effectLst>
            <a:outerShdw sx="100000" sy="100000" kx="0" ky="0" algn="bl" rotWithShape="0" blurRad="101600" dist="25400" dir="5400000">
              <a:srgbClr val="1B2430">
                <a:alpha val="12000"/>
              </a:srgbClr>
            </a:outerShdw>
          </a:effectLst>
        </p:spPr>
      </p:sp>
      <p:sp>
        <p:nvSpPr>
          <p:cNvPr id="29" name="Shape 27"/>
          <p:cNvSpPr/>
          <p:nvPr/>
        </p:nvSpPr>
        <p:spPr>
          <a:xfrm>
            <a:off x="777240" y="5733288"/>
            <a:ext cx="1371600" cy="365760"/>
          </a:xfrm>
          <a:prstGeom prst="roundRect">
            <a:avLst>
              <a:gd name="adj" fmla="val 15000"/>
            </a:avLst>
          </a:prstGeom>
          <a:solidFill>
            <a:srgbClr val="0A1264"/>
          </a:solidFill>
          <a:ln/>
        </p:spPr>
      </p:sp>
      <p:sp>
        <p:nvSpPr>
          <p:cNvPr id="30" name="Text 28"/>
          <p:cNvSpPr/>
          <p:nvPr/>
        </p:nvSpPr>
        <p:spPr>
          <a:xfrm>
            <a:off x="777240" y="5733288"/>
            <a:ext cx="1371600" cy="365760"/>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CASE STUDY</a:t>
            </a:r>
            <a:endParaRPr lang="en-US" sz="1100" dirty="0"/>
          </a:p>
        </p:txBody>
      </p:sp>
      <p:sp>
        <p:nvSpPr>
          <p:cNvPr id="31" name="Text 29">
            <a:hlinkClick r:id="rId1" tooltip="Read the case study"/>
          </p:cNvPr>
          <p:cNvSpPr/>
          <p:nvPr/>
        </p:nvSpPr>
        <p:spPr>
          <a:xfrm>
            <a:off x="2331720" y="5532120"/>
            <a:ext cx="8869680" cy="777240"/>
          </a:xfrm>
          <a:prstGeom prst="rect">
            <a:avLst/>
          </a:prstGeom>
          <a:noFill/>
          <a:ln/>
        </p:spPr>
        <p:txBody>
          <a:bodyPr wrap="square" rtlCol="0" anchor="ctr"/>
          <a:lstStyle/>
          <a:p>
            <a:pPr indent="0" marL="0">
              <a:lnSpc>
                <a:spcPct val="115000"/>
              </a:lnSpc>
              <a:buNone/>
            </a:pPr>
            <a:r>
              <a:rPr lang="en-US" sz="950" i="1" u="sng" dirty="0">
                <a:solidFill>
                  <a:srgbClr val="1B3F91"/>
                </a:solidFill>
                <a:latin typeface="GT America" pitchFamily="34" charset="0"/>
                <a:ea typeface="GT America" pitchFamily="34" charset="-122"/>
                <a:cs typeface="GT America" pitchFamily="34" charset="-120"/>
                <a:hlinkClick r:id="rId1" invalidUrl="" action="" tgtFrame="" tooltip="Read the case study" history="1" highlightClick="0" endSnd="0">
                  <a:extLst>
                    <a:ext uri="{A12FA001-AC4F-418D-AE19-62706E023703}">
                      <ahyp:hlinkClr xmlns:ahyp="http://schemas.microsoft.com/office/drawing/2018/hyperlinkcolor" val="tx"/>
                    </a:ext>
                  </a:extLst>
                </a:hlinkClick>
              </a:rPr>
              <a:t>Moody’s published case study: “Bank SinoPac reports shorter loan turnaround times following adoption of Moody’s Lending Suite Origination.”</a:t>
            </a:r>
            <a:endParaRPr lang="en-US" sz="950" dirty="0"/>
          </a:p>
        </p:txBody>
      </p:sp>
      <p:sp>
        <p:nvSpPr>
          <p:cNvPr id="32" name="Text 30"/>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5B6472"/>
                </a:solidFill>
                <a:latin typeface="GT America" pitchFamily="34" charset="0"/>
                <a:ea typeface="GT America" pitchFamily="34" charset="-122"/>
                <a:cs typeface="GT America" pitchFamily="34" charset="-120"/>
              </a:rPr>
              <a:t>CONTRIBUTION &amp; OUTCOMES</a:t>
            </a:r>
            <a:endParaRPr lang="en-US" sz="900" dirty="0"/>
          </a:p>
        </p:txBody>
      </p:sp>
      <p:sp>
        <p:nvSpPr>
          <p:cNvPr id="33" name="Text 31"/>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5B6472"/>
                </a:solidFill>
                <a:latin typeface="GT America" pitchFamily="34" charset="0"/>
                <a:ea typeface="GT America" pitchFamily="34" charset="-122"/>
                <a:cs typeface="GT America" pitchFamily="34" charset="-120"/>
              </a:rPr>
              <a:t>22 / 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64"/>
        </a:solidFill>
      </p:bgPr>
    </p:bg>
    <p:spTree>
      <p:nvGrpSpPr>
        <p:cNvPr id="1" name=""/>
        <p:cNvGrpSpPr/>
        <p:nvPr/>
      </p:nvGrpSpPr>
      <p:grpSpPr>
        <a:xfrm>
          <a:off x="0" y="0"/>
          <a:ext cx="0" cy="0"/>
          <a:chOff x="0" y="0"/>
          <a:chExt cx="0" cy="0"/>
        </a:xfrm>
      </p:grpSpPr>
      <p:sp>
        <p:nvSpPr>
          <p:cNvPr id="2" name="Text 0"/>
          <p:cNvSpPr/>
          <p:nvPr/>
        </p:nvSpPr>
        <p:spPr>
          <a:xfrm>
            <a:off x="457200" y="640080"/>
            <a:ext cx="5486400" cy="274320"/>
          </a:xfrm>
          <a:prstGeom prst="rect">
            <a:avLst/>
          </a:prstGeom>
          <a:noFill/>
          <a:ln/>
        </p:spPr>
        <p:txBody>
          <a:bodyPr wrap="square" rtlCol="0" anchor="ctr"/>
          <a:lstStyle/>
          <a:p>
            <a:pPr indent="0" marL="0">
              <a:buNone/>
            </a:pPr>
            <a:r>
              <a:rPr lang="en-US" sz="1200" b="1" spc="200" kern="0" dirty="0">
                <a:solidFill>
                  <a:srgbClr val="0057E7"/>
                </a:solidFill>
                <a:latin typeface="GT America" pitchFamily="34" charset="0"/>
                <a:ea typeface="GT America" pitchFamily="34" charset="-122"/>
                <a:cs typeface="GT America" pitchFamily="34" charset="-120"/>
              </a:rPr>
              <a:t>CLOSING</a:t>
            </a:r>
            <a:endParaRPr lang="en-US" sz="1200" dirty="0"/>
          </a:p>
        </p:txBody>
      </p:sp>
      <p:sp>
        <p:nvSpPr>
          <p:cNvPr id="3" name="Text 1"/>
          <p:cNvSpPr/>
          <p:nvPr/>
        </p:nvSpPr>
        <p:spPr>
          <a:xfrm>
            <a:off x="457200" y="914400"/>
            <a:ext cx="10698480" cy="1645920"/>
          </a:xfrm>
          <a:prstGeom prst="rect">
            <a:avLst/>
          </a:prstGeom>
          <a:noFill/>
          <a:ln/>
        </p:spPr>
        <p:txBody>
          <a:bodyPr wrap="square" rtlCol="0" anchor="ctr"/>
          <a:lstStyle/>
          <a:p>
            <a:pPr indent="0" marL="0">
              <a:lnSpc>
                <a:spcPct val="115000"/>
              </a:lnSpc>
              <a:buNone/>
            </a:pPr>
            <a:r>
              <a:rPr lang="en-US" sz="2600" b="1" dirty="0">
                <a:solidFill>
                  <a:srgbClr val="FFFFFF"/>
                </a:solidFill>
                <a:latin typeface="Financier Display" pitchFamily="34" charset="0"/>
                <a:ea typeface="Financier Display" pitchFamily="34" charset="-122"/>
                <a:cs typeface="Financier Display" pitchFamily="34" charset="-120"/>
              </a:rPr>
              <a:t>Connecting Product Capabilities</a:t>
            </a:r>
            <a:endParaRPr lang="en-US" sz="2600" dirty="0"/>
          </a:p>
          <a:p>
            <a:pPr indent="0" marL="0">
              <a:lnSpc>
                <a:spcPct val="115000"/>
              </a:lnSpc>
              <a:buNone/>
            </a:pPr>
            <a:r>
              <a:rPr lang="en-US" sz="2600" b="1" dirty="0">
                <a:solidFill>
                  <a:srgbClr val="FFFFFF"/>
                </a:solidFill>
                <a:latin typeface="Financier Display" pitchFamily="34" charset="0"/>
                <a:ea typeface="Financier Display" pitchFamily="34" charset="-122"/>
                <a:cs typeface="Financier Display" pitchFamily="34" charset="-120"/>
              </a:rPr>
              <a:t>With Customer Value</a:t>
            </a:r>
            <a:endParaRPr lang="en-US" sz="2600" dirty="0"/>
          </a:p>
        </p:txBody>
      </p:sp>
      <p:sp>
        <p:nvSpPr>
          <p:cNvPr id="4" name="Shape 2"/>
          <p:cNvSpPr/>
          <p:nvPr/>
        </p:nvSpPr>
        <p:spPr>
          <a:xfrm>
            <a:off x="457200" y="2834640"/>
            <a:ext cx="2208276" cy="475488"/>
          </a:xfrm>
          <a:prstGeom prst="roundRect">
            <a:avLst>
              <a:gd name="adj" fmla="val 11538"/>
            </a:avLst>
          </a:prstGeom>
          <a:solidFill>
            <a:srgbClr val="13237A"/>
          </a:solidFill>
          <a:ln/>
        </p:spPr>
      </p:sp>
      <p:sp>
        <p:nvSpPr>
          <p:cNvPr id="5" name="Text 3"/>
          <p:cNvSpPr/>
          <p:nvPr/>
        </p:nvSpPr>
        <p:spPr>
          <a:xfrm>
            <a:off x="457200" y="2834640"/>
            <a:ext cx="2208276"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Portfolio Marketing</a:t>
            </a:r>
            <a:endParaRPr lang="en-US" sz="1100" dirty="0"/>
          </a:p>
        </p:txBody>
      </p:sp>
      <p:sp>
        <p:nvSpPr>
          <p:cNvPr id="6" name="Shape 4"/>
          <p:cNvSpPr/>
          <p:nvPr/>
        </p:nvSpPr>
        <p:spPr>
          <a:xfrm>
            <a:off x="2848356" y="2834640"/>
            <a:ext cx="3168396" cy="475488"/>
          </a:xfrm>
          <a:prstGeom prst="roundRect">
            <a:avLst>
              <a:gd name="adj" fmla="val 11538"/>
            </a:avLst>
          </a:prstGeom>
          <a:solidFill>
            <a:srgbClr val="13237A"/>
          </a:solidFill>
          <a:ln/>
        </p:spPr>
      </p:sp>
      <p:sp>
        <p:nvSpPr>
          <p:cNvPr id="7" name="Text 5"/>
          <p:cNvSpPr/>
          <p:nvPr/>
        </p:nvSpPr>
        <p:spPr>
          <a:xfrm>
            <a:off x="2848356" y="2834640"/>
            <a:ext cx="3168396"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Value Proposition Development</a:t>
            </a:r>
            <a:endParaRPr lang="en-US" sz="1100" dirty="0"/>
          </a:p>
        </p:txBody>
      </p:sp>
      <p:sp>
        <p:nvSpPr>
          <p:cNvPr id="8" name="Shape 6"/>
          <p:cNvSpPr/>
          <p:nvPr/>
        </p:nvSpPr>
        <p:spPr>
          <a:xfrm>
            <a:off x="6199632" y="2834640"/>
            <a:ext cx="672084" cy="475488"/>
          </a:xfrm>
          <a:prstGeom prst="roundRect">
            <a:avLst>
              <a:gd name="adj" fmla="val 11538"/>
            </a:avLst>
          </a:prstGeom>
          <a:solidFill>
            <a:srgbClr val="13237A"/>
          </a:solidFill>
          <a:ln/>
        </p:spPr>
      </p:sp>
      <p:sp>
        <p:nvSpPr>
          <p:cNvPr id="9" name="Text 7"/>
          <p:cNvSpPr/>
          <p:nvPr/>
        </p:nvSpPr>
        <p:spPr>
          <a:xfrm>
            <a:off x="6199632" y="2834640"/>
            <a:ext cx="672084"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SEO</a:t>
            </a:r>
            <a:endParaRPr lang="en-US" sz="1100" dirty="0"/>
          </a:p>
        </p:txBody>
      </p:sp>
      <p:sp>
        <p:nvSpPr>
          <p:cNvPr id="10" name="Shape 8"/>
          <p:cNvSpPr/>
          <p:nvPr/>
        </p:nvSpPr>
        <p:spPr>
          <a:xfrm>
            <a:off x="7054596" y="2834640"/>
            <a:ext cx="1920240" cy="475488"/>
          </a:xfrm>
          <a:prstGeom prst="roundRect">
            <a:avLst>
              <a:gd name="adj" fmla="val 11538"/>
            </a:avLst>
          </a:prstGeom>
          <a:solidFill>
            <a:srgbClr val="13237A"/>
          </a:solidFill>
          <a:ln/>
        </p:spPr>
      </p:sp>
      <p:sp>
        <p:nvSpPr>
          <p:cNvPr id="11" name="Text 9"/>
          <p:cNvSpPr/>
          <p:nvPr/>
        </p:nvSpPr>
        <p:spPr>
          <a:xfrm>
            <a:off x="7054596" y="2834640"/>
            <a:ext cx="1920240"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Content Strategy</a:t>
            </a:r>
            <a:endParaRPr lang="en-US" sz="1100" dirty="0"/>
          </a:p>
        </p:txBody>
      </p:sp>
      <p:sp>
        <p:nvSpPr>
          <p:cNvPr id="12" name="Shape 10"/>
          <p:cNvSpPr/>
          <p:nvPr/>
        </p:nvSpPr>
        <p:spPr>
          <a:xfrm>
            <a:off x="9157716" y="2834640"/>
            <a:ext cx="2400300" cy="475488"/>
          </a:xfrm>
          <a:prstGeom prst="roundRect">
            <a:avLst>
              <a:gd name="adj" fmla="val 11538"/>
            </a:avLst>
          </a:prstGeom>
          <a:solidFill>
            <a:srgbClr val="13237A"/>
          </a:solidFill>
          <a:ln/>
        </p:spPr>
      </p:sp>
      <p:sp>
        <p:nvSpPr>
          <p:cNvPr id="13" name="Text 11"/>
          <p:cNvSpPr/>
          <p:nvPr/>
        </p:nvSpPr>
        <p:spPr>
          <a:xfrm>
            <a:off x="9157716" y="2834640"/>
            <a:ext cx="2400300"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Campaign Intelligence</a:t>
            </a:r>
            <a:endParaRPr lang="en-US" sz="1100" dirty="0"/>
          </a:p>
        </p:txBody>
      </p:sp>
      <p:sp>
        <p:nvSpPr>
          <p:cNvPr id="14" name="Shape 12"/>
          <p:cNvSpPr/>
          <p:nvPr/>
        </p:nvSpPr>
        <p:spPr>
          <a:xfrm>
            <a:off x="457200" y="3493008"/>
            <a:ext cx="2208276" cy="475488"/>
          </a:xfrm>
          <a:prstGeom prst="roundRect">
            <a:avLst>
              <a:gd name="adj" fmla="val 11538"/>
            </a:avLst>
          </a:prstGeom>
          <a:solidFill>
            <a:srgbClr val="13237A"/>
          </a:solidFill>
          <a:ln/>
        </p:spPr>
      </p:sp>
      <p:sp>
        <p:nvSpPr>
          <p:cNvPr id="15" name="Text 13"/>
          <p:cNvSpPr/>
          <p:nvPr/>
        </p:nvSpPr>
        <p:spPr>
          <a:xfrm>
            <a:off x="457200" y="3493008"/>
            <a:ext cx="2208276"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Marketing Analytics</a:t>
            </a:r>
            <a:endParaRPr lang="en-US" sz="1100" dirty="0"/>
          </a:p>
        </p:txBody>
      </p:sp>
      <p:sp>
        <p:nvSpPr>
          <p:cNvPr id="16" name="Shape 14"/>
          <p:cNvSpPr/>
          <p:nvPr/>
        </p:nvSpPr>
        <p:spPr>
          <a:xfrm>
            <a:off x="2848356" y="3493008"/>
            <a:ext cx="1920240" cy="475488"/>
          </a:xfrm>
          <a:prstGeom prst="roundRect">
            <a:avLst>
              <a:gd name="adj" fmla="val 11538"/>
            </a:avLst>
          </a:prstGeom>
          <a:solidFill>
            <a:srgbClr val="13237A"/>
          </a:solidFill>
          <a:ln/>
        </p:spPr>
      </p:sp>
      <p:sp>
        <p:nvSpPr>
          <p:cNvPr id="17" name="Text 15"/>
          <p:cNvSpPr/>
          <p:nvPr/>
        </p:nvSpPr>
        <p:spPr>
          <a:xfrm>
            <a:off x="2848356" y="3493008"/>
            <a:ext cx="1920240"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Sales Enablement</a:t>
            </a:r>
            <a:endParaRPr lang="en-US" sz="1100" dirty="0"/>
          </a:p>
        </p:txBody>
      </p:sp>
      <p:sp>
        <p:nvSpPr>
          <p:cNvPr id="18" name="Shape 16"/>
          <p:cNvSpPr/>
          <p:nvPr/>
        </p:nvSpPr>
        <p:spPr>
          <a:xfrm>
            <a:off x="4951476" y="3493008"/>
            <a:ext cx="1632204" cy="475488"/>
          </a:xfrm>
          <a:prstGeom prst="roundRect">
            <a:avLst>
              <a:gd name="adj" fmla="val 11538"/>
            </a:avLst>
          </a:prstGeom>
          <a:solidFill>
            <a:srgbClr val="13237A"/>
          </a:solidFill>
          <a:ln/>
        </p:spPr>
      </p:sp>
      <p:sp>
        <p:nvSpPr>
          <p:cNvPr id="19" name="Text 17"/>
          <p:cNvSpPr/>
          <p:nvPr/>
        </p:nvSpPr>
        <p:spPr>
          <a:xfrm>
            <a:off x="4951476" y="3493008"/>
            <a:ext cx="1632204" cy="475488"/>
          </a:xfrm>
          <a:prstGeom prst="rect">
            <a:avLst/>
          </a:prstGeom>
          <a:noFill/>
          <a:ln/>
        </p:spPr>
        <p:txBody>
          <a:bodyPr wrap="square" rtlCol="0" anchor="ctr"/>
          <a:lstStyle/>
          <a:p>
            <a:pPr algn="ctr" indent="0" marL="0">
              <a:buNone/>
            </a:pPr>
            <a:r>
              <a:rPr lang="en-US" sz="1100" b="1" dirty="0">
                <a:solidFill>
                  <a:srgbClr val="FFFFFF"/>
                </a:solidFill>
                <a:latin typeface="GT America" pitchFamily="34" charset="0"/>
                <a:ea typeface="GT America" pitchFamily="34" charset="-122"/>
                <a:cs typeface="GT America" pitchFamily="34" charset="-120"/>
              </a:rPr>
              <a:t>GTM Alignment</a:t>
            </a:r>
            <a:endParaRPr lang="en-US" sz="1100" dirty="0"/>
          </a:p>
        </p:txBody>
      </p:sp>
      <p:sp>
        <p:nvSpPr>
          <p:cNvPr id="20" name="Shape 18"/>
          <p:cNvSpPr/>
          <p:nvPr/>
        </p:nvSpPr>
        <p:spPr>
          <a:xfrm>
            <a:off x="457200" y="4709160"/>
            <a:ext cx="2011680" cy="0"/>
          </a:xfrm>
          <a:prstGeom prst="line">
            <a:avLst/>
          </a:prstGeom>
          <a:noFill/>
          <a:ln w="12700">
            <a:solidFill>
              <a:srgbClr val="3A4D77"/>
            </a:solidFill>
            <a:prstDash val="solid"/>
          </a:ln>
        </p:spPr>
      </p:sp>
      <p:sp>
        <p:nvSpPr>
          <p:cNvPr id="21" name="Text 19"/>
          <p:cNvSpPr/>
          <p:nvPr/>
        </p:nvSpPr>
        <p:spPr>
          <a:xfrm>
            <a:off x="457200" y="4892040"/>
            <a:ext cx="8961120" cy="1005840"/>
          </a:xfrm>
          <a:prstGeom prst="rect">
            <a:avLst/>
          </a:prstGeom>
          <a:noFill/>
          <a:ln/>
        </p:spPr>
        <p:txBody>
          <a:bodyPr wrap="square" rtlCol="0" anchor="ctr"/>
          <a:lstStyle/>
          <a:p>
            <a:pPr indent="0" marL="0">
              <a:lnSpc>
                <a:spcPct val="130000"/>
              </a:lnSpc>
              <a:buNone/>
            </a:pPr>
            <a:r>
              <a:rPr lang="en-US" sz="1700" i="1" dirty="0">
                <a:solidFill>
                  <a:srgbClr val="E7ECF6"/>
                </a:solidFill>
                <a:latin typeface="GT America" pitchFamily="34" charset="0"/>
                <a:ea typeface="GT America" pitchFamily="34" charset="-122"/>
                <a:cs typeface="GT America" pitchFamily="34" charset="-120"/>
              </a:rPr>
              <a:t>A product marketing approach grounded in customer understanding, structured positioning, and cross-functional alignment — turning complex lending technology into clear, value-led communication.</a:t>
            </a:r>
            <a:endParaRPr lang="en-US" sz="1700" dirty="0"/>
          </a:p>
        </p:txBody>
      </p:sp>
      <p:sp>
        <p:nvSpPr>
          <p:cNvPr id="22" name="Text 20"/>
          <p:cNvSpPr/>
          <p:nvPr/>
        </p:nvSpPr>
        <p:spPr>
          <a:xfrm>
            <a:off x="457200" y="6547104"/>
            <a:ext cx="6400800" cy="256032"/>
          </a:xfrm>
          <a:prstGeom prst="rect">
            <a:avLst/>
          </a:prstGeom>
          <a:noFill/>
          <a:ln/>
        </p:spPr>
        <p:txBody>
          <a:bodyPr wrap="square" rtlCol="0" anchor="ctr"/>
          <a:lstStyle/>
          <a:p>
            <a:pPr algn="l" indent="0" marL="0">
              <a:buNone/>
            </a:pPr>
            <a:r>
              <a:rPr lang="en-US" sz="900" spc="150" kern="0" dirty="0">
                <a:solidFill>
                  <a:srgbClr val="9FB0CC"/>
                </a:solidFill>
                <a:latin typeface="GT America" pitchFamily="34" charset="0"/>
                <a:ea typeface="GT America" pitchFamily="34" charset="-122"/>
                <a:cs typeface="GT America" pitchFamily="34" charset="-120"/>
              </a:rPr>
              <a:t>CONNECTING PRODUCT CAPABILITIES WITH CUSTOMER VALUE</a:t>
            </a:r>
            <a:endParaRPr lang="en-US" sz="900" dirty="0"/>
          </a:p>
        </p:txBody>
      </p:sp>
      <p:sp>
        <p:nvSpPr>
          <p:cNvPr id="23" name="Text 21"/>
          <p:cNvSpPr/>
          <p:nvPr/>
        </p:nvSpPr>
        <p:spPr>
          <a:xfrm>
            <a:off x="10607040" y="6547104"/>
            <a:ext cx="1124712" cy="256032"/>
          </a:xfrm>
          <a:prstGeom prst="rect">
            <a:avLst/>
          </a:prstGeom>
          <a:noFill/>
          <a:ln/>
        </p:spPr>
        <p:txBody>
          <a:bodyPr wrap="square" rtlCol="0" anchor="ctr"/>
          <a:lstStyle/>
          <a:p>
            <a:pPr algn="r" indent="0" marL="0">
              <a:buNone/>
            </a:pPr>
            <a:r>
              <a:rPr lang="en-US" sz="900" dirty="0">
                <a:solidFill>
                  <a:srgbClr val="9FB0CC"/>
                </a:solidFill>
                <a:latin typeface="GT America" pitchFamily="34" charset="0"/>
                <a:ea typeface="GT America" pitchFamily="34" charset="-122"/>
                <a:cs typeface="GT America" pitchFamily="34" charset="-120"/>
              </a:rPr>
              <a:t>23 / 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2026-09-21T12:54:08Z</dcterms:created>
  <dcterms:modified xsi:type="dcterms:W3CDTF">2026-09-21T12:54:08Z</dcterms:modified>
</cp:coreProperties>
</file>